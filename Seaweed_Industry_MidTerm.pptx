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892" autoAdjust="0"/>
  </p:normalViewPr>
  <p:slideViewPr>
    <p:cSldViewPr snapToGrid="0" snapToObjects="1">
      <p:cViewPr>
        <p:scale>
          <a:sx n="66" d="100"/>
          <a:sy n="66" d="100"/>
        </p:scale>
        <p:origin x="1068" y="1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1678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everyone. Thank you for being here. I'm presenting our capstone mid-term: the Seaweed Industry project. Over the past several weeks, our team has explored the global seaweed dataset from the FAO and built two things on top of it — an interactive dashboard with twelve tabs, and an AI chat that lets anyone ask questions in plain English. The live link is on this slide, and I'll walk you through what we built, what we found, and where we're headed next.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project in one minute. The Food and Agriculture Organization publishes seaweed production and value data going back decades, across four separate CSV tables. The data is great, but it's hard to explore without SQL skills. So we built two things. First, a twelve-tab interactive dashboard that visualizes the data across geography, species, economics, and several KPIs. Second — and this is the part we're most excited about — we built PSIA AI, a chat interface where you can type a question in plain English and it generates SQL, queries the data, and shows you the answer. The whole thing is live right now at seaweed-industry.vercel.app. On the right you can see the scale: twelve tabs, five KPIs, one AI chat, four tables, five teammates.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Quick team intros. I'm Dhruvkumar — I'm the technical lead and have owned the full-stack work: EDA, preprocessing, the DuckDB schema, the twelve-tab React dashboard, the FastAPI backend, the text-to-SQL pipeline including embeddings and few-shot retrieval, the chat UI, deployment, testing, and the docs. Devarsh validates FAO source records and owns the Export Value KPI plus Companies Founded by End Use. Deepkumar handles missing values and status-flag rules; he owns the Price per Wet Tonne KPI. Darshil normalizes fields across the four FAO tables and owns Wet vs. Processed Kelp Demand and Gross Value of Industry Output. And Poe cross-checks aquaculture against capture aggregates and owns the Value per Pound KPI.</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project doesn't try to promise a hard business KPI. Instead, we picked five lenses to explore the data through. First, Export Value of Seaweed Products — how much economic value is flowing out of producing countries every year. Second, Gross Value of Industry Output — the combined value of aquaculture and wild capture. Third, Value of Seaweed per pound — the unit economics, basically what a pound of seaweed is worth. Fourth, Price per Wet Tonne, broken down by species and end use, so we can see how species and use cases drive pricing. And fifth, Wet versus Processed Kelp Demand — how the market splits between raw and processed kelp. Each KPI is owned by one team member, and the dashboard has a dedicated tab for each.</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of our data comes from the FAO — the Food and Agriculture Organization of the UN. We use four tables: aquaculture quantity in tonnes, aquaculture value in dollars, wild capture quantity in tonnes, and a combined global production table also in tonnes. At app startup the FastAPI backend reads these four CSVs straight into DuckDB, which is an in-memory analytical database. There's no separate database server to manage and no network latency — queries are very fast. We also keep PSIA-published industry documents in the dataset folder for context on definitions and end-uses, though they're not queried by the dashboard.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our pipeline in four steps. Step one — Wrangle. The team cleans the FAO CSVs, normalizes country and species names, and validates the FAO status flags. Step two — Model. The cleaned CSVs go into DuckDB at app startup, with a schema and join keys defined. Step three — Visualize. We built twelve React tabs using Recharts and Plotly. KPI cards summarize the headline numbers. Step four — Conversate. This is the AI chat. We embed the schema and a set of few-shot examples, send the user's question to a Groq-hosted Llama 70B model, get SQL back, run it on DuckDB, and then have the LLM summarize the result in plain English. The key insight: both surfaces — dashboard and chat — share the exact same data layer.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start with the headline EDA finding. Global seaweed production has grown by roughly ten times since 1980, from about three million tonnes a year to over thirty-five million tonnes today. When you look at this chart, the growth is almost entirely driven by Asia — China alone is around sixty percent of recent global output. Wild capture has barely moved in forty years. Almost all of this growth comes from aquaculture — people farming seaweed deliberately. The acceleration really kicked in during the 2000s and 2010s as commercial kelp farming scaled up. For the live demo, this chart sits on the Overview tab.</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Insight number two — the global seaweed market is extraordinarily concentrated. In 2022, the top five countries — China, Indonesia, South Korea, the Philippines, and North Korea — produced about ninety-nine percent of the world's seaweed. China alone produced over twenty-two million tonnes; Indonesia produced over nine million. Together those two countries are roughly eighty-five percent of global output. The other hundred and ninety-plus countries combined contribute about one percent. This is a real supply-chain risk story — any policy shift, weather event, or trade restriction in China or Indonesia ripples through the entire global market.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Insight three is about emerging producers. While the headline volume is dominated by China and Indonesia, the fastest-growing producer between 2010 and 2020 was actually Kenya, with about twenty-one times growth — that's a 2125 percent increase. Several other African and small-island economies showed similarly fast growth rates. Now there's an important caveat here: when the starting base is tiny, growth rates look very dramatic. But it's still a useful signal — it tells us where new capacity is being built. For PSIA, watching emerging producers is how you spot which markets might matter in five or ten years. By the way — we didn't compute this by hand. We asked the AI chat 'which country had the fastest growth between 2010 and 2020' and it returned the answer. I'll show that exact query later.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Insight four is structural. If you split global production into wild-caught seaweed and farmed seaweed, the wild capture volumes have been roughly flat since the early 1980s. Almost all of the ten-times growth we saw earlier is coming from aquaculture. Today aquaculture is about ninety-seven percent of global seaweed production. The structural shift mirrors what happened in finfish — farmed surpassed wild decades ago. The big implication for our sponsor: when we talk about future supply, we're really talking about aquaculture. Wild capture is essentially a footnote now.</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KPI one is Export Value of Seaweed Products, measured in dollars per year, and owned by Devarsh. This tracks the dollars flowing out of producing nations through exports. It's volatile because it depends on currency, demand shocks in Asian food markets, and the species mix. China and Indonesia dominate again, but interestingly, South Korea punches above its volume share on value — meaning their seaweed sells for more per tonne. This KPI is useful because it separates the countries that just produce volume from the countries that actually capture economic value.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KPI two is Gross Value of Industry Output, in dollars per year. This is owned by Darshil. It's basically aquaculture value plus capture value combined, broken down by country and year. This is the metric you'd cite if someone asked 'how big is the global seaweed industry, in dollars?' Aquaculture value massively outweighs capture value, which is consistent with the volume picture we saw. It's also a useful sanity check — gross output should track roughly equal to production times average price.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KPI three is Value of Seaweed, in dollars per pound, owned by Poe. This is the unit economics view. By dividing total value by total quantity and converting to dollars per pound, you strip out the volume effect and ask the question: what's a pound of seaweed actually worth? What's interesting is that small-volume producers can have surprisingly high dollars-per-pound numbers — they're often growing niche species or selling into premium markets. This KPI helps us spot high-margin opportunities outside the high-volume players.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KPI four is Price per Wet Tonne, broken down by species and by end use. This is owned by Deepkumar. Two things drive pricing dramatically. First, the species itself — some species sell for ten times more per tonne than others. Second, the end use — whether the seaweed is going into human food, into hydrocolloids like carrageenan, into animal feed, or into fertilizer. We pulled this pricing data from PSIA's documents, and you can see it on the PSIA Pricing tab — there's a species-by-end-use heatmap. This is arguably the most directly actionable KPI: if someone is thinking about entering the industry, this tells them what to grow and who to sell to.</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CA" b="1" dirty="0"/>
              <a:t>Opening line (hook):</a:t>
            </a:r>
            <a:endParaRPr lang="en-CA" dirty="0"/>
          </a:p>
          <a:p>
            <a:r>
              <a:rPr lang="en-CA" dirty="0"/>
              <a:t>"Most kelp pulled from the ocean never reaches the consumer as kelp it's transformed first. That transformation is where the money sits.“</a:t>
            </a:r>
          </a:p>
          <a:p>
            <a:endParaRPr lang="en-CA" dirty="0"/>
          </a:p>
          <a:p>
            <a:r>
              <a:rPr lang="en-CA" b="1" dirty="0"/>
              <a:t>Core message (one sentence to anchor the slide):</a:t>
            </a:r>
            <a:endParaRPr lang="en-CA" dirty="0"/>
          </a:p>
          <a:p>
            <a:r>
              <a:rPr lang="en-CA" dirty="0"/>
              <a:t>The kelp value chain is overwhelmingly tilted toward processed forms, and whoever controls processing controls the margin.</a:t>
            </a:r>
          </a:p>
          <a:p>
            <a:endParaRPr lang="en-CA" dirty="0"/>
          </a:p>
          <a:p>
            <a:r>
              <a:rPr lang="en-CA" b="1" dirty="0"/>
              <a:t>Walking through the donut chart (left):</a:t>
            </a:r>
            <a:endParaRPr lang="en-CA" dirty="0"/>
          </a:p>
          <a:p>
            <a:r>
              <a:rPr lang="en-CA" dirty="0"/>
              <a:t>"Roughly 4 out of every 5 kilos of kelp demand is for processed forms dried, frozen, powdered, or extracted."</a:t>
            </a:r>
          </a:p>
          <a:p>
            <a:r>
              <a:rPr lang="en-CA" dirty="0"/>
              <a:t>"Only about 1 in 5 is consumed as fresh/wet kelp."</a:t>
            </a:r>
          </a:p>
          <a:p>
            <a:r>
              <a:rPr lang="en-CA" dirty="0"/>
              <a:t>"Within the processed slice itself, powders and </a:t>
            </a:r>
            <a:r>
              <a:rPr lang="en-CA" dirty="0" err="1"/>
              <a:t>frozen+dried</a:t>
            </a:r>
            <a:r>
              <a:rPr lang="en-CA" dirty="0"/>
              <a:t> products dominate these are the formats that move through global supply chains.“</a:t>
            </a:r>
          </a:p>
          <a:p>
            <a:endParaRPr lang="en-CA" dirty="0"/>
          </a:p>
          <a:p>
            <a:r>
              <a:rPr lang="en-CA" b="1" dirty="0"/>
              <a:t>Walking through the bar chart (right):</a:t>
            </a:r>
            <a:endParaRPr lang="en-CA" dirty="0"/>
          </a:p>
          <a:p>
            <a:r>
              <a:rPr lang="en-CA" dirty="0"/>
              <a:t>"Food &amp; Beverage and Hydrocolloids together absorb over 60% of demand these are the anchor markets."</a:t>
            </a:r>
          </a:p>
          <a:p>
            <a:r>
              <a:rPr lang="en-CA" dirty="0"/>
              <a:t>"Agriculture and animal feed are mid-tier but growing fast as </a:t>
            </a:r>
            <a:r>
              <a:rPr lang="en-CA" dirty="0" err="1"/>
              <a:t>biostimulants</a:t>
            </a:r>
            <a:r>
              <a:rPr lang="en-CA" dirty="0"/>
              <a:t> gain traction."</a:t>
            </a:r>
          </a:p>
          <a:p>
            <a:r>
              <a:rPr lang="en-CA" dirty="0"/>
              <a:t>"Cosmetics and pharma are small in volume but high in margin the premium frontier.“</a:t>
            </a:r>
          </a:p>
          <a:p>
            <a:endParaRPr lang="en-CA" dirty="0"/>
          </a:p>
          <a:p>
            <a:r>
              <a:rPr lang="en-CA" b="1" dirty="0"/>
              <a:t>Strategic takeaway (close strong):</a:t>
            </a:r>
            <a:endParaRPr lang="en-CA" dirty="0"/>
          </a:p>
          <a:p>
            <a:r>
              <a:rPr lang="en-CA" dirty="0"/>
              <a:t>"Raw kelp is a commodity. Processed kelp is a product. The bottleneck and the opportunity is processing capacity."</a:t>
            </a:r>
          </a:p>
          <a:p>
            <a:r>
              <a:rPr lang="en-CA" dirty="0"/>
              <a:t>"Anyone entering this space without a processing strategy is selling at the lowest point on the value curve."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CA" b="1" dirty="0"/>
              <a:t>Opening line (make it land for non-technical listeners):</a:t>
            </a:r>
            <a:endParaRPr lang="en-CA" dirty="0"/>
          </a:p>
          <a:p>
            <a:r>
              <a:rPr lang="en-CA" dirty="0"/>
              <a:t>"Think of this system as a translator. The user speaks English. The database speaks SQL. Our job is to bridge them accurately, and in seconds.“</a:t>
            </a:r>
          </a:p>
          <a:p>
            <a:endParaRPr lang="en-CA" dirty="0"/>
          </a:p>
          <a:p>
            <a:r>
              <a:rPr lang="en-CA" b="1" dirty="0"/>
              <a:t>One-sentence anchor:</a:t>
            </a:r>
            <a:endParaRPr lang="en-CA" dirty="0"/>
          </a:p>
          <a:p>
            <a:r>
              <a:rPr lang="en-CA" dirty="0"/>
              <a:t>"Three layers what the user sees, what coordinates the request, and what holds the data and the intelligence."</a:t>
            </a:r>
          </a:p>
          <a:p>
            <a:br>
              <a:rPr lang="en-CA" dirty="0"/>
            </a:br>
            <a:endParaRPr lang="en-CA" dirty="0"/>
          </a:p>
          <a:p>
            <a:r>
              <a:rPr lang="en-CA" b="1" dirty="0"/>
              <a:t>Walking through the architecture (left side, top to bottom):</a:t>
            </a:r>
            <a:endParaRPr lang="en-CA" dirty="0"/>
          </a:p>
          <a:p>
            <a:r>
              <a:rPr lang="en-CA" b="1" dirty="0"/>
              <a:t>Frontend — what the user touches.</a:t>
            </a:r>
            <a:r>
              <a:rPr lang="en-CA" dirty="0"/>
              <a:t> "A web app built with React. 12 dashboard tabs for visual exploration, plus a chat panel for asking questions in plain English."</a:t>
            </a:r>
          </a:p>
          <a:p>
            <a:r>
              <a:rPr lang="en-CA" b="1" dirty="0"/>
              <a:t>Backend — the coordinator.</a:t>
            </a:r>
            <a:r>
              <a:rPr lang="en-CA" dirty="0"/>
              <a:t> "</a:t>
            </a:r>
            <a:r>
              <a:rPr lang="en-CA" dirty="0" err="1"/>
              <a:t>FastAPI</a:t>
            </a:r>
            <a:r>
              <a:rPr lang="en-CA" dirty="0"/>
              <a:t> receives the chat request, routes it, and manages the conversation between the AI model and the database."</a:t>
            </a:r>
          </a:p>
          <a:p>
            <a:r>
              <a:rPr lang="en-CA" b="1" dirty="0"/>
              <a:t>Data + AI — the brain and the memory.</a:t>
            </a:r>
            <a:r>
              <a:rPr lang="en-CA" dirty="0"/>
              <a:t> "</a:t>
            </a:r>
            <a:r>
              <a:rPr lang="en-CA" dirty="0" err="1"/>
              <a:t>DuckDB</a:t>
            </a:r>
            <a:r>
              <a:rPr lang="en-CA" dirty="0"/>
              <a:t> holds four FAO datasets in memory for fast queries. Embeddings help the system find similar past questions. </a:t>
            </a:r>
            <a:r>
              <a:rPr lang="en-CA" dirty="0" err="1"/>
              <a:t>Groq's</a:t>
            </a:r>
            <a:r>
              <a:rPr lang="en-CA" dirty="0"/>
              <a:t> Llama 3.3 70B is the language model doing the heavy lifting."</a:t>
            </a:r>
          </a:p>
          <a:p>
            <a:br>
              <a:rPr lang="en-CA" dirty="0"/>
            </a:br>
            <a:endParaRPr lang="en-CA" dirty="0"/>
          </a:p>
          <a:p>
            <a:r>
              <a:rPr lang="en-CA" b="1" dirty="0"/>
              <a:t>Walking through the 5-step flow (right side):</a:t>
            </a:r>
            <a:endParaRPr lang="en-CA" dirty="0"/>
          </a:p>
          <a:p>
            <a:r>
              <a:rPr lang="en-CA" dirty="0"/>
              <a:t>Use this framing: </a:t>
            </a:r>
            <a:r>
              <a:rPr lang="en-CA" i="1" dirty="0"/>
              <a:t>"Let me show you what happens in the 2–3 seconds between a user asking a question and getting an answer."</a:t>
            </a:r>
            <a:endParaRPr lang="en-CA" dirty="0"/>
          </a:p>
          <a:p>
            <a:r>
              <a:rPr lang="en-CA" b="1" dirty="0"/>
              <a:t>Step 1 — Ask.</a:t>
            </a:r>
            <a:r>
              <a:rPr lang="en-CA" dirty="0"/>
              <a:t> "User types something like 'How much kelp did Korea produce in 2020?'"</a:t>
            </a:r>
          </a:p>
          <a:p>
            <a:r>
              <a:rPr lang="en-CA" b="1" dirty="0"/>
              <a:t>Step 2 — Understand.</a:t>
            </a:r>
            <a:r>
              <a:rPr lang="en-CA" dirty="0"/>
              <a:t> "The system looks up similar past questions for guidance, and resolves shortcuts — 'USA' becomes 'United States of America' so the database recognizes it."</a:t>
            </a:r>
          </a:p>
          <a:p>
            <a:r>
              <a:rPr lang="en-CA" b="1" dirty="0"/>
              <a:t>Step 3 — Translate.</a:t>
            </a:r>
            <a:r>
              <a:rPr lang="en-CA" dirty="0"/>
              <a:t> "The AI writes the SQL query, guided by the structure of the FAO dataset so it doesn't make up tables or columns."</a:t>
            </a:r>
          </a:p>
          <a:p>
            <a:r>
              <a:rPr lang="en-CA" b="1" dirty="0"/>
              <a:t>Step 4 — Execute.</a:t>
            </a:r>
            <a:r>
              <a:rPr lang="en-CA" dirty="0"/>
              <a:t> "</a:t>
            </a:r>
            <a:r>
              <a:rPr lang="en-CA" dirty="0" err="1"/>
              <a:t>DuckDB</a:t>
            </a:r>
            <a:r>
              <a:rPr lang="en-CA" dirty="0"/>
              <a:t> runs the query against the data."</a:t>
            </a:r>
          </a:p>
          <a:p>
            <a:r>
              <a:rPr lang="en-CA" b="1" dirty="0"/>
              <a:t>Step 5 — Explain.</a:t>
            </a:r>
            <a:r>
              <a:rPr lang="en-CA" dirty="0"/>
              <a:t> "The AI takes the raw result and rewrites it in plain English. The user sees the answer, the data table behind it, and the SQL — for transparency."</a:t>
            </a:r>
          </a:p>
          <a:p>
            <a:r>
              <a:rPr lang="en-CA" b="1" dirty="0"/>
              <a:t>Closing line:</a:t>
            </a:r>
            <a:endParaRPr lang="en-CA" dirty="0"/>
          </a:p>
          <a:p>
            <a:r>
              <a:rPr lang="en-CA" dirty="0"/>
              <a:t>"The key design choice: we never let the AI guess what's in the data. It always grounds its answer in the actual FAO schema. That's how we keep it honest."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Who uses this and how. We see three personas. First, an industry analyst someone whose day-to-day job is answering market questions. They open the dashboard or just ask the chat 'top five producers in 2022' and they have the answer in three seconds. No SQL skill required. Second, a PSIA sponsor they want the high-level picture. They scan the Overview tab and the KPI tabs to see headline trends in production, value, and pricing, all in one place. Third, a researcher or student building their own analysis. They use the dashboard for exploration, then ask the chat for specific data cuts, and they can actually copy the SQL the chat generates and use it in their own work.</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CA" b="1" dirty="0"/>
              <a:t>Opening line:</a:t>
            </a:r>
            <a:endParaRPr lang="en-CA" dirty="0"/>
          </a:p>
          <a:p>
            <a:r>
              <a:rPr lang="en-CA" dirty="0"/>
              <a:t>"Twelve tabs sounds like a lot. But once you've seen one, you've seen them all by design."</a:t>
            </a:r>
          </a:p>
          <a:p>
            <a:endParaRPr lang="en-CA" b="1" dirty="0"/>
          </a:p>
          <a:p>
            <a:r>
              <a:rPr lang="en-CA" b="1" dirty="0"/>
              <a:t>One-sentence anchor:</a:t>
            </a:r>
            <a:endParaRPr lang="en-CA" dirty="0"/>
          </a:p>
          <a:p>
            <a:r>
              <a:rPr lang="en-CA" dirty="0"/>
              <a:t>"The dashboard is wide on coverage but narrow on learning curve. Every tab works the same way."</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CA" b="1" dirty="0"/>
              <a:t>Opening line (the hook that sells the feature):</a:t>
            </a:r>
            <a:endParaRPr lang="en-CA" dirty="0"/>
          </a:p>
          <a:p>
            <a:r>
              <a:rPr lang="en-CA" dirty="0"/>
              <a:t>"Most people who need data can't write SQL. Most people who write SQL aren't the ones asking the business questions. This bridges that gap."</a:t>
            </a:r>
          </a:p>
          <a:p>
            <a:endParaRPr lang="en-CA" b="1" dirty="0"/>
          </a:p>
          <a:p>
            <a:r>
              <a:rPr lang="en-CA" b="1" dirty="0"/>
              <a:t>One-sentence anchor:</a:t>
            </a:r>
            <a:endParaRPr lang="en-CA" dirty="0"/>
          </a:p>
          <a:p>
            <a:r>
              <a:rPr lang="en-CA" dirty="0"/>
              <a:t>"We've taken a database and given it a conversation."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Here's our first chat example. We typed 'Top 5 producers in 2022' — just like that, in English. </a:t>
            </a:r>
            <a:endParaRPr lang="en-US" dirty="0"/>
          </a:p>
          <a:p>
            <a:r>
              <a:rPr dirty="0"/>
              <a:t>On the left you can see the response. </a:t>
            </a:r>
            <a:endParaRPr lang="en-US" dirty="0"/>
          </a:p>
          <a:p>
            <a:r>
              <a:rPr dirty="0"/>
              <a:t>The chat generated a SUM with GROUP BY and ORDER BY LIMIT 5 exactly the SQL you'd write by hand. </a:t>
            </a:r>
            <a:endParaRPr lang="en-US" dirty="0"/>
          </a:p>
          <a:p>
            <a:r>
              <a:rPr dirty="0"/>
              <a:t>The result is </a:t>
            </a:r>
            <a:r>
              <a:rPr b="1" dirty="0"/>
              <a:t>China at </a:t>
            </a:r>
            <a:r>
              <a:rPr lang="en-US" b="1" dirty="0"/>
              <a:t>roughly </a:t>
            </a:r>
            <a:r>
              <a:rPr b="1" dirty="0"/>
              <a:t>twenty-two million, </a:t>
            </a:r>
            <a:r>
              <a:rPr dirty="0"/>
              <a:t>Indonesia at nine million, then Korea, the Philippines, and </a:t>
            </a:r>
            <a:r>
              <a:rPr lang="en-US" dirty="0"/>
              <a:t>Democratic Republic </a:t>
            </a:r>
            <a:r>
              <a:rPr dirty="0"/>
              <a:t>Korea. </a:t>
            </a:r>
            <a:endParaRPr lang="en-US" dirty="0"/>
          </a:p>
          <a:p>
            <a:r>
              <a:rPr dirty="0"/>
              <a:t>Above the table, there's a one-sentence English summary. This is the bread-and-butter use case the kind of question an analyst asks ten times a day, answered in seconds.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Example two a comparison query. </a:t>
            </a:r>
            <a:endParaRPr lang="en-US" dirty="0"/>
          </a:p>
          <a:p>
            <a:endParaRPr lang="en-CA" dirty="0"/>
          </a:p>
          <a:p>
            <a:r>
              <a:rPr dirty="0"/>
              <a:t>We typed 'Compare China and Indonesia's seaweed production in 2022’. </a:t>
            </a:r>
            <a:endParaRPr lang="en-US" dirty="0"/>
          </a:p>
          <a:p>
            <a:endParaRPr lang="en-CA" dirty="0"/>
          </a:p>
          <a:p>
            <a:r>
              <a:rPr dirty="0"/>
              <a:t>The chat parses two entities and a year filter from a single sentence.</a:t>
            </a:r>
            <a:endParaRPr lang="en-US" dirty="0"/>
          </a:p>
          <a:p>
            <a:r>
              <a:rPr dirty="0"/>
              <a:t>It generates a WHERE country in China comma Indonesia AND period equals 2022, with a GROUP BY. </a:t>
            </a:r>
            <a:endParaRPr lang="en-US" dirty="0"/>
          </a:p>
          <a:p>
            <a:r>
              <a:rPr dirty="0"/>
              <a:t>Returns China at 22.7 million and Indonesia at 9.3 million. And it doesn't just dump numbers it produces a sentence: 'China's production at approximately 22.7 million surpassed Indonesia's production of around 9.3 million.' Multi-entity comparisons work out of the box.</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Example three is where it gets impressive. We asked 'which country had the fastest growth in seaweed production between 2010 and 2020'. This isn't a lookup — it's a calculation. The chat understood that 'growth' means a percentage change. Look at the SQL on the left: it generated a CASE-WHEN expression that subtracts the 2010 value from the 2020 value and divides by the 2010 value. It even uses NULLIF to guard against divide-by-zero, and a HAVING clause to exclude countries with no baseline. The answer is Kenya at twenty-one point twenty-five — meaning Kenya grew twenty-one times in that decade. This is the kind of insight that's genuinely hard to spot just by eyeballing a chart.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Example four — a wide aggregate. We asked 'average annual seaweed production per country since 2015'. This is a heavier query — it needs an AVG, a GROUP BY country, and a WHERE on the year. The chat returned eighty-six rows. The Philippines averaged about 264 thousand tonnes per year. Samoa averaged about four point three tonnes per year. That's six orders of magnitude of variation across producers — which itself is an important insight. And notice the 'Show all 86 rows' link at the bottom — wide results aren't silently truncated; they're paginated.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Example five is a robustness check. The FAO data uses very formal country names — like 'United States of America' or 'Republic of Korea'. Real users won't type those names. So we tested 'USA'. The chat used embeddings to recognize that 'USA' is a colloquial reference to 'United States of America' and generated SQL with the canonical name. The query ran and returned the correct total — about 5.7 million. This is what we mean by entity resolution. Users can be sloppy with names and the system still works.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Last AI chat example, and arguably the most important one. We asked a deliberately silly question: 'How much seaweed did Mars produce in 2022'. Obviously Mars isn't in the FAO data. What we wanted to see is what the chat does — does it hallucinate a number? Does it crash? Does it apologize? What it did is the right thing: it ran a valid SQL query, found no results, and returned 'The result is None.' No invented number. No fabricated answer. This is the property we care about most. For a data assistant, an honest 'I don't know' is more valuable than a confident wrong answer.</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what's left between now and the final. Four buckets. First, AI Chat version two. We want multi-turn conversations — meaning the chat remembers the previous question. We also want charts rendered inside the chat reply, not just tables. And we want broader entity-resolution coverage. Timeline: starts now, lands two weeks before the final. Second, more data sources. We want pricing data beyond what PSIA has shared, trade-flow data from UN Comtrade, and regulatory or permit data. That broadens the range of questions our system can answer. Timeline: two to three weeks before final. Third, a forecasting model. We'll add a simple time-series forecast — probably Prophet or ARIMA — per country and species. Timeline: final two weeks. Fourth, as a stretch goal, user testing. We want to sit a real analyst in front of the chat, watch them ask questions, and log what breaks. We'd use those logs to tune our few-shot examples. Timeline: final week if we have time.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so much for your time. The demo is live right now at seaweed-industry.vercel.app — please feel free to try the chat yourself during Q&amp;A. I'd love to take any questions, especially feedback on the four areas we just listed.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114800" cy="68580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114800" y="0"/>
            <a:ext cx="73152" cy="6858000"/>
          </a:xfrm>
          <a:prstGeom prst="rect">
            <a:avLst/>
          </a:prstGeom>
          <a:solidFill>
            <a:srgbClr val="0B6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0080"/>
            <a:ext cx="3200400" cy="365760"/>
          </a:xfrm>
          <a:prstGeom prst="rect">
            <a:avLst/>
          </a:prstGeom>
          <a:noFill/>
        </p:spPr>
        <p:txBody>
          <a:bodyPr wrap="square" lIns="45720" tIns="18288" rIns="45720" bIns="18288" anchor="t">
            <a:spAutoFit/>
          </a:bodyPr>
          <a:lstStyle/>
          <a:p>
            <a:pPr algn="l"/>
            <a:r>
              <a:rPr sz="1200" b="1">
                <a:solidFill>
                  <a:srgbClr val="FFFFFF"/>
                </a:solidFill>
                <a:latin typeface="Calibri"/>
              </a:rPr>
              <a:t>NORTHEASTERN UNIVERSITY</a:t>
            </a:r>
          </a:p>
        </p:txBody>
      </p:sp>
      <p:sp>
        <p:nvSpPr>
          <p:cNvPr id="6" name="TextBox 5"/>
          <p:cNvSpPr txBox="1"/>
          <p:nvPr/>
        </p:nvSpPr>
        <p:spPr>
          <a:xfrm>
            <a:off x="548640" y="960120"/>
            <a:ext cx="3200400" cy="365760"/>
          </a:xfrm>
          <a:prstGeom prst="rect">
            <a:avLst/>
          </a:prstGeom>
          <a:noFill/>
        </p:spPr>
        <p:txBody>
          <a:bodyPr wrap="square" lIns="45720" tIns="18288" rIns="45720" bIns="18288" anchor="t">
            <a:spAutoFit/>
          </a:bodyPr>
          <a:lstStyle/>
          <a:p>
            <a:pPr algn="l"/>
            <a:r>
              <a:rPr sz="1200" b="0">
                <a:solidFill>
                  <a:srgbClr val="CCFBF1"/>
                </a:solidFill>
                <a:latin typeface="Calibri"/>
              </a:rPr>
              <a:t>Capstone · Mid-Term Presentation</a:t>
            </a:r>
          </a:p>
        </p:txBody>
      </p:sp>
      <p:sp>
        <p:nvSpPr>
          <p:cNvPr id="7" name="TextBox 6"/>
          <p:cNvSpPr txBox="1"/>
          <p:nvPr/>
        </p:nvSpPr>
        <p:spPr>
          <a:xfrm>
            <a:off x="548640" y="2560320"/>
            <a:ext cx="3474720" cy="2286000"/>
          </a:xfrm>
          <a:prstGeom prst="rect">
            <a:avLst/>
          </a:prstGeom>
          <a:noFill/>
        </p:spPr>
        <p:txBody>
          <a:bodyPr wrap="square" lIns="45720" tIns="18288" rIns="45720" bIns="18288" anchor="t">
            <a:spAutoFit/>
          </a:bodyPr>
          <a:lstStyle/>
          <a:p>
            <a:pPr algn="l"/>
            <a:r>
              <a:rPr sz="5400" b="1">
                <a:solidFill>
                  <a:srgbClr val="FFFFFF"/>
                </a:solidFill>
                <a:latin typeface="Calibri"/>
              </a:rPr>
              <a:t>Seaweed
Industry</a:t>
            </a:r>
          </a:p>
        </p:txBody>
      </p:sp>
      <p:sp>
        <p:nvSpPr>
          <p:cNvPr id="8" name="TextBox 7"/>
          <p:cNvSpPr txBox="1"/>
          <p:nvPr/>
        </p:nvSpPr>
        <p:spPr>
          <a:xfrm>
            <a:off x="548640" y="4937760"/>
            <a:ext cx="3474720" cy="457200"/>
          </a:xfrm>
          <a:prstGeom prst="rect">
            <a:avLst/>
          </a:prstGeom>
          <a:noFill/>
        </p:spPr>
        <p:txBody>
          <a:bodyPr wrap="square" lIns="45720" tIns="18288" rIns="45720" bIns="18288" anchor="t">
            <a:spAutoFit/>
          </a:bodyPr>
          <a:lstStyle/>
          <a:p>
            <a:pPr algn="l"/>
            <a:r>
              <a:rPr sz="2200" b="0">
                <a:solidFill>
                  <a:srgbClr val="CCFBF1"/>
                </a:solidFill>
                <a:latin typeface="Calibri"/>
              </a:rPr>
              <a:t>Data + AI</a:t>
            </a:r>
          </a:p>
        </p:txBody>
      </p:sp>
      <p:sp>
        <p:nvSpPr>
          <p:cNvPr id="9" name="TextBox 8"/>
          <p:cNvSpPr txBox="1"/>
          <p:nvPr/>
        </p:nvSpPr>
        <p:spPr>
          <a:xfrm>
            <a:off x="4663440" y="2377440"/>
            <a:ext cx="7132320" cy="640080"/>
          </a:xfrm>
          <a:prstGeom prst="rect">
            <a:avLst/>
          </a:prstGeom>
          <a:noFill/>
        </p:spPr>
        <p:txBody>
          <a:bodyPr wrap="square" lIns="45720" tIns="18288" rIns="45720" bIns="18288" anchor="t">
            <a:spAutoFit/>
          </a:bodyPr>
          <a:lstStyle/>
          <a:p>
            <a:pPr algn="l"/>
            <a:r>
              <a:rPr sz="3000" b="1">
                <a:solidFill>
                  <a:srgbClr val="111827"/>
                </a:solidFill>
                <a:latin typeface="Calibri"/>
              </a:rPr>
              <a:t>Exploring Global Seaweed Production</a:t>
            </a:r>
          </a:p>
        </p:txBody>
      </p:sp>
      <p:sp>
        <p:nvSpPr>
          <p:cNvPr id="10" name="TextBox 9"/>
          <p:cNvSpPr txBox="1"/>
          <p:nvPr/>
        </p:nvSpPr>
        <p:spPr>
          <a:xfrm>
            <a:off x="4663440" y="3108960"/>
            <a:ext cx="7132320" cy="640080"/>
          </a:xfrm>
          <a:prstGeom prst="rect">
            <a:avLst/>
          </a:prstGeom>
          <a:noFill/>
        </p:spPr>
        <p:txBody>
          <a:bodyPr wrap="square" lIns="45720" tIns="18288" rIns="45720" bIns="18288" anchor="t">
            <a:spAutoFit/>
          </a:bodyPr>
          <a:lstStyle/>
          <a:p>
            <a:pPr algn="l"/>
            <a:r>
              <a:rPr sz="2200" b="0">
                <a:solidFill>
                  <a:srgbClr val="4B5563"/>
                </a:solidFill>
                <a:latin typeface="Calibri"/>
              </a:rPr>
              <a:t>with an Interactive Dashboard &amp; AI Chat</a:t>
            </a:r>
          </a:p>
        </p:txBody>
      </p:sp>
      <p:sp>
        <p:nvSpPr>
          <p:cNvPr id="11" name="TextBox 10"/>
          <p:cNvSpPr txBox="1"/>
          <p:nvPr/>
        </p:nvSpPr>
        <p:spPr>
          <a:xfrm>
            <a:off x="4663440" y="4206240"/>
            <a:ext cx="7132320" cy="365760"/>
          </a:xfrm>
          <a:prstGeom prst="rect">
            <a:avLst/>
          </a:prstGeom>
          <a:noFill/>
        </p:spPr>
        <p:txBody>
          <a:bodyPr wrap="square" lIns="45720" tIns="18288" rIns="45720" bIns="18288" anchor="t">
            <a:spAutoFit/>
          </a:bodyPr>
          <a:lstStyle/>
          <a:p>
            <a:pPr algn="l"/>
            <a:r>
              <a:rPr sz="1400" b="0">
                <a:solidFill>
                  <a:srgbClr val="111827"/>
                </a:solidFill>
                <a:latin typeface="Calibri"/>
              </a:rPr>
              <a:t>Team: Dhruvkumar · Devarsh · Deepkumar · Darshil · Poe</a:t>
            </a:r>
          </a:p>
        </p:txBody>
      </p:sp>
      <p:sp>
        <p:nvSpPr>
          <p:cNvPr id="12" name="TextBox 11"/>
          <p:cNvSpPr txBox="1"/>
          <p:nvPr/>
        </p:nvSpPr>
        <p:spPr>
          <a:xfrm>
            <a:off x="4663440" y="4617720"/>
            <a:ext cx="7132320" cy="365760"/>
          </a:xfrm>
          <a:prstGeom prst="rect">
            <a:avLst/>
          </a:prstGeom>
          <a:noFill/>
        </p:spPr>
        <p:txBody>
          <a:bodyPr wrap="square" lIns="45720" tIns="18288" rIns="45720" bIns="18288" anchor="t">
            <a:spAutoFit/>
          </a:bodyPr>
          <a:lstStyle/>
          <a:p>
            <a:pPr algn="l"/>
            <a:r>
              <a:rPr sz="1400" b="0" dirty="0">
                <a:solidFill>
                  <a:srgbClr val="0D9488"/>
                </a:solidFill>
                <a:latin typeface="Calibri"/>
              </a:rPr>
              <a:t>Live demo: seaweed-</a:t>
            </a:r>
            <a:r>
              <a:rPr sz="1400" b="0" dirty="0" err="1">
                <a:solidFill>
                  <a:srgbClr val="0D9488"/>
                </a:solidFill>
                <a:latin typeface="Calibri"/>
              </a:rPr>
              <a:t>industry.vercel.app</a:t>
            </a:r>
            <a:endParaRPr sz="1400" b="0" dirty="0">
              <a:solidFill>
                <a:srgbClr val="0D9488"/>
              </a:solidFill>
              <a:latin typeface="Calibri"/>
            </a:endParaRPr>
          </a:p>
        </p:txBody>
      </p:sp>
      <p:sp>
        <p:nvSpPr>
          <p:cNvPr id="13" name="TextBox 12"/>
          <p:cNvSpPr txBox="1"/>
          <p:nvPr/>
        </p:nvSpPr>
        <p:spPr>
          <a:xfrm>
            <a:off x="4663440" y="5029200"/>
            <a:ext cx="7132320" cy="365760"/>
          </a:xfrm>
          <a:prstGeom prst="rect">
            <a:avLst/>
          </a:prstGeom>
          <a:noFill/>
        </p:spPr>
        <p:txBody>
          <a:bodyPr wrap="square" lIns="45720" tIns="18288" rIns="45720" bIns="18288" anchor="t">
            <a:spAutoFit/>
          </a:bodyPr>
          <a:lstStyle/>
          <a:p>
            <a:pPr algn="l"/>
            <a:r>
              <a:rPr sz="1400" b="0">
                <a:solidFill>
                  <a:srgbClr val="4B5563"/>
                </a:solidFill>
                <a:latin typeface="Calibri"/>
              </a:rPr>
              <a:t>Data: FAO global seaweed tables</a:t>
            </a:r>
          </a:p>
        </p:txBody>
      </p:sp>
      <p:sp>
        <p:nvSpPr>
          <p:cNvPr id="14" name="TextBox 13"/>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a:solidFill>
                  <a:srgbClr val="4B5563"/>
                </a:solidFill>
                <a:latin typeface="Calibri"/>
              </a:rPr>
              <a:t>Seaweed Industry  ·  Capstone Mid-Term</a:t>
            </a:r>
          </a:p>
        </p:txBody>
      </p:sp>
      <p:sp>
        <p:nvSpPr>
          <p:cNvPr id="15" name="TextBox 14"/>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1 / 28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9144000" cy="320040"/>
          </a:xfrm>
          <a:prstGeom prst="rect">
            <a:avLst/>
          </a:prstGeom>
          <a:noFill/>
        </p:spPr>
        <p:txBody>
          <a:bodyPr wrap="square" lIns="45720" tIns="18288" rIns="45720" bIns="18288" anchor="t">
            <a:spAutoFit/>
          </a:bodyPr>
          <a:lstStyle/>
          <a:p>
            <a:pPr algn="l"/>
            <a:r>
              <a:rPr sz="1200" b="1">
                <a:solidFill>
                  <a:srgbClr val="0D9488"/>
                </a:solidFill>
                <a:latin typeface="Calibri"/>
              </a:rPr>
              <a:t>EXECUTIVE SUMMARY</a:t>
            </a:r>
          </a:p>
        </p:txBody>
      </p:sp>
      <p:sp>
        <p:nvSpPr>
          <p:cNvPr id="4" name="TextBox 3"/>
          <p:cNvSpPr txBox="1"/>
          <p:nvPr/>
        </p:nvSpPr>
        <p:spPr>
          <a:xfrm>
            <a:off x="548640" y="594360"/>
            <a:ext cx="10972800" cy="640080"/>
          </a:xfrm>
          <a:prstGeom prst="rect">
            <a:avLst/>
          </a:prstGeom>
          <a:noFill/>
        </p:spPr>
        <p:txBody>
          <a:bodyPr wrap="square" lIns="45720" tIns="18288" rIns="45720" bIns="18288" anchor="t">
            <a:spAutoFit/>
          </a:bodyPr>
          <a:lstStyle/>
          <a:p>
            <a:pPr algn="l"/>
            <a:r>
              <a:rPr sz="3000" b="1">
                <a:solidFill>
                  <a:srgbClr val="111827"/>
                </a:solidFill>
                <a:latin typeface="Calibri"/>
              </a:rPr>
              <a:t>What we built, in one minute</a:t>
            </a:r>
          </a:p>
        </p:txBody>
      </p:sp>
      <p:sp>
        <p:nvSpPr>
          <p:cNvPr id="5" name="TextBox 4"/>
          <p:cNvSpPr txBox="1"/>
          <p:nvPr/>
        </p:nvSpPr>
        <p:spPr>
          <a:xfrm>
            <a:off x="548640" y="1463040"/>
            <a:ext cx="7132320" cy="3465821"/>
          </a:xfrm>
          <a:prstGeom prst="rect">
            <a:avLst/>
          </a:prstGeom>
          <a:noFill/>
        </p:spPr>
        <p:txBody>
          <a:bodyPr wrap="square" lIns="45720" rIns="45720">
            <a:spAutoFit/>
          </a:bodyPr>
          <a:lstStyle/>
          <a:p>
            <a:pPr algn="l">
              <a:lnSpc>
                <a:spcPct val="130000"/>
              </a:lnSpc>
            </a:pPr>
            <a:r>
              <a:rPr sz="1700" b="1" dirty="0">
                <a:solidFill>
                  <a:srgbClr val="0D9488"/>
                </a:solidFill>
                <a:latin typeface="Calibri"/>
              </a:rPr>
              <a:t>●  </a:t>
            </a:r>
            <a:r>
              <a:rPr sz="1700" dirty="0">
                <a:solidFill>
                  <a:srgbClr val="111827"/>
                </a:solidFill>
                <a:latin typeface="Calibri"/>
              </a:rPr>
              <a:t>Company / context: PSIA Pacific States Industry Association seaweed data exploration.</a:t>
            </a:r>
          </a:p>
          <a:p>
            <a:pPr algn="l">
              <a:lnSpc>
                <a:spcPct val="130000"/>
              </a:lnSpc>
            </a:pPr>
            <a:r>
              <a:rPr sz="1700" b="1" dirty="0">
                <a:solidFill>
                  <a:srgbClr val="0D9488"/>
                </a:solidFill>
                <a:latin typeface="Calibri"/>
              </a:rPr>
              <a:t>●  </a:t>
            </a:r>
            <a:r>
              <a:rPr sz="1700" dirty="0">
                <a:solidFill>
                  <a:srgbClr val="111827"/>
                </a:solidFill>
                <a:latin typeface="Calibri"/>
              </a:rPr>
              <a:t>Problem: The FAO publishes rich global seaweed data, but it's stored across four large CSV tables that are hard for non-technical stakeholders to explore.</a:t>
            </a:r>
          </a:p>
          <a:p>
            <a:pPr algn="l">
              <a:lnSpc>
                <a:spcPct val="130000"/>
              </a:lnSpc>
            </a:pPr>
            <a:r>
              <a:rPr sz="1700" b="1" dirty="0">
                <a:solidFill>
                  <a:srgbClr val="0D9488"/>
                </a:solidFill>
                <a:latin typeface="Calibri"/>
              </a:rPr>
              <a:t>●  </a:t>
            </a:r>
            <a:r>
              <a:rPr sz="1700" dirty="0">
                <a:solidFill>
                  <a:srgbClr val="111827"/>
                </a:solidFill>
                <a:latin typeface="Calibri"/>
              </a:rPr>
              <a:t>Our solution: A web app with two surfaces</a:t>
            </a:r>
            <a:r>
              <a:rPr lang="en-US" sz="1700" dirty="0">
                <a:solidFill>
                  <a:srgbClr val="111827"/>
                </a:solidFill>
                <a:latin typeface="Calibri"/>
              </a:rPr>
              <a:t> </a:t>
            </a:r>
            <a:r>
              <a:rPr sz="1700" dirty="0">
                <a:solidFill>
                  <a:srgbClr val="111827"/>
                </a:solidFill>
                <a:latin typeface="Calibri"/>
              </a:rPr>
              <a:t>(1) a 12-tab interactive dashboard, and (2) "PSIA AI", a natural-language chat that turns plain English into SQL and answers your question with data.</a:t>
            </a:r>
          </a:p>
          <a:p>
            <a:pPr algn="l">
              <a:lnSpc>
                <a:spcPct val="130000"/>
              </a:lnSpc>
            </a:pPr>
            <a:r>
              <a:rPr sz="1700" b="1" dirty="0">
                <a:solidFill>
                  <a:srgbClr val="0D9488"/>
                </a:solidFill>
                <a:latin typeface="Calibri"/>
              </a:rPr>
              <a:t>●  </a:t>
            </a:r>
            <a:r>
              <a:rPr sz="1700" dirty="0">
                <a:solidFill>
                  <a:srgbClr val="111827"/>
                </a:solidFill>
                <a:latin typeface="Calibri"/>
              </a:rPr>
              <a:t>Impact: Anyone analyst, sponsor, researcher can answer market questions in seconds without writing code or SQL.</a:t>
            </a:r>
          </a:p>
          <a:p>
            <a:pPr algn="l">
              <a:lnSpc>
                <a:spcPct val="130000"/>
              </a:lnSpc>
            </a:pPr>
            <a:r>
              <a:rPr sz="1700" b="1" dirty="0">
                <a:solidFill>
                  <a:srgbClr val="0D9488"/>
                </a:solidFill>
                <a:latin typeface="Calibri"/>
              </a:rPr>
              <a:t>●  </a:t>
            </a:r>
            <a:r>
              <a:rPr sz="1700" dirty="0">
                <a:solidFill>
                  <a:srgbClr val="111827"/>
                </a:solidFill>
                <a:latin typeface="Calibri"/>
              </a:rPr>
              <a:t>Status: Live at seaweed-</a:t>
            </a:r>
            <a:r>
              <a:rPr sz="1700" dirty="0" err="1">
                <a:solidFill>
                  <a:srgbClr val="111827"/>
                </a:solidFill>
                <a:latin typeface="Calibri"/>
              </a:rPr>
              <a:t>industry.vercel.app</a:t>
            </a:r>
            <a:endParaRPr sz="1700" dirty="0">
              <a:solidFill>
                <a:srgbClr val="111827"/>
              </a:solidFill>
              <a:latin typeface="Calibri"/>
            </a:endParaRPr>
          </a:p>
        </p:txBody>
      </p:sp>
      <p:sp>
        <p:nvSpPr>
          <p:cNvPr id="6" name="Rectangle 5"/>
          <p:cNvSpPr/>
          <p:nvPr/>
        </p:nvSpPr>
        <p:spPr>
          <a:xfrm>
            <a:off x="8046720" y="1463040"/>
            <a:ext cx="3657600" cy="411480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0" y="1600200"/>
            <a:ext cx="3474720" cy="457200"/>
          </a:xfrm>
          <a:prstGeom prst="rect">
            <a:avLst/>
          </a:prstGeom>
          <a:noFill/>
        </p:spPr>
        <p:txBody>
          <a:bodyPr wrap="square" lIns="45720" tIns="18288" rIns="45720" bIns="18288" anchor="t">
            <a:spAutoFit/>
          </a:bodyPr>
          <a:lstStyle/>
          <a:p>
            <a:pPr algn="l"/>
            <a:r>
              <a:rPr sz="1200" b="1">
                <a:solidFill>
                  <a:srgbClr val="0B6E66"/>
                </a:solidFill>
                <a:latin typeface="Calibri"/>
              </a:rPr>
              <a:t>AT A GLANCE</a:t>
            </a:r>
          </a:p>
        </p:txBody>
      </p:sp>
      <p:sp>
        <p:nvSpPr>
          <p:cNvPr id="8" name="TextBox 7"/>
          <p:cNvSpPr txBox="1"/>
          <p:nvPr/>
        </p:nvSpPr>
        <p:spPr>
          <a:xfrm>
            <a:off x="8229600" y="2057400"/>
            <a:ext cx="3474720" cy="548640"/>
          </a:xfrm>
          <a:prstGeom prst="rect">
            <a:avLst/>
          </a:prstGeom>
          <a:noFill/>
        </p:spPr>
        <p:txBody>
          <a:bodyPr wrap="square" lIns="45720" tIns="18288" rIns="45720" bIns="18288" anchor="t">
            <a:spAutoFit/>
          </a:bodyPr>
          <a:lstStyle/>
          <a:p>
            <a:pPr algn="l"/>
            <a:r>
              <a:rPr sz="2000" b="1">
                <a:solidFill>
                  <a:srgbClr val="111827"/>
                </a:solidFill>
                <a:latin typeface="Calibri"/>
              </a:rPr>
              <a:t>12 dashboard tabs</a:t>
            </a:r>
          </a:p>
        </p:txBody>
      </p:sp>
      <p:sp>
        <p:nvSpPr>
          <p:cNvPr id="9" name="TextBox 8"/>
          <p:cNvSpPr txBox="1"/>
          <p:nvPr/>
        </p:nvSpPr>
        <p:spPr>
          <a:xfrm>
            <a:off x="8229600" y="2606040"/>
            <a:ext cx="3474720" cy="548640"/>
          </a:xfrm>
          <a:prstGeom prst="rect">
            <a:avLst/>
          </a:prstGeom>
          <a:noFill/>
        </p:spPr>
        <p:txBody>
          <a:bodyPr wrap="square" lIns="45720" tIns="18288" rIns="45720" bIns="18288" anchor="t">
            <a:spAutoFit/>
          </a:bodyPr>
          <a:lstStyle/>
          <a:p>
            <a:pPr algn="l"/>
            <a:r>
              <a:rPr sz="2000" b="1">
                <a:solidFill>
                  <a:srgbClr val="111827"/>
                </a:solidFill>
                <a:latin typeface="Calibri"/>
              </a:rPr>
              <a:t>5 KPI lenses</a:t>
            </a:r>
          </a:p>
        </p:txBody>
      </p:sp>
      <p:sp>
        <p:nvSpPr>
          <p:cNvPr id="10" name="TextBox 9"/>
          <p:cNvSpPr txBox="1"/>
          <p:nvPr/>
        </p:nvSpPr>
        <p:spPr>
          <a:xfrm>
            <a:off x="8229600" y="3154680"/>
            <a:ext cx="3474720" cy="548640"/>
          </a:xfrm>
          <a:prstGeom prst="rect">
            <a:avLst/>
          </a:prstGeom>
          <a:noFill/>
        </p:spPr>
        <p:txBody>
          <a:bodyPr wrap="square" lIns="45720" tIns="18288" rIns="45720" bIns="18288" anchor="t">
            <a:spAutoFit/>
          </a:bodyPr>
          <a:lstStyle/>
          <a:p>
            <a:pPr algn="l"/>
            <a:r>
              <a:rPr sz="2000" b="1">
                <a:solidFill>
                  <a:srgbClr val="111827"/>
                </a:solidFill>
                <a:latin typeface="Calibri"/>
              </a:rPr>
              <a:t>1 AI chat (text-to-SQL)</a:t>
            </a:r>
          </a:p>
        </p:txBody>
      </p:sp>
      <p:sp>
        <p:nvSpPr>
          <p:cNvPr id="11" name="TextBox 10"/>
          <p:cNvSpPr txBox="1"/>
          <p:nvPr/>
        </p:nvSpPr>
        <p:spPr>
          <a:xfrm>
            <a:off x="8229600" y="3703320"/>
            <a:ext cx="3474720" cy="548640"/>
          </a:xfrm>
          <a:prstGeom prst="rect">
            <a:avLst/>
          </a:prstGeom>
          <a:noFill/>
        </p:spPr>
        <p:txBody>
          <a:bodyPr wrap="square" lIns="45720" tIns="18288" rIns="45720" bIns="18288" anchor="t">
            <a:spAutoFit/>
          </a:bodyPr>
          <a:lstStyle/>
          <a:p>
            <a:pPr algn="l"/>
            <a:r>
              <a:rPr sz="2000" b="1">
                <a:solidFill>
                  <a:srgbClr val="111827"/>
                </a:solidFill>
                <a:latin typeface="Calibri"/>
              </a:rPr>
              <a:t>4 FAO tables</a:t>
            </a:r>
          </a:p>
        </p:txBody>
      </p:sp>
      <p:sp>
        <p:nvSpPr>
          <p:cNvPr id="12" name="TextBox 11"/>
          <p:cNvSpPr txBox="1"/>
          <p:nvPr/>
        </p:nvSpPr>
        <p:spPr>
          <a:xfrm>
            <a:off x="8229600" y="4251960"/>
            <a:ext cx="3474720" cy="548640"/>
          </a:xfrm>
          <a:prstGeom prst="rect">
            <a:avLst/>
          </a:prstGeom>
          <a:noFill/>
        </p:spPr>
        <p:txBody>
          <a:bodyPr wrap="square" lIns="45720" tIns="18288" rIns="45720" bIns="18288" anchor="t">
            <a:spAutoFit/>
          </a:bodyPr>
          <a:lstStyle/>
          <a:p>
            <a:pPr algn="l"/>
            <a:r>
              <a:rPr sz="2000" b="1">
                <a:solidFill>
                  <a:srgbClr val="111827"/>
                </a:solidFill>
                <a:latin typeface="Calibri"/>
              </a:rPr>
              <a:t>5 team members</a:t>
            </a:r>
          </a:p>
        </p:txBody>
      </p:sp>
      <p:sp>
        <p:nvSpPr>
          <p:cNvPr id="13" name="TextBox 12"/>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a:solidFill>
                  <a:srgbClr val="4B5563"/>
                </a:solidFill>
                <a:latin typeface="Calibri"/>
              </a:rPr>
              <a:t>Seaweed Industry  ·  Capstone Mid-Term</a:t>
            </a:r>
          </a:p>
        </p:txBody>
      </p:sp>
      <p:sp>
        <p:nvSpPr>
          <p:cNvPr id="14" name="TextBox 13"/>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2 / 28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9144000" cy="320040"/>
          </a:xfrm>
          <a:prstGeom prst="rect">
            <a:avLst/>
          </a:prstGeom>
          <a:noFill/>
        </p:spPr>
        <p:txBody>
          <a:bodyPr wrap="square" lIns="45720" tIns="18288" rIns="45720" bIns="18288" anchor="t">
            <a:spAutoFit/>
          </a:bodyPr>
          <a:lstStyle/>
          <a:p>
            <a:pPr algn="l"/>
            <a:r>
              <a:rPr sz="1200" b="1">
                <a:solidFill>
                  <a:srgbClr val="0D9488"/>
                </a:solidFill>
                <a:latin typeface="Calibri"/>
              </a:rPr>
              <a:t>THE TEAM</a:t>
            </a:r>
          </a:p>
        </p:txBody>
      </p:sp>
      <p:sp>
        <p:nvSpPr>
          <p:cNvPr id="4" name="TextBox 3"/>
          <p:cNvSpPr txBox="1"/>
          <p:nvPr/>
        </p:nvSpPr>
        <p:spPr>
          <a:xfrm>
            <a:off x="548640" y="594360"/>
            <a:ext cx="10972800" cy="640080"/>
          </a:xfrm>
          <a:prstGeom prst="rect">
            <a:avLst/>
          </a:prstGeom>
          <a:noFill/>
        </p:spPr>
        <p:txBody>
          <a:bodyPr wrap="square" lIns="45720" tIns="18288" rIns="45720" bIns="18288" anchor="t">
            <a:spAutoFit/>
          </a:bodyPr>
          <a:lstStyle/>
          <a:p>
            <a:pPr algn="l"/>
            <a:r>
              <a:rPr sz="3000" b="1">
                <a:solidFill>
                  <a:srgbClr val="111827"/>
                </a:solidFill>
                <a:latin typeface="Calibri"/>
              </a:rPr>
              <a:t>Who built what</a:t>
            </a:r>
          </a:p>
        </p:txBody>
      </p:sp>
      <p:sp>
        <p:nvSpPr>
          <p:cNvPr id="5" name="Oval 4"/>
          <p:cNvSpPr/>
          <p:nvPr/>
        </p:nvSpPr>
        <p:spPr>
          <a:xfrm>
            <a:off x="640080" y="1508760"/>
            <a:ext cx="777240" cy="77724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08760"/>
            <a:ext cx="777240" cy="777240"/>
          </a:xfrm>
          <a:prstGeom prst="rect">
            <a:avLst/>
          </a:prstGeom>
          <a:noFill/>
        </p:spPr>
        <p:txBody>
          <a:bodyPr wrap="square" anchor="ctr">
            <a:spAutoFit/>
          </a:bodyPr>
          <a:lstStyle/>
          <a:p>
            <a:pPr algn="ctr"/>
            <a:r>
              <a:rPr sz="2600" b="1">
                <a:solidFill>
                  <a:srgbClr val="FFFFFF"/>
                </a:solidFill>
                <a:latin typeface="Calibri"/>
              </a:rPr>
              <a:t>D</a:t>
            </a:r>
          </a:p>
        </p:txBody>
      </p:sp>
      <p:sp>
        <p:nvSpPr>
          <p:cNvPr id="7" name="TextBox 6"/>
          <p:cNvSpPr txBox="1"/>
          <p:nvPr/>
        </p:nvSpPr>
        <p:spPr>
          <a:xfrm>
            <a:off x="1600200" y="1463040"/>
            <a:ext cx="2926080" cy="411480"/>
          </a:xfrm>
          <a:prstGeom prst="rect">
            <a:avLst/>
          </a:prstGeom>
          <a:noFill/>
        </p:spPr>
        <p:txBody>
          <a:bodyPr wrap="square" lIns="45720" tIns="18288" rIns="45720" bIns="18288" anchor="t">
            <a:spAutoFit/>
          </a:bodyPr>
          <a:lstStyle/>
          <a:p>
            <a:pPr algn="l"/>
            <a:r>
              <a:rPr sz="1800" b="1">
                <a:solidFill>
                  <a:srgbClr val="111827"/>
                </a:solidFill>
                <a:latin typeface="Calibri"/>
              </a:rPr>
              <a:t>Dhruvkumar Patel</a:t>
            </a:r>
          </a:p>
        </p:txBody>
      </p:sp>
      <p:sp>
        <p:nvSpPr>
          <p:cNvPr id="8" name="TextBox 7"/>
          <p:cNvSpPr txBox="1"/>
          <p:nvPr/>
        </p:nvSpPr>
        <p:spPr>
          <a:xfrm>
            <a:off x="1600200" y="1874520"/>
            <a:ext cx="2926080" cy="365760"/>
          </a:xfrm>
          <a:prstGeom prst="rect">
            <a:avLst/>
          </a:prstGeom>
          <a:noFill/>
        </p:spPr>
        <p:txBody>
          <a:bodyPr wrap="square" lIns="45720" tIns="18288" rIns="45720" bIns="18288" anchor="t">
            <a:spAutoFit/>
          </a:bodyPr>
          <a:lstStyle/>
          <a:p>
            <a:pPr algn="l"/>
            <a:r>
              <a:rPr sz="1200" b="1">
                <a:solidFill>
                  <a:srgbClr val="0D9488"/>
                </a:solidFill>
                <a:latin typeface="Calibri"/>
              </a:rPr>
              <a:t>Technical Lead (full-stack)</a:t>
            </a:r>
          </a:p>
        </p:txBody>
      </p:sp>
      <p:sp>
        <p:nvSpPr>
          <p:cNvPr id="9" name="TextBox 8"/>
          <p:cNvSpPr txBox="1"/>
          <p:nvPr/>
        </p:nvSpPr>
        <p:spPr>
          <a:xfrm>
            <a:off x="4663440" y="1581912"/>
            <a:ext cx="7132320" cy="777240"/>
          </a:xfrm>
          <a:prstGeom prst="rect">
            <a:avLst/>
          </a:prstGeom>
          <a:noFill/>
        </p:spPr>
        <p:txBody>
          <a:bodyPr wrap="square" lIns="45720" tIns="18288" rIns="45720" bIns="18288" anchor="t">
            <a:spAutoFit/>
          </a:bodyPr>
          <a:lstStyle/>
          <a:p>
            <a:pPr algn="l"/>
            <a:r>
              <a:rPr sz="1300" b="0">
                <a:solidFill>
                  <a:srgbClr val="4B5563"/>
                </a:solidFill>
                <a:latin typeface="Calibri"/>
              </a:rPr>
              <a:t>EDA, preprocessing, DuckDB schema, 12-tab React dashboard, FastAPI backend, Text-to-SQL pipeline, embeddings &amp; few-shot retrieval, chat UI, deployment, testing, docs.</a:t>
            </a:r>
          </a:p>
        </p:txBody>
      </p:sp>
      <p:sp>
        <p:nvSpPr>
          <p:cNvPr id="10" name="Oval 9"/>
          <p:cNvSpPr/>
          <p:nvPr/>
        </p:nvSpPr>
        <p:spPr>
          <a:xfrm>
            <a:off x="640080" y="2468880"/>
            <a:ext cx="777240" cy="77724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468880"/>
            <a:ext cx="777240" cy="777240"/>
          </a:xfrm>
          <a:prstGeom prst="rect">
            <a:avLst/>
          </a:prstGeom>
          <a:noFill/>
        </p:spPr>
        <p:txBody>
          <a:bodyPr wrap="square" anchor="ctr">
            <a:spAutoFit/>
          </a:bodyPr>
          <a:lstStyle/>
          <a:p>
            <a:pPr algn="ctr"/>
            <a:r>
              <a:rPr sz="2600" b="1">
                <a:solidFill>
                  <a:srgbClr val="FFFFFF"/>
                </a:solidFill>
                <a:latin typeface="Calibri"/>
              </a:rPr>
              <a:t>D</a:t>
            </a:r>
          </a:p>
        </p:txBody>
      </p:sp>
      <p:sp>
        <p:nvSpPr>
          <p:cNvPr id="12" name="TextBox 11"/>
          <p:cNvSpPr txBox="1"/>
          <p:nvPr/>
        </p:nvSpPr>
        <p:spPr>
          <a:xfrm>
            <a:off x="1600200" y="2423160"/>
            <a:ext cx="2926080" cy="411480"/>
          </a:xfrm>
          <a:prstGeom prst="rect">
            <a:avLst/>
          </a:prstGeom>
          <a:noFill/>
        </p:spPr>
        <p:txBody>
          <a:bodyPr wrap="square" lIns="45720" tIns="18288" rIns="45720" bIns="18288" anchor="t">
            <a:spAutoFit/>
          </a:bodyPr>
          <a:lstStyle/>
          <a:p>
            <a:pPr algn="l"/>
            <a:r>
              <a:rPr sz="1800" b="1">
                <a:solidFill>
                  <a:srgbClr val="111827"/>
                </a:solidFill>
                <a:latin typeface="Calibri"/>
              </a:rPr>
              <a:t>Devarsh</a:t>
            </a:r>
          </a:p>
        </p:txBody>
      </p:sp>
      <p:sp>
        <p:nvSpPr>
          <p:cNvPr id="13" name="TextBox 12"/>
          <p:cNvSpPr txBox="1"/>
          <p:nvPr/>
        </p:nvSpPr>
        <p:spPr>
          <a:xfrm>
            <a:off x="1600200" y="2834640"/>
            <a:ext cx="2926080" cy="365760"/>
          </a:xfrm>
          <a:prstGeom prst="rect">
            <a:avLst/>
          </a:prstGeom>
          <a:noFill/>
        </p:spPr>
        <p:txBody>
          <a:bodyPr wrap="square" lIns="45720" tIns="18288" rIns="45720" bIns="18288" anchor="t">
            <a:spAutoFit/>
          </a:bodyPr>
          <a:lstStyle/>
          <a:p>
            <a:pPr algn="l"/>
            <a:r>
              <a:rPr sz="1200" b="1">
                <a:solidFill>
                  <a:srgbClr val="0D9488"/>
                </a:solidFill>
                <a:latin typeface="Calibri"/>
              </a:rPr>
              <a:t>Data Prep &amp; KPI Owner</a:t>
            </a:r>
          </a:p>
        </p:txBody>
      </p:sp>
      <p:sp>
        <p:nvSpPr>
          <p:cNvPr id="14" name="TextBox 13"/>
          <p:cNvSpPr txBox="1"/>
          <p:nvPr/>
        </p:nvSpPr>
        <p:spPr>
          <a:xfrm>
            <a:off x="4663440" y="2542032"/>
            <a:ext cx="7132320" cy="777240"/>
          </a:xfrm>
          <a:prstGeom prst="rect">
            <a:avLst/>
          </a:prstGeom>
          <a:noFill/>
        </p:spPr>
        <p:txBody>
          <a:bodyPr wrap="square" lIns="45720" tIns="18288" rIns="45720" bIns="18288" anchor="t">
            <a:spAutoFit/>
          </a:bodyPr>
          <a:lstStyle/>
          <a:p>
            <a:pPr algn="l"/>
            <a:r>
              <a:rPr sz="1300" b="0">
                <a:solidFill>
                  <a:srgbClr val="4B5563"/>
                </a:solidFill>
                <a:latin typeface="Calibri"/>
              </a:rPr>
              <a:t>Validates FAO source records. Owns Export Value of Seaweed Products ($/year) and Companies Founded (by End Use).</a:t>
            </a:r>
          </a:p>
        </p:txBody>
      </p:sp>
      <p:sp>
        <p:nvSpPr>
          <p:cNvPr id="15" name="Oval 14"/>
          <p:cNvSpPr/>
          <p:nvPr/>
        </p:nvSpPr>
        <p:spPr>
          <a:xfrm>
            <a:off x="640080" y="3429000"/>
            <a:ext cx="777240" cy="77724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3429000"/>
            <a:ext cx="777240" cy="777240"/>
          </a:xfrm>
          <a:prstGeom prst="rect">
            <a:avLst/>
          </a:prstGeom>
          <a:noFill/>
        </p:spPr>
        <p:txBody>
          <a:bodyPr wrap="square" anchor="ctr">
            <a:spAutoFit/>
          </a:bodyPr>
          <a:lstStyle/>
          <a:p>
            <a:pPr algn="ctr"/>
            <a:r>
              <a:rPr sz="2600" b="1">
                <a:solidFill>
                  <a:srgbClr val="FFFFFF"/>
                </a:solidFill>
                <a:latin typeface="Calibri"/>
              </a:rPr>
              <a:t>D</a:t>
            </a:r>
          </a:p>
        </p:txBody>
      </p:sp>
      <p:sp>
        <p:nvSpPr>
          <p:cNvPr id="17" name="TextBox 16"/>
          <p:cNvSpPr txBox="1"/>
          <p:nvPr/>
        </p:nvSpPr>
        <p:spPr>
          <a:xfrm>
            <a:off x="1600200" y="3383280"/>
            <a:ext cx="2926080" cy="411480"/>
          </a:xfrm>
          <a:prstGeom prst="rect">
            <a:avLst/>
          </a:prstGeom>
          <a:noFill/>
        </p:spPr>
        <p:txBody>
          <a:bodyPr wrap="square" lIns="45720" tIns="18288" rIns="45720" bIns="18288" anchor="t">
            <a:spAutoFit/>
          </a:bodyPr>
          <a:lstStyle/>
          <a:p>
            <a:pPr algn="l"/>
            <a:r>
              <a:rPr sz="1800" b="1">
                <a:solidFill>
                  <a:srgbClr val="111827"/>
                </a:solidFill>
                <a:latin typeface="Calibri"/>
              </a:rPr>
              <a:t>Deepkumar</a:t>
            </a:r>
          </a:p>
        </p:txBody>
      </p:sp>
      <p:sp>
        <p:nvSpPr>
          <p:cNvPr id="18" name="TextBox 17"/>
          <p:cNvSpPr txBox="1"/>
          <p:nvPr/>
        </p:nvSpPr>
        <p:spPr>
          <a:xfrm>
            <a:off x="1600200" y="3794760"/>
            <a:ext cx="2926080" cy="365760"/>
          </a:xfrm>
          <a:prstGeom prst="rect">
            <a:avLst/>
          </a:prstGeom>
          <a:noFill/>
        </p:spPr>
        <p:txBody>
          <a:bodyPr wrap="square" lIns="45720" tIns="18288" rIns="45720" bIns="18288" anchor="t">
            <a:spAutoFit/>
          </a:bodyPr>
          <a:lstStyle/>
          <a:p>
            <a:pPr algn="l"/>
            <a:r>
              <a:rPr sz="1200" b="1">
                <a:solidFill>
                  <a:srgbClr val="0D9488"/>
                </a:solidFill>
                <a:latin typeface="Calibri"/>
              </a:rPr>
              <a:t>Data Prep &amp; KPI Owner</a:t>
            </a:r>
          </a:p>
        </p:txBody>
      </p:sp>
      <p:sp>
        <p:nvSpPr>
          <p:cNvPr id="19" name="TextBox 18"/>
          <p:cNvSpPr txBox="1"/>
          <p:nvPr/>
        </p:nvSpPr>
        <p:spPr>
          <a:xfrm>
            <a:off x="4663440" y="3502152"/>
            <a:ext cx="7132320" cy="777240"/>
          </a:xfrm>
          <a:prstGeom prst="rect">
            <a:avLst/>
          </a:prstGeom>
          <a:noFill/>
        </p:spPr>
        <p:txBody>
          <a:bodyPr wrap="square" lIns="45720" tIns="18288" rIns="45720" bIns="18288" anchor="t">
            <a:spAutoFit/>
          </a:bodyPr>
          <a:lstStyle/>
          <a:p>
            <a:pPr algn="l"/>
            <a:r>
              <a:rPr sz="1300" b="0">
                <a:solidFill>
                  <a:srgbClr val="4B5563"/>
                </a:solidFill>
                <a:latin typeface="Calibri"/>
              </a:rPr>
              <a:t>Handles missing values and status-flag rules. Owns Price per Wet Tonne by Species and End Use ($/tonne).</a:t>
            </a:r>
          </a:p>
        </p:txBody>
      </p:sp>
      <p:sp>
        <p:nvSpPr>
          <p:cNvPr id="20" name="Oval 19"/>
          <p:cNvSpPr/>
          <p:nvPr/>
        </p:nvSpPr>
        <p:spPr>
          <a:xfrm>
            <a:off x="640080" y="4389120"/>
            <a:ext cx="777240" cy="77724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4389120"/>
            <a:ext cx="777240" cy="777240"/>
          </a:xfrm>
          <a:prstGeom prst="rect">
            <a:avLst/>
          </a:prstGeom>
          <a:noFill/>
        </p:spPr>
        <p:txBody>
          <a:bodyPr wrap="square" anchor="ctr">
            <a:spAutoFit/>
          </a:bodyPr>
          <a:lstStyle/>
          <a:p>
            <a:pPr algn="ctr"/>
            <a:r>
              <a:rPr sz="2600" b="1">
                <a:solidFill>
                  <a:srgbClr val="FFFFFF"/>
                </a:solidFill>
                <a:latin typeface="Calibri"/>
              </a:rPr>
              <a:t>D</a:t>
            </a:r>
          </a:p>
        </p:txBody>
      </p:sp>
      <p:sp>
        <p:nvSpPr>
          <p:cNvPr id="22" name="TextBox 21"/>
          <p:cNvSpPr txBox="1"/>
          <p:nvPr/>
        </p:nvSpPr>
        <p:spPr>
          <a:xfrm>
            <a:off x="1600200" y="4343400"/>
            <a:ext cx="2926080" cy="411480"/>
          </a:xfrm>
          <a:prstGeom prst="rect">
            <a:avLst/>
          </a:prstGeom>
          <a:noFill/>
        </p:spPr>
        <p:txBody>
          <a:bodyPr wrap="square" lIns="45720" tIns="18288" rIns="45720" bIns="18288" anchor="t">
            <a:spAutoFit/>
          </a:bodyPr>
          <a:lstStyle/>
          <a:p>
            <a:pPr algn="l"/>
            <a:r>
              <a:rPr sz="1800" b="1">
                <a:solidFill>
                  <a:srgbClr val="111827"/>
                </a:solidFill>
                <a:latin typeface="Calibri"/>
              </a:rPr>
              <a:t>Darshil</a:t>
            </a:r>
          </a:p>
        </p:txBody>
      </p:sp>
      <p:sp>
        <p:nvSpPr>
          <p:cNvPr id="23" name="TextBox 22"/>
          <p:cNvSpPr txBox="1"/>
          <p:nvPr/>
        </p:nvSpPr>
        <p:spPr>
          <a:xfrm>
            <a:off x="1600200" y="4754880"/>
            <a:ext cx="2926080" cy="365760"/>
          </a:xfrm>
          <a:prstGeom prst="rect">
            <a:avLst/>
          </a:prstGeom>
          <a:noFill/>
        </p:spPr>
        <p:txBody>
          <a:bodyPr wrap="square" lIns="45720" tIns="18288" rIns="45720" bIns="18288" anchor="t">
            <a:spAutoFit/>
          </a:bodyPr>
          <a:lstStyle/>
          <a:p>
            <a:pPr algn="l"/>
            <a:r>
              <a:rPr sz="1200" b="1">
                <a:solidFill>
                  <a:srgbClr val="0D9488"/>
                </a:solidFill>
                <a:latin typeface="Calibri"/>
              </a:rPr>
              <a:t>Data Prep &amp; KPI Owner</a:t>
            </a:r>
          </a:p>
        </p:txBody>
      </p:sp>
      <p:sp>
        <p:nvSpPr>
          <p:cNvPr id="24" name="TextBox 23"/>
          <p:cNvSpPr txBox="1"/>
          <p:nvPr/>
        </p:nvSpPr>
        <p:spPr>
          <a:xfrm>
            <a:off x="4663440" y="4462272"/>
            <a:ext cx="7132320" cy="777240"/>
          </a:xfrm>
          <a:prstGeom prst="rect">
            <a:avLst/>
          </a:prstGeom>
          <a:noFill/>
        </p:spPr>
        <p:txBody>
          <a:bodyPr wrap="square" lIns="45720" tIns="18288" rIns="45720" bIns="18288" anchor="t">
            <a:spAutoFit/>
          </a:bodyPr>
          <a:lstStyle/>
          <a:p>
            <a:pPr algn="l"/>
            <a:r>
              <a:rPr sz="1300" b="0">
                <a:solidFill>
                  <a:srgbClr val="4B5563"/>
                </a:solidFill>
                <a:latin typeface="Calibri"/>
              </a:rPr>
              <a:t>Normalizes fields across the four FAO tables. Owns Wet vs. Processed Kelp Demand and Gross Value of Seaweed Industry Output ($/year).</a:t>
            </a:r>
          </a:p>
        </p:txBody>
      </p:sp>
      <p:sp>
        <p:nvSpPr>
          <p:cNvPr id="25" name="Oval 24"/>
          <p:cNvSpPr/>
          <p:nvPr/>
        </p:nvSpPr>
        <p:spPr>
          <a:xfrm>
            <a:off x="640080" y="5349240"/>
            <a:ext cx="777240" cy="77724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5349240"/>
            <a:ext cx="777240" cy="777240"/>
          </a:xfrm>
          <a:prstGeom prst="rect">
            <a:avLst/>
          </a:prstGeom>
          <a:noFill/>
        </p:spPr>
        <p:txBody>
          <a:bodyPr wrap="square" anchor="ctr">
            <a:spAutoFit/>
          </a:bodyPr>
          <a:lstStyle/>
          <a:p>
            <a:pPr algn="ctr"/>
            <a:r>
              <a:rPr sz="2600" b="1">
                <a:solidFill>
                  <a:srgbClr val="FFFFFF"/>
                </a:solidFill>
                <a:latin typeface="Calibri"/>
              </a:rPr>
              <a:t>P</a:t>
            </a:r>
          </a:p>
        </p:txBody>
      </p:sp>
      <p:sp>
        <p:nvSpPr>
          <p:cNvPr id="27" name="TextBox 26"/>
          <p:cNvSpPr txBox="1"/>
          <p:nvPr/>
        </p:nvSpPr>
        <p:spPr>
          <a:xfrm>
            <a:off x="1600200" y="5303520"/>
            <a:ext cx="2926080" cy="411480"/>
          </a:xfrm>
          <a:prstGeom prst="rect">
            <a:avLst/>
          </a:prstGeom>
          <a:noFill/>
        </p:spPr>
        <p:txBody>
          <a:bodyPr wrap="square" lIns="45720" tIns="18288" rIns="45720" bIns="18288" anchor="t">
            <a:spAutoFit/>
          </a:bodyPr>
          <a:lstStyle/>
          <a:p>
            <a:pPr algn="l"/>
            <a:r>
              <a:rPr sz="1800" b="1">
                <a:solidFill>
                  <a:srgbClr val="111827"/>
                </a:solidFill>
                <a:latin typeface="Calibri"/>
              </a:rPr>
              <a:t>Poe</a:t>
            </a:r>
          </a:p>
        </p:txBody>
      </p:sp>
      <p:sp>
        <p:nvSpPr>
          <p:cNvPr id="28" name="TextBox 27"/>
          <p:cNvSpPr txBox="1"/>
          <p:nvPr/>
        </p:nvSpPr>
        <p:spPr>
          <a:xfrm>
            <a:off x="1600200" y="5715000"/>
            <a:ext cx="2926080" cy="365760"/>
          </a:xfrm>
          <a:prstGeom prst="rect">
            <a:avLst/>
          </a:prstGeom>
          <a:noFill/>
        </p:spPr>
        <p:txBody>
          <a:bodyPr wrap="square" lIns="45720" tIns="18288" rIns="45720" bIns="18288" anchor="t">
            <a:spAutoFit/>
          </a:bodyPr>
          <a:lstStyle/>
          <a:p>
            <a:pPr algn="l"/>
            <a:r>
              <a:rPr sz="1200" b="1">
                <a:solidFill>
                  <a:srgbClr val="0D9488"/>
                </a:solidFill>
                <a:latin typeface="Calibri"/>
              </a:rPr>
              <a:t>Data Prep &amp; KPI Owner</a:t>
            </a:r>
          </a:p>
        </p:txBody>
      </p:sp>
      <p:sp>
        <p:nvSpPr>
          <p:cNvPr id="29" name="TextBox 28"/>
          <p:cNvSpPr txBox="1"/>
          <p:nvPr/>
        </p:nvSpPr>
        <p:spPr>
          <a:xfrm>
            <a:off x="4663440" y="5422392"/>
            <a:ext cx="7132320" cy="777240"/>
          </a:xfrm>
          <a:prstGeom prst="rect">
            <a:avLst/>
          </a:prstGeom>
          <a:noFill/>
        </p:spPr>
        <p:txBody>
          <a:bodyPr wrap="square" lIns="45720" tIns="18288" rIns="45720" bIns="18288" anchor="t">
            <a:spAutoFit/>
          </a:bodyPr>
          <a:lstStyle/>
          <a:p>
            <a:pPr algn="l"/>
            <a:r>
              <a:rPr sz="1300" b="0">
                <a:solidFill>
                  <a:srgbClr val="4B5563"/>
                </a:solidFill>
                <a:latin typeface="Calibri"/>
              </a:rPr>
              <a:t>Cross-checks aquaculture vs. capture aggregates. Owns Value of Seaweed ($/lb).</a:t>
            </a:r>
          </a:p>
        </p:txBody>
      </p:sp>
      <p:sp>
        <p:nvSpPr>
          <p:cNvPr id="30" name="TextBox 29"/>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a:solidFill>
                  <a:srgbClr val="4B5563"/>
                </a:solidFill>
                <a:latin typeface="Calibri"/>
              </a:rPr>
              <a:t>Seaweed Industry  ·  Capstone Mid-Term</a:t>
            </a:r>
          </a:p>
        </p:txBody>
      </p:sp>
      <p:sp>
        <p:nvSpPr>
          <p:cNvPr id="31" name="TextBox 30"/>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3 / 28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9144000" cy="320040"/>
          </a:xfrm>
          <a:prstGeom prst="rect">
            <a:avLst/>
          </a:prstGeom>
          <a:noFill/>
        </p:spPr>
        <p:txBody>
          <a:bodyPr wrap="square" lIns="45720" tIns="18288" rIns="45720" bIns="18288" anchor="t">
            <a:spAutoFit/>
          </a:bodyPr>
          <a:lstStyle/>
          <a:p>
            <a:pPr algn="l"/>
            <a:r>
              <a:rPr sz="1200" b="1">
                <a:solidFill>
                  <a:srgbClr val="0D9488"/>
                </a:solidFill>
                <a:latin typeface="Calibri"/>
              </a:rPr>
              <a:t>PROJECT OBJECTIVES</a:t>
            </a:r>
          </a:p>
        </p:txBody>
      </p:sp>
      <p:sp>
        <p:nvSpPr>
          <p:cNvPr id="4" name="TextBox 3"/>
          <p:cNvSpPr txBox="1"/>
          <p:nvPr/>
        </p:nvSpPr>
        <p:spPr>
          <a:xfrm>
            <a:off x="548640" y="594360"/>
            <a:ext cx="10972800" cy="640080"/>
          </a:xfrm>
          <a:prstGeom prst="rect">
            <a:avLst/>
          </a:prstGeom>
          <a:noFill/>
        </p:spPr>
        <p:txBody>
          <a:bodyPr wrap="square" lIns="45720" tIns="18288" rIns="45720" bIns="18288" anchor="t">
            <a:spAutoFit/>
          </a:bodyPr>
          <a:lstStyle/>
          <a:p>
            <a:pPr algn="l"/>
            <a:r>
              <a:rPr sz="3000" b="1">
                <a:solidFill>
                  <a:srgbClr val="111827"/>
                </a:solidFill>
                <a:latin typeface="Calibri"/>
              </a:rPr>
              <a:t>Five KPI lenses on global seaweed</a:t>
            </a:r>
          </a:p>
        </p:txBody>
      </p:sp>
      <p:sp>
        <p:nvSpPr>
          <p:cNvPr id="5" name="TextBox 4"/>
          <p:cNvSpPr txBox="1"/>
          <p:nvPr/>
        </p:nvSpPr>
        <p:spPr>
          <a:xfrm>
            <a:off x="548640" y="1417320"/>
            <a:ext cx="10972800" cy="267766"/>
          </a:xfrm>
          <a:prstGeom prst="rect">
            <a:avLst/>
          </a:prstGeom>
          <a:noFill/>
        </p:spPr>
        <p:txBody>
          <a:bodyPr wrap="square" lIns="45720" tIns="18288" rIns="45720" bIns="18288" anchor="t">
            <a:spAutoFit/>
          </a:bodyPr>
          <a:lstStyle/>
          <a:p>
            <a:pPr algn="l"/>
            <a:r>
              <a:rPr sz="1500" b="0" dirty="0">
                <a:solidFill>
                  <a:srgbClr val="4B5563"/>
                </a:solidFill>
                <a:latin typeface="Calibri"/>
              </a:rPr>
              <a:t>Our goal: explore the FAO seaweed data through five KPI </a:t>
            </a:r>
            <a:r>
              <a:rPr lang="en-CA" sz="1500" b="0" dirty="0">
                <a:solidFill>
                  <a:srgbClr val="4B5563"/>
                </a:solidFill>
                <a:latin typeface="Calibri"/>
              </a:rPr>
              <a:t>lenses and</a:t>
            </a:r>
            <a:r>
              <a:rPr sz="1500" b="0" dirty="0">
                <a:solidFill>
                  <a:srgbClr val="4B5563"/>
                </a:solidFill>
                <a:latin typeface="Calibri"/>
              </a:rPr>
              <a:t> make those views accessible to non-technical users.</a:t>
            </a:r>
          </a:p>
        </p:txBody>
      </p:sp>
      <p:sp>
        <p:nvSpPr>
          <p:cNvPr id="6" name="Rectangle 5"/>
          <p:cNvSpPr/>
          <p:nvPr/>
        </p:nvSpPr>
        <p:spPr>
          <a:xfrm>
            <a:off x="502920" y="2194560"/>
            <a:ext cx="2194560" cy="402336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2194560"/>
            <a:ext cx="2194560" cy="7315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377440"/>
            <a:ext cx="1920240" cy="457200"/>
          </a:xfrm>
          <a:prstGeom prst="rect">
            <a:avLst/>
          </a:prstGeom>
          <a:noFill/>
        </p:spPr>
        <p:txBody>
          <a:bodyPr wrap="square" lIns="45720" tIns="18288" rIns="45720" bIns="18288" anchor="t">
            <a:spAutoFit/>
          </a:bodyPr>
          <a:lstStyle/>
          <a:p>
            <a:pPr algn="l"/>
            <a:r>
              <a:rPr sz="1200" b="1">
                <a:solidFill>
                  <a:srgbClr val="0B6E66"/>
                </a:solidFill>
                <a:latin typeface="Calibri"/>
              </a:rPr>
              <a:t>KPI 1</a:t>
            </a:r>
          </a:p>
        </p:txBody>
      </p:sp>
      <p:sp>
        <p:nvSpPr>
          <p:cNvPr id="9" name="TextBox 8"/>
          <p:cNvSpPr txBox="1"/>
          <p:nvPr/>
        </p:nvSpPr>
        <p:spPr>
          <a:xfrm>
            <a:off x="640080" y="2834640"/>
            <a:ext cx="1920240" cy="1188720"/>
          </a:xfrm>
          <a:prstGeom prst="rect">
            <a:avLst/>
          </a:prstGeom>
          <a:noFill/>
        </p:spPr>
        <p:txBody>
          <a:bodyPr wrap="square" lIns="45720" tIns="18288" rIns="45720" bIns="18288" anchor="t">
            <a:spAutoFit/>
          </a:bodyPr>
          <a:lstStyle/>
          <a:p>
            <a:pPr algn="l"/>
            <a:r>
              <a:rPr sz="1500" b="1">
                <a:solidFill>
                  <a:srgbClr val="111827"/>
                </a:solidFill>
                <a:latin typeface="Calibri"/>
              </a:rPr>
              <a:t>Export Value of Seaweed Products</a:t>
            </a:r>
          </a:p>
        </p:txBody>
      </p:sp>
      <p:sp>
        <p:nvSpPr>
          <p:cNvPr id="10" name="TextBox 9"/>
          <p:cNvSpPr txBox="1"/>
          <p:nvPr/>
        </p:nvSpPr>
        <p:spPr>
          <a:xfrm>
            <a:off x="640080" y="4069079"/>
            <a:ext cx="1920240" cy="365760"/>
          </a:xfrm>
          <a:prstGeom prst="rect">
            <a:avLst/>
          </a:prstGeom>
          <a:noFill/>
        </p:spPr>
        <p:txBody>
          <a:bodyPr wrap="square" lIns="45720" tIns="18288" rIns="45720" bIns="18288" anchor="t">
            <a:spAutoFit/>
          </a:bodyPr>
          <a:lstStyle/>
          <a:p>
            <a:pPr algn="l"/>
            <a:r>
              <a:rPr sz="1100" b="1">
                <a:solidFill>
                  <a:srgbClr val="0B6E66"/>
                </a:solidFill>
                <a:latin typeface="Calibri"/>
              </a:rPr>
              <a:t>$ / year</a:t>
            </a:r>
          </a:p>
        </p:txBody>
      </p:sp>
      <p:sp>
        <p:nvSpPr>
          <p:cNvPr id="11" name="TextBox 10"/>
          <p:cNvSpPr txBox="1"/>
          <p:nvPr/>
        </p:nvSpPr>
        <p:spPr>
          <a:xfrm>
            <a:off x="640080" y="4526280"/>
            <a:ext cx="1920240" cy="1645920"/>
          </a:xfrm>
          <a:prstGeom prst="rect">
            <a:avLst/>
          </a:prstGeom>
          <a:noFill/>
        </p:spPr>
        <p:txBody>
          <a:bodyPr wrap="square" lIns="45720" tIns="18288" rIns="45720" bIns="18288" anchor="t">
            <a:spAutoFit/>
          </a:bodyPr>
          <a:lstStyle/>
          <a:p>
            <a:pPr algn="l"/>
            <a:r>
              <a:rPr sz="1200" b="0">
                <a:solidFill>
                  <a:srgbClr val="4B5563"/>
                </a:solidFill>
                <a:latin typeface="Calibri"/>
              </a:rPr>
              <a:t>How much economic value flows out of producing nations each year.</a:t>
            </a:r>
          </a:p>
        </p:txBody>
      </p:sp>
      <p:sp>
        <p:nvSpPr>
          <p:cNvPr id="12" name="Rectangle 11"/>
          <p:cNvSpPr/>
          <p:nvPr/>
        </p:nvSpPr>
        <p:spPr>
          <a:xfrm>
            <a:off x="2788920" y="2194560"/>
            <a:ext cx="2194560" cy="402336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788920" y="2194560"/>
            <a:ext cx="2194560" cy="7315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26080" y="2377440"/>
            <a:ext cx="1920240" cy="457200"/>
          </a:xfrm>
          <a:prstGeom prst="rect">
            <a:avLst/>
          </a:prstGeom>
          <a:noFill/>
        </p:spPr>
        <p:txBody>
          <a:bodyPr wrap="square" lIns="45720" tIns="18288" rIns="45720" bIns="18288" anchor="t">
            <a:spAutoFit/>
          </a:bodyPr>
          <a:lstStyle/>
          <a:p>
            <a:pPr algn="l"/>
            <a:r>
              <a:rPr sz="1200" b="1">
                <a:solidFill>
                  <a:srgbClr val="0B6E66"/>
                </a:solidFill>
                <a:latin typeface="Calibri"/>
              </a:rPr>
              <a:t>KPI 2</a:t>
            </a:r>
          </a:p>
        </p:txBody>
      </p:sp>
      <p:sp>
        <p:nvSpPr>
          <p:cNvPr id="15" name="TextBox 14"/>
          <p:cNvSpPr txBox="1"/>
          <p:nvPr/>
        </p:nvSpPr>
        <p:spPr>
          <a:xfrm>
            <a:off x="2926080" y="2834640"/>
            <a:ext cx="1920240" cy="1188720"/>
          </a:xfrm>
          <a:prstGeom prst="rect">
            <a:avLst/>
          </a:prstGeom>
          <a:noFill/>
        </p:spPr>
        <p:txBody>
          <a:bodyPr wrap="square" lIns="45720" tIns="18288" rIns="45720" bIns="18288" anchor="t">
            <a:spAutoFit/>
          </a:bodyPr>
          <a:lstStyle/>
          <a:p>
            <a:pPr algn="l"/>
            <a:r>
              <a:rPr sz="1500" b="1">
                <a:solidFill>
                  <a:srgbClr val="111827"/>
                </a:solidFill>
                <a:latin typeface="Calibri"/>
              </a:rPr>
              <a:t>Gross Value of Industry Output</a:t>
            </a:r>
          </a:p>
        </p:txBody>
      </p:sp>
      <p:sp>
        <p:nvSpPr>
          <p:cNvPr id="16" name="TextBox 15"/>
          <p:cNvSpPr txBox="1"/>
          <p:nvPr/>
        </p:nvSpPr>
        <p:spPr>
          <a:xfrm>
            <a:off x="2926080" y="4069079"/>
            <a:ext cx="1920240" cy="365760"/>
          </a:xfrm>
          <a:prstGeom prst="rect">
            <a:avLst/>
          </a:prstGeom>
          <a:noFill/>
        </p:spPr>
        <p:txBody>
          <a:bodyPr wrap="square" lIns="45720" tIns="18288" rIns="45720" bIns="18288" anchor="t">
            <a:spAutoFit/>
          </a:bodyPr>
          <a:lstStyle/>
          <a:p>
            <a:pPr algn="l"/>
            <a:r>
              <a:rPr sz="1100" b="1">
                <a:solidFill>
                  <a:srgbClr val="0B6E66"/>
                </a:solidFill>
                <a:latin typeface="Calibri"/>
              </a:rPr>
              <a:t>$ / year</a:t>
            </a:r>
          </a:p>
        </p:txBody>
      </p:sp>
      <p:sp>
        <p:nvSpPr>
          <p:cNvPr id="17" name="TextBox 16"/>
          <p:cNvSpPr txBox="1"/>
          <p:nvPr/>
        </p:nvSpPr>
        <p:spPr>
          <a:xfrm>
            <a:off x="2926080" y="4526280"/>
            <a:ext cx="1920240" cy="590931"/>
          </a:xfrm>
          <a:prstGeom prst="rect">
            <a:avLst/>
          </a:prstGeom>
          <a:noFill/>
        </p:spPr>
        <p:txBody>
          <a:bodyPr wrap="square" lIns="45720" tIns="18288" rIns="45720" bIns="18288" anchor="t">
            <a:spAutoFit/>
          </a:bodyPr>
          <a:lstStyle/>
          <a:p>
            <a:pPr algn="l"/>
            <a:r>
              <a:rPr sz="1200" b="0" dirty="0">
                <a:solidFill>
                  <a:srgbClr val="4B5563"/>
                </a:solidFill>
                <a:latin typeface="Calibri"/>
              </a:rPr>
              <a:t>Total value generated by the sector</a:t>
            </a:r>
            <a:r>
              <a:rPr lang="en-US" sz="1200" b="0" dirty="0">
                <a:solidFill>
                  <a:srgbClr val="4B5563"/>
                </a:solidFill>
                <a:latin typeface="Calibri"/>
              </a:rPr>
              <a:t>: </a:t>
            </a:r>
            <a:r>
              <a:rPr sz="1200" b="0" dirty="0">
                <a:solidFill>
                  <a:srgbClr val="4B5563"/>
                </a:solidFill>
                <a:latin typeface="Calibri"/>
              </a:rPr>
              <a:t>aquaculture + capture combined.</a:t>
            </a:r>
          </a:p>
        </p:txBody>
      </p:sp>
      <p:sp>
        <p:nvSpPr>
          <p:cNvPr id="18" name="Rectangle 17"/>
          <p:cNvSpPr/>
          <p:nvPr/>
        </p:nvSpPr>
        <p:spPr>
          <a:xfrm>
            <a:off x="5074920" y="2194560"/>
            <a:ext cx="2194560" cy="402336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074920" y="2194560"/>
            <a:ext cx="2194560" cy="7315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212080" y="2377440"/>
            <a:ext cx="1920240" cy="457200"/>
          </a:xfrm>
          <a:prstGeom prst="rect">
            <a:avLst/>
          </a:prstGeom>
          <a:noFill/>
        </p:spPr>
        <p:txBody>
          <a:bodyPr wrap="square" lIns="45720" tIns="18288" rIns="45720" bIns="18288" anchor="t">
            <a:spAutoFit/>
          </a:bodyPr>
          <a:lstStyle/>
          <a:p>
            <a:pPr algn="l"/>
            <a:r>
              <a:rPr sz="1200" b="1">
                <a:solidFill>
                  <a:srgbClr val="0B6E66"/>
                </a:solidFill>
                <a:latin typeface="Calibri"/>
              </a:rPr>
              <a:t>KPI 3</a:t>
            </a:r>
          </a:p>
        </p:txBody>
      </p:sp>
      <p:sp>
        <p:nvSpPr>
          <p:cNvPr id="21" name="TextBox 20"/>
          <p:cNvSpPr txBox="1"/>
          <p:nvPr/>
        </p:nvSpPr>
        <p:spPr>
          <a:xfrm>
            <a:off x="5212080" y="2834640"/>
            <a:ext cx="1920240" cy="1188720"/>
          </a:xfrm>
          <a:prstGeom prst="rect">
            <a:avLst/>
          </a:prstGeom>
          <a:noFill/>
        </p:spPr>
        <p:txBody>
          <a:bodyPr wrap="square" lIns="45720" tIns="18288" rIns="45720" bIns="18288" anchor="t">
            <a:spAutoFit/>
          </a:bodyPr>
          <a:lstStyle/>
          <a:p>
            <a:pPr algn="l"/>
            <a:r>
              <a:rPr sz="1500" b="1">
                <a:solidFill>
                  <a:srgbClr val="111827"/>
                </a:solidFill>
                <a:latin typeface="Calibri"/>
              </a:rPr>
              <a:t>Value of Seaweed</a:t>
            </a:r>
          </a:p>
        </p:txBody>
      </p:sp>
      <p:sp>
        <p:nvSpPr>
          <p:cNvPr id="22" name="TextBox 21"/>
          <p:cNvSpPr txBox="1"/>
          <p:nvPr/>
        </p:nvSpPr>
        <p:spPr>
          <a:xfrm>
            <a:off x="5212080" y="4069079"/>
            <a:ext cx="1920240" cy="365760"/>
          </a:xfrm>
          <a:prstGeom prst="rect">
            <a:avLst/>
          </a:prstGeom>
          <a:noFill/>
        </p:spPr>
        <p:txBody>
          <a:bodyPr wrap="square" lIns="45720" tIns="18288" rIns="45720" bIns="18288" anchor="t">
            <a:spAutoFit/>
          </a:bodyPr>
          <a:lstStyle/>
          <a:p>
            <a:pPr algn="l"/>
            <a:r>
              <a:rPr sz="1100" b="1">
                <a:solidFill>
                  <a:srgbClr val="0B6E66"/>
                </a:solidFill>
                <a:latin typeface="Calibri"/>
              </a:rPr>
              <a:t>$ / lb</a:t>
            </a:r>
          </a:p>
        </p:txBody>
      </p:sp>
      <p:sp>
        <p:nvSpPr>
          <p:cNvPr id="23" name="TextBox 22"/>
          <p:cNvSpPr txBox="1"/>
          <p:nvPr/>
        </p:nvSpPr>
        <p:spPr>
          <a:xfrm>
            <a:off x="5212080" y="4526280"/>
            <a:ext cx="1920240" cy="406265"/>
          </a:xfrm>
          <a:prstGeom prst="rect">
            <a:avLst/>
          </a:prstGeom>
          <a:noFill/>
        </p:spPr>
        <p:txBody>
          <a:bodyPr wrap="square" lIns="45720" tIns="18288" rIns="45720" bIns="18288" anchor="t">
            <a:spAutoFit/>
          </a:bodyPr>
          <a:lstStyle/>
          <a:p>
            <a:pPr algn="l"/>
            <a:r>
              <a:rPr sz="1200" b="0" dirty="0">
                <a:solidFill>
                  <a:srgbClr val="4B5563"/>
                </a:solidFill>
                <a:latin typeface="Calibri"/>
              </a:rPr>
              <a:t>Unit economics what's a pound of seaweed </a:t>
            </a:r>
            <a:r>
              <a:rPr lang="en-CA" sz="1200" b="0" dirty="0">
                <a:solidFill>
                  <a:srgbClr val="4B5563"/>
                </a:solidFill>
                <a:latin typeface="Calibri"/>
              </a:rPr>
              <a:t>worth</a:t>
            </a:r>
            <a:r>
              <a:rPr sz="1200" b="0" dirty="0">
                <a:solidFill>
                  <a:srgbClr val="4B5563"/>
                </a:solidFill>
                <a:latin typeface="Calibri"/>
              </a:rPr>
              <a:t>?</a:t>
            </a:r>
          </a:p>
        </p:txBody>
      </p:sp>
      <p:sp>
        <p:nvSpPr>
          <p:cNvPr id="24" name="Rectangle 23"/>
          <p:cNvSpPr/>
          <p:nvPr/>
        </p:nvSpPr>
        <p:spPr>
          <a:xfrm>
            <a:off x="7360920" y="2194560"/>
            <a:ext cx="2194560" cy="402336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60920" y="2194560"/>
            <a:ext cx="2194560" cy="7315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498080" y="2377440"/>
            <a:ext cx="1920240" cy="457200"/>
          </a:xfrm>
          <a:prstGeom prst="rect">
            <a:avLst/>
          </a:prstGeom>
          <a:noFill/>
        </p:spPr>
        <p:txBody>
          <a:bodyPr wrap="square" lIns="45720" tIns="18288" rIns="45720" bIns="18288" anchor="t">
            <a:spAutoFit/>
          </a:bodyPr>
          <a:lstStyle/>
          <a:p>
            <a:pPr algn="l"/>
            <a:r>
              <a:rPr sz="1200" b="1">
                <a:solidFill>
                  <a:srgbClr val="0B6E66"/>
                </a:solidFill>
                <a:latin typeface="Calibri"/>
              </a:rPr>
              <a:t>KPI 4</a:t>
            </a:r>
          </a:p>
        </p:txBody>
      </p:sp>
      <p:sp>
        <p:nvSpPr>
          <p:cNvPr id="27" name="TextBox 26"/>
          <p:cNvSpPr txBox="1"/>
          <p:nvPr/>
        </p:nvSpPr>
        <p:spPr>
          <a:xfrm>
            <a:off x="7498080" y="2834640"/>
            <a:ext cx="1920240" cy="1188720"/>
          </a:xfrm>
          <a:prstGeom prst="rect">
            <a:avLst/>
          </a:prstGeom>
          <a:noFill/>
        </p:spPr>
        <p:txBody>
          <a:bodyPr wrap="square" lIns="45720" tIns="18288" rIns="45720" bIns="18288" anchor="t">
            <a:spAutoFit/>
          </a:bodyPr>
          <a:lstStyle/>
          <a:p>
            <a:pPr algn="l"/>
            <a:r>
              <a:rPr sz="1500" b="1">
                <a:solidFill>
                  <a:srgbClr val="111827"/>
                </a:solidFill>
                <a:latin typeface="Calibri"/>
              </a:rPr>
              <a:t>Price per Wet Tonne</a:t>
            </a:r>
          </a:p>
        </p:txBody>
      </p:sp>
      <p:sp>
        <p:nvSpPr>
          <p:cNvPr id="28" name="TextBox 27"/>
          <p:cNvSpPr txBox="1"/>
          <p:nvPr/>
        </p:nvSpPr>
        <p:spPr>
          <a:xfrm>
            <a:off x="7498080" y="4069079"/>
            <a:ext cx="1920240" cy="365760"/>
          </a:xfrm>
          <a:prstGeom prst="rect">
            <a:avLst/>
          </a:prstGeom>
          <a:noFill/>
        </p:spPr>
        <p:txBody>
          <a:bodyPr wrap="square" lIns="45720" tIns="18288" rIns="45720" bIns="18288" anchor="t">
            <a:spAutoFit/>
          </a:bodyPr>
          <a:lstStyle/>
          <a:p>
            <a:pPr algn="l"/>
            <a:r>
              <a:rPr sz="1100" b="1" dirty="0">
                <a:solidFill>
                  <a:srgbClr val="0B6E66"/>
                </a:solidFill>
                <a:latin typeface="Calibri"/>
              </a:rPr>
              <a:t>$ / </a:t>
            </a:r>
            <a:r>
              <a:rPr sz="1100" b="1" dirty="0" err="1">
                <a:solidFill>
                  <a:srgbClr val="0B6E66"/>
                </a:solidFill>
                <a:latin typeface="Calibri"/>
              </a:rPr>
              <a:t>tonne</a:t>
            </a:r>
            <a:r>
              <a:rPr sz="1100" b="1" dirty="0">
                <a:solidFill>
                  <a:srgbClr val="0B6E66"/>
                </a:solidFill>
                <a:latin typeface="Calibri"/>
              </a:rPr>
              <a:t> · by species &amp; end-use</a:t>
            </a:r>
          </a:p>
        </p:txBody>
      </p:sp>
      <p:sp>
        <p:nvSpPr>
          <p:cNvPr id="29" name="TextBox 28"/>
          <p:cNvSpPr txBox="1"/>
          <p:nvPr/>
        </p:nvSpPr>
        <p:spPr>
          <a:xfrm>
            <a:off x="7498080" y="4526280"/>
            <a:ext cx="1920240" cy="1645920"/>
          </a:xfrm>
          <a:prstGeom prst="rect">
            <a:avLst/>
          </a:prstGeom>
          <a:noFill/>
        </p:spPr>
        <p:txBody>
          <a:bodyPr wrap="square" lIns="45720" tIns="18288" rIns="45720" bIns="18288" anchor="t">
            <a:spAutoFit/>
          </a:bodyPr>
          <a:lstStyle/>
          <a:p>
            <a:pPr algn="l"/>
            <a:r>
              <a:rPr sz="1200" b="0">
                <a:solidFill>
                  <a:srgbClr val="4B5563"/>
                </a:solidFill>
                <a:latin typeface="Calibri"/>
              </a:rPr>
              <a:t>How pricing varies across species and how the product is used.</a:t>
            </a:r>
          </a:p>
        </p:txBody>
      </p:sp>
      <p:sp>
        <p:nvSpPr>
          <p:cNvPr id="30" name="Rectangle 29"/>
          <p:cNvSpPr/>
          <p:nvPr/>
        </p:nvSpPr>
        <p:spPr>
          <a:xfrm>
            <a:off x="9646920" y="2194560"/>
            <a:ext cx="2194560" cy="402336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646920" y="2194560"/>
            <a:ext cx="2194560" cy="7315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784080" y="2377440"/>
            <a:ext cx="1920240" cy="457200"/>
          </a:xfrm>
          <a:prstGeom prst="rect">
            <a:avLst/>
          </a:prstGeom>
          <a:noFill/>
        </p:spPr>
        <p:txBody>
          <a:bodyPr wrap="square" lIns="45720" tIns="18288" rIns="45720" bIns="18288" anchor="t">
            <a:spAutoFit/>
          </a:bodyPr>
          <a:lstStyle/>
          <a:p>
            <a:pPr algn="l"/>
            <a:r>
              <a:rPr sz="1200" b="1">
                <a:solidFill>
                  <a:srgbClr val="0B6E66"/>
                </a:solidFill>
                <a:latin typeface="Calibri"/>
              </a:rPr>
              <a:t>KPI 5</a:t>
            </a:r>
          </a:p>
        </p:txBody>
      </p:sp>
      <p:sp>
        <p:nvSpPr>
          <p:cNvPr id="33" name="TextBox 32"/>
          <p:cNvSpPr txBox="1"/>
          <p:nvPr/>
        </p:nvSpPr>
        <p:spPr>
          <a:xfrm>
            <a:off x="9784080" y="2834640"/>
            <a:ext cx="1920240" cy="1188720"/>
          </a:xfrm>
          <a:prstGeom prst="rect">
            <a:avLst/>
          </a:prstGeom>
          <a:noFill/>
        </p:spPr>
        <p:txBody>
          <a:bodyPr wrap="square" lIns="45720" tIns="18288" rIns="45720" bIns="18288" anchor="t">
            <a:spAutoFit/>
          </a:bodyPr>
          <a:lstStyle/>
          <a:p>
            <a:pPr algn="l"/>
            <a:r>
              <a:rPr sz="1500" b="1">
                <a:solidFill>
                  <a:srgbClr val="111827"/>
                </a:solidFill>
                <a:latin typeface="Calibri"/>
              </a:rPr>
              <a:t>Wet vs. Processed Kelp Demand</a:t>
            </a:r>
          </a:p>
        </p:txBody>
      </p:sp>
      <p:sp>
        <p:nvSpPr>
          <p:cNvPr id="34" name="TextBox 33"/>
          <p:cNvSpPr txBox="1"/>
          <p:nvPr/>
        </p:nvSpPr>
        <p:spPr>
          <a:xfrm>
            <a:off x="9784080" y="4069079"/>
            <a:ext cx="1920240" cy="365760"/>
          </a:xfrm>
          <a:prstGeom prst="rect">
            <a:avLst/>
          </a:prstGeom>
          <a:noFill/>
        </p:spPr>
        <p:txBody>
          <a:bodyPr wrap="square" lIns="45720" tIns="18288" rIns="45720" bIns="18288" anchor="t">
            <a:spAutoFit/>
          </a:bodyPr>
          <a:lstStyle/>
          <a:p>
            <a:pPr algn="l"/>
            <a:r>
              <a:rPr sz="1100" b="1">
                <a:solidFill>
                  <a:srgbClr val="0B6E66"/>
                </a:solidFill>
                <a:latin typeface="Calibri"/>
              </a:rPr>
              <a:t>tonnes</a:t>
            </a:r>
          </a:p>
        </p:txBody>
      </p:sp>
      <p:sp>
        <p:nvSpPr>
          <p:cNvPr id="35" name="TextBox 34"/>
          <p:cNvSpPr txBox="1"/>
          <p:nvPr/>
        </p:nvSpPr>
        <p:spPr>
          <a:xfrm>
            <a:off x="9784080" y="4526280"/>
            <a:ext cx="1920240" cy="1645920"/>
          </a:xfrm>
          <a:prstGeom prst="rect">
            <a:avLst/>
          </a:prstGeom>
          <a:noFill/>
        </p:spPr>
        <p:txBody>
          <a:bodyPr wrap="square" lIns="45720" tIns="18288" rIns="45720" bIns="18288" anchor="t">
            <a:spAutoFit/>
          </a:bodyPr>
          <a:lstStyle/>
          <a:p>
            <a:pPr algn="l"/>
            <a:r>
              <a:rPr sz="1200" b="0">
                <a:solidFill>
                  <a:srgbClr val="4B5563"/>
                </a:solidFill>
                <a:latin typeface="Calibri"/>
              </a:rPr>
              <a:t>Demand split between raw wet kelp and processed forms.</a:t>
            </a:r>
          </a:p>
        </p:txBody>
      </p:sp>
      <p:sp>
        <p:nvSpPr>
          <p:cNvPr id="36" name="TextBox 35"/>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a:solidFill>
                  <a:srgbClr val="4B5563"/>
                </a:solidFill>
                <a:latin typeface="Calibri"/>
              </a:rPr>
              <a:t>Seaweed Industry  ·  Capstone Mid-Term</a:t>
            </a:r>
          </a:p>
        </p:txBody>
      </p:sp>
      <p:sp>
        <p:nvSpPr>
          <p:cNvPr id="37" name="TextBox 36"/>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4 / 28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9144000" cy="320040"/>
          </a:xfrm>
          <a:prstGeom prst="rect">
            <a:avLst/>
          </a:prstGeom>
          <a:noFill/>
        </p:spPr>
        <p:txBody>
          <a:bodyPr wrap="square" lIns="45720" tIns="18288" rIns="45720" bIns="18288" anchor="t">
            <a:spAutoFit/>
          </a:bodyPr>
          <a:lstStyle/>
          <a:p>
            <a:pPr algn="l"/>
            <a:r>
              <a:rPr sz="1200" b="1">
                <a:solidFill>
                  <a:srgbClr val="0D9488"/>
                </a:solidFill>
                <a:latin typeface="Calibri"/>
              </a:rPr>
              <a:t>DATA SOURCES</a:t>
            </a:r>
          </a:p>
        </p:txBody>
      </p:sp>
      <p:sp>
        <p:nvSpPr>
          <p:cNvPr id="4" name="TextBox 3"/>
          <p:cNvSpPr txBox="1"/>
          <p:nvPr/>
        </p:nvSpPr>
        <p:spPr>
          <a:xfrm>
            <a:off x="548640" y="594360"/>
            <a:ext cx="10972800" cy="640080"/>
          </a:xfrm>
          <a:prstGeom prst="rect">
            <a:avLst/>
          </a:prstGeom>
          <a:noFill/>
        </p:spPr>
        <p:txBody>
          <a:bodyPr wrap="square" lIns="45720" tIns="18288" rIns="45720" bIns="18288" anchor="t">
            <a:spAutoFit/>
          </a:bodyPr>
          <a:lstStyle/>
          <a:p>
            <a:pPr algn="l"/>
            <a:r>
              <a:rPr sz="3000" b="1">
                <a:solidFill>
                  <a:srgbClr val="111827"/>
                </a:solidFill>
                <a:latin typeface="Calibri"/>
              </a:rPr>
              <a:t>Four FAO tables, loaded into an in-memory database</a:t>
            </a:r>
          </a:p>
        </p:txBody>
      </p:sp>
      <p:sp>
        <p:nvSpPr>
          <p:cNvPr id="5" name="TextBox 4"/>
          <p:cNvSpPr txBox="1"/>
          <p:nvPr/>
        </p:nvSpPr>
        <p:spPr>
          <a:xfrm>
            <a:off x="548640" y="1417320"/>
            <a:ext cx="10972800" cy="548640"/>
          </a:xfrm>
          <a:prstGeom prst="rect">
            <a:avLst/>
          </a:prstGeom>
          <a:noFill/>
        </p:spPr>
        <p:txBody>
          <a:bodyPr wrap="square" lIns="45720" tIns="18288" rIns="45720" bIns="18288" anchor="t">
            <a:spAutoFit/>
          </a:bodyPr>
          <a:lstStyle/>
          <a:p>
            <a:pPr algn="l"/>
            <a:r>
              <a:rPr sz="1500" b="0">
                <a:solidFill>
                  <a:srgbClr val="4B5563"/>
                </a:solidFill>
                <a:latin typeface="Calibri"/>
              </a:rPr>
              <a:t>At app startup the backend loads four FAO CSV files into DuckDB. No external database — fast, simple, reproducible.</a:t>
            </a:r>
          </a:p>
        </p:txBody>
      </p:sp>
      <p:sp>
        <p:nvSpPr>
          <p:cNvPr id="6" name="Rectangle 5"/>
          <p:cNvSpPr/>
          <p:nvPr/>
        </p:nvSpPr>
        <p:spPr>
          <a:xfrm>
            <a:off x="548640" y="2286000"/>
            <a:ext cx="7772400" cy="685800"/>
          </a:xfrm>
          <a:prstGeom prst="rect">
            <a:avLst/>
          </a:prstGeom>
          <a:solidFill>
            <a:srgbClr val="FFFFFF"/>
          </a:solidFill>
          <a:ln>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395728"/>
            <a:ext cx="4114800" cy="502920"/>
          </a:xfrm>
          <a:prstGeom prst="rect">
            <a:avLst/>
          </a:prstGeom>
          <a:noFill/>
        </p:spPr>
        <p:txBody>
          <a:bodyPr wrap="square" lIns="45720" tIns="18288" rIns="45720" bIns="18288" anchor="t">
            <a:spAutoFit/>
          </a:bodyPr>
          <a:lstStyle/>
          <a:p>
            <a:pPr algn="l"/>
            <a:r>
              <a:rPr sz="1600" b="1">
                <a:solidFill>
                  <a:srgbClr val="0B6E66"/>
                </a:solidFill>
                <a:latin typeface="Consolas"/>
              </a:rPr>
              <a:t>seaweed_aquaculture_quantity</a:t>
            </a:r>
          </a:p>
        </p:txBody>
      </p:sp>
      <p:sp>
        <p:nvSpPr>
          <p:cNvPr id="8" name="TextBox 7"/>
          <p:cNvSpPr txBox="1"/>
          <p:nvPr/>
        </p:nvSpPr>
        <p:spPr>
          <a:xfrm>
            <a:off x="4572000" y="2423160"/>
            <a:ext cx="3657600" cy="457200"/>
          </a:xfrm>
          <a:prstGeom prst="rect">
            <a:avLst/>
          </a:prstGeom>
          <a:noFill/>
        </p:spPr>
        <p:txBody>
          <a:bodyPr wrap="square" lIns="45720" tIns="18288" rIns="45720" bIns="18288" anchor="t">
            <a:spAutoFit/>
          </a:bodyPr>
          <a:lstStyle/>
          <a:p>
            <a:pPr algn="l"/>
            <a:r>
              <a:rPr sz="1400" b="0">
                <a:solidFill>
                  <a:srgbClr val="4B5563"/>
                </a:solidFill>
                <a:latin typeface="Calibri"/>
              </a:rPr>
              <a:t>Farming quantity (tonnes)</a:t>
            </a:r>
          </a:p>
        </p:txBody>
      </p:sp>
      <p:sp>
        <p:nvSpPr>
          <p:cNvPr id="9" name="Rectangle 8"/>
          <p:cNvSpPr/>
          <p:nvPr/>
        </p:nvSpPr>
        <p:spPr>
          <a:xfrm>
            <a:off x="548640" y="3063240"/>
            <a:ext cx="7772400" cy="685800"/>
          </a:xfrm>
          <a:prstGeom prst="rect">
            <a:avLst/>
          </a:prstGeom>
          <a:solidFill>
            <a:srgbClr val="FFFFFF"/>
          </a:solidFill>
          <a:ln>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3172968"/>
            <a:ext cx="4114800" cy="502920"/>
          </a:xfrm>
          <a:prstGeom prst="rect">
            <a:avLst/>
          </a:prstGeom>
          <a:noFill/>
        </p:spPr>
        <p:txBody>
          <a:bodyPr wrap="square" lIns="45720" tIns="18288" rIns="45720" bIns="18288" anchor="t">
            <a:spAutoFit/>
          </a:bodyPr>
          <a:lstStyle/>
          <a:p>
            <a:pPr algn="l"/>
            <a:r>
              <a:rPr sz="1600" b="1">
                <a:solidFill>
                  <a:srgbClr val="0B6E66"/>
                </a:solidFill>
                <a:latin typeface="Consolas"/>
              </a:rPr>
              <a:t>seaweed_aquaculture_value</a:t>
            </a:r>
          </a:p>
        </p:txBody>
      </p:sp>
      <p:sp>
        <p:nvSpPr>
          <p:cNvPr id="11" name="TextBox 10"/>
          <p:cNvSpPr txBox="1"/>
          <p:nvPr/>
        </p:nvSpPr>
        <p:spPr>
          <a:xfrm>
            <a:off x="4572000" y="3200400"/>
            <a:ext cx="3657600" cy="457200"/>
          </a:xfrm>
          <a:prstGeom prst="rect">
            <a:avLst/>
          </a:prstGeom>
          <a:noFill/>
        </p:spPr>
        <p:txBody>
          <a:bodyPr wrap="square" lIns="45720" tIns="18288" rIns="45720" bIns="18288" anchor="t">
            <a:spAutoFit/>
          </a:bodyPr>
          <a:lstStyle/>
          <a:p>
            <a:pPr algn="l"/>
            <a:r>
              <a:rPr sz="1400" b="0">
                <a:solidFill>
                  <a:srgbClr val="4B5563"/>
                </a:solidFill>
                <a:latin typeface="Calibri"/>
              </a:rPr>
              <a:t>Farming value (USD)</a:t>
            </a:r>
          </a:p>
        </p:txBody>
      </p:sp>
      <p:sp>
        <p:nvSpPr>
          <p:cNvPr id="12" name="Rectangle 11"/>
          <p:cNvSpPr/>
          <p:nvPr/>
        </p:nvSpPr>
        <p:spPr>
          <a:xfrm>
            <a:off x="548640" y="3840480"/>
            <a:ext cx="7772400" cy="685800"/>
          </a:xfrm>
          <a:prstGeom prst="rect">
            <a:avLst/>
          </a:prstGeom>
          <a:solidFill>
            <a:srgbClr val="FFFFFF"/>
          </a:solidFill>
          <a:ln>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950208"/>
            <a:ext cx="4114800" cy="502920"/>
          </a:xfrm>
          <a:prstGeom prst="rect">
            <a:avLst/>
          </a:prstGeom>
          <a:noFill/>
        </p:spPr>
        <p:txBody>
          <a:bodyPr wrap="square" lIns="45720" tIns="18288" rIns="45720" bIns="18288" anchor="t">
            <a:spAutoFit/>
          </a:bodyPr>
          <a:lstStyle/>
          <a:p>
            <a:pPr algn="l"/>
            <a:r>
              <a:rPr sz="1600" b="1">
                <a:solidFill>
                  <a:srgbClr val="0B6E66"/>
                </a:solidFill>
                <a:latin typeface="Consolas"/>
              </a:rPr>
              <a:t>seaweed_capture_quantity</a:t>
            </a:r>
          </a:p>
        </p:txBody>
      </p:sp>
      <p:sp>
        <p:nvSpPr>
          <p:cNvPr id="14" name="TextBox 13"/>
          <p:cNvSpPr txBox="1"/>
          <p:nvPr/>
        </p:nvSpPr>
        <p:spPr>
          <a:xfrm>
            <a:off x="4572000" y="3977640"/>
            <a:ext cx="3657600" cy="457200"/>
          </a:xfrm>
          <a:prstGeom prst="rect">
            <a:avLst/>
          </a:prstGeom>
          <a:noFill/>
        </p:spPr>
        <p:txBody>
          <a:bodyPr wrap="square" lIns="45720" tIns="18288" rIns="45720" bIns="18288" anchor="t">
            <a:spAutoFit/>
          </a:bodyPr>
          <a:lstStyle/>
          <a:p>
            <a:pPr algn="l"/>
            <a:r>
              <a:rPr sz="1400" b="0">
                <a:solidFill>
                  <a:srgbClr val="4B5563"/>
                </a:solidFill>
                <a:latin typeface="Calibri"/>
              </a:rPr>
              <a:t>Wild capture quantity (tonnes)</a:t>
            </a:r>
          </a:p>
        </p:txBody>
      </p:sp>
      <p:sp>
        <p:nvSpPr>
          <p:cNvPr id="15" name="Rectangle 14"/>
          <p:cNvSpPr/>
          <p:nvPr/>
        </p:nvSpPr>
        <p:spPr>
          <a:xfrm>
            <a:off x="548640" y="4617720"/>
            <a:ext cx="7772400" cy="685800"/>
          </a:xfrm>
          <a:prstGeom prst="rect">
            <a:avLst/>
          </a:prstGeom>
          <a:solidFill>
            <a:srgbClr val="FFFFFF"/>
          </a:solidFill>
          <a:ln>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4727448"/>
            <a:ext cx="4114800" cy="502920"/>
          </a:xfrm>
          <a:prstGeom prst="rect">
            <a:avLst/>
          </a:prstGeom>
          <a:noFill/>
        </p:spPr>
        <p:txBody>
          <a:bodyPr wrap="square" lIns="45720" tIns="18288" rIns="45720" bIns="18288" anchor="t">
            <a:spAutoFit/>
          </a:bodyPr>
          <a:lstStyle/>
          <a:p>
            <a:pPr algn="l"/>
            <a:r>
              <a:rPr sz="1600" b="1">
                <a:solidFill>
                  <a:srgbClr val="0B6E66"/>
                </a:solidFill>
                <a:latin typeface="Consolas"/>
              </a:rPr>
              <a:t>seaweed_global_production</a:t>
            </a:r>
          </a:p>
        </p:txBody>
      </p:sp>
      <p:sp>
        <p:nvSpPr>
          <p:cNvPr id="17" name="TextBox 16"/>
          <p:cNvSpPr txBox="1"/>
          <p:nvPr/>
        </p:nvSpPr>
        <p:spPr>
          <a:xfrm>
            <a:off x="4572000" y="4754880"/>
            <a:ext cx="3657600" cy="457200"/>
          </a:xfrm>
          <a:prstGeom prst="rect">
            <a:avLst/>
          </a:prstGeom>
          <a:noFill/>
        </p:spPr>
        <p:txBody>
          <a:bodyPr wrap="square" lIns="45720" tIns="18288" rIns="45720" bIns="18288" anchor="t">
            <a:spAutoFit/>
          </a:bodyPr>
          <a:lstStyle/>
          <a:p>
            <a:pPr algn="l"/>
            <a:r>
              <a:rPr sz="1400" b="0">
                <a:solidFill>
                  <a:srgbClr val="4B5563"/>
                </a:solidFill>
                <a:latin typeface="Calibri"/>
              </a:rPr>
              <a:t>Combined production (tonnes)</a:t>
            </a:r>
          </a:p>
        </p:txBody>
      </p:sp>
      <p:sp>
        <p:nvSpPr>
          <p:cNvPr id="18" name="Rectangle 17"/>
          <p:cNvSpPr/>
          <p:nvPr/>
        </p:nvSpPr>
        <p:spPr>
          <a:xfrm>
            <a:off x="8595360" y="2286000"/>
            <a:ext cx="3108960" cy="310896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732520" y="2423160"/>
            <a:ext cx="2834640" cy="457200"/>
          </a:xfrm>
          <a:prstGeom prst="rect">
            <a:avLst/>
          </a:prstGeom>
          <a:noFill/>
        </p:spPr>
        <p:txBody>
          <a:bodyPr wrap="square" lIns="45720" tIns="18288" rIns="45720" bIns="18288" anchor="t">
            <a:spAutoFit/>
          </a:bodyPr>
          <a:lstStyle/>
          <a:p>
            <a:pPr algn="l"/>
            <a:r>
              <a:rPr sz="1100" b="1">
                <a:solidFill>
                  <a:srgbClr val="0B6E66"/>
                </a:solidFill>
                <a:latin typeface="Calibri"/>
              </a:rPr>
              <a:t>ALSO INCLUDED</a:t>
            </a:r>
          </a:p>
        </p:txBody>
      </p:sp>
      <p:sp>
        <p:nvSpPr>
          <p:cNvPr id="20" name="TextBox 19"/>
          <p:cNvSpPr txBox="1"/>
          <p:nvPr/>
        </p:nvSpPr>
        <p:spPr>
          <a:xfrm>
            <a:off x="8732520" y="2788920"/>
            <a:ext cx="2834640" cy="457200"/>
          </a:xfrm>
          <a:prstGeom prst="rect">
            <a:avLst/>
          </a:prstGeom>
          <a:noFill/>
        </p:spPr>
        <p:txBody>
          <a:bodyPr wrap="square" lIns="45720" tIns="18288" rIns="45720" bIns="18288" anchor="t">
            <a:spAutoFit/>
          </a:bodyPr>
          <a:lstStyle/>
          <a:p>
            <a:pPr algn="l"/>
            <a:r>
              <a:rPr sz="1800" b="1">
                <a:solidFill>
                  <a:srgbClr val="111827"/>
                </a:solidFill>
                <a:latin typeface="Calibri"/>
              </a:rPr>
              <a:t>PSIA documents</a:t>
            </a:r>
          </a:p>
        </p:txBody>
      </p:sp>
      <p:sp>
        <p:nvSpPr>
          <p:cNvPr id="21" name="TextBox 20"/>
          <p:cNvSpPr txBox="1"/>
          <p:nvPr/>
        </p:nvSpPr>
        <p:spPr>
          <a:xfrm>
            <a:off x="8732520" y="3246120"/>
            <a:ext cx="2834640" cy="2103120"/>
          </a:xfrm>
          <a:prstGeom prst="rect">
            <a:avLst/>
          </a:prstGeom>
          <a:noFill/>
        </p:spPr>
        <p:txBody>
          <a:bodyPr wrap="square" lIns="45720" tIns="18288" rIns="45720" bIns="18288" anchor="t">
            <a:spAutoFit/>
          </a:bodyPr>
          <a:lstStyle/>
          <a:p>
            <a:pPr algn="l"/>
            <a:r>
              <a:rPr sz="1200" b="0">
                <a:solidFill>
                  <a:srgbClr val="4B5563"/>
                </a:solidFill>
                <a:latin typeface="Calibri"/>
              </a:rPr>
              <a:t>Industry briefing PDFs from PSIA, kept alongside the CSVs in /dataset for context and definitions.</a:t>
            </a:r>
          </a:p>
        </p:txBody>
      </p:sp>
      <p:sp>
        <p:nvSpPr>
          <p:cNvPr id="22" name="TextBox 21"/>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a:solidFill>
                  <a:srgbClr val="4B5563"/>
                </a:solidFill>
                <a:latin typeface="Calibri"/>
              </a:rPr>
              <a:t>Seaweed Industry  ·  Capstone Mid-Term</a:t>
            </a:r>
          </a:p>
        </p:txBody>
      </p:sp>
      <p:sp>
        <p:nvSpPr>
          <p:cNvPr id="23" name="TextBox 22"/>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5 / 28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9144000" cy="320040"/>
          </a:xfrm>
          <a:prstGeom prst="rect">
            <a:avLst/>
          </a:prstGeom>
          <a:noFill/>
        </p:spPr>
        <p:txBody>
          <a:bodyPr wrap="square" lIns="45720" tIns="18288" rIns="45720" bIns="18288" anchor="t">
            <a:spAutoFit/>
          </a:bodyPr>
          <a:lstStyle/>
          <a:p>
            <a:pPr algn="l"/>
            <a:r>
              <a:rPr sz="1200" b="1">
                <a:solidFill>
                  <a:srgbClr val="0D9488"/>
                </a:solidFill>
                <a:latin typeface="Calibri"/>
              </a:rPr>
              <a:t>METHODOLOGY</a:t>
            </a:r>
          </a:p>
        </p:txBody>
      </p:sp>
      <p:sp>
        <p:nvSpPr>
          <p:cNvPr id="4" name="TextBox 3"/>
          <p:cNvSpPr txBox="1"/>
          <p:nvPr/>
        </p:nvSpPr>
        <p:spPr>
          <a:xfrm>
            <a:off x="548640" y="594360"/>
            <a:ext cx="10972800" cy="498598"/>
          </a:xfrm>
          <a:prstGeom prst="rect">
            <a:avLst/>
          </a:prstGeom>
          <a:noFill/>
        </p:spPr>
        <p:txBody>
          <a:bodyPr wrap="square" lIns="45720" tIns="18288" rIns="45720" bIns="18288" anchor="t">
            <a:spAutoFit/>
          </a:bodyPr>
          <a:lstStyle/>
          <a:p>
            <a:pPr algn="l"/>
            <a:r>
              <a:rPr sz="3000" b="1" dirty="0">
                <a:solidFill>
                  <a:srgbClr val="111827"/>
                </a:solidFill>
                <a:latin typeface="Calibri"/>
              </a:rPr>
              <a:t>From raw CSV to a </a:t>
            </a:r>
            <a:r>
              <a:rPr lang="en-CA" sz="3000" b="1" dirty="0">
                <a:solidFill>
                  <a:srgbClr val="111827"/>
                </a:solidFill>
                <a:latin typeface="Calibri"/>
              </a:rPr>
              <a:t>question,</a:t>
            </a:r>
            <a:r>
              <a:rPr sz="3000" b="1" dirty="0">
                <a:solidFill>
                  <a:srgbClr val="111827"/>
                </a:solidFill>
                <a:latin typeface="Calibri"/>
              </a:rPr>
              <a:t> you can ask in </a:t>
            </a:r>
            <a:r>
              <a:rPr lang="en-US" sz="3000" b="1" dirty="0">
                <a:solidFill>
                  <a:srgbClr val="111827"/>
                </a:solidFill>
                <a:latin typeface="Calibri"/>
              </a:rPr>
              <a:t>normal basic language</a:t>
            </a:r>
            <a:endParaRPr sz="3000" b="1" dirty="0">
              <a:solidFill>
                <a:srgbClr val="111827"/>
              </a:solidFill>
              <a:latin typeface="Calibri"/>
            </a:endParaRPr>
          </a:p>
        </p:txBody>
      </p:sp>
      <p:sp>
        <p:nvSpPr>
          <p:cNvPr id="5" name="Rectangle 4"/>
          <p:cNvSpPr/>
          <p:nvPr/>
        </p:nvSpPr>
        <p:spPr>
          <a:xfrm>
            <a:off x="502920" y="1737360"/>
            <a:ext cx="2743200" cy="3200400"/>
          </a:xfrm>
          <a:prstGeom prst="rect">
            <a:avLst/>
          </a:prstGeom>
          <a:solidFill>
            <a:srgbClr val="FFFFFF"/>
          </a:solidFill>
          <a:ln>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737360"/>
            <a:ext cx="2743200" cy="64008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828800"/>
            <a:ext cx="2377440" cy="502920"/>
          </a:xfrm>
          <a:prstGeom prst="rect">
            <a:avLst/>
          </a:prstGeom>
          <a:noFill/>
        </p:spPr>
        <p:txBody>
          <a:bodyPr wrap="square" lIns="45720" tIns="18288" rIns="45720" bIns="18288" anchor="t">
            <a:spAutoFit/>
          </a:bodyPr>
          <a:lstStyle/>
          <a:p>
            <a:pPr algn="l"/>
            <a:r>
              <a:rPr sz="2200" b="1">
                <a:solidFill>
                  <a:srgbClr val="FFFFFF"/>
                </a:solidFill>
                <a:latin typeface="Calibri"/>
              </a:rPr>
              <a:t>01</a:t>
            </a:r>
          </a:p>
        </p:txBody>
      </p:sp>
      <p:sp>
        <p:nvSpPr>
          <p:cNvPr id="8" name="TextBox 7"/>
          <p:cNvSpPr txBox="1"/>
          <p:nvPr/>
        </p:nvSpPr>
        <p:spPr>
          <a:xfrm>
            <a:off x="685800" y="2514600"/>
            <a:ext cx="2377440" cy="548640"/>
          </a:xfrm>
          <a:prstGeom prst="rect">
            <a:avLst/>
          </a:prstGeom>
          <a:noFill/>
        </p:spPr>
        <p:txBody>
          <a:bodyPr wrap="square" lIns="45720" tIns="18288" rIns="45720" bIns="18288" anchor="t">
            <a:spAutoFit/>
          </a:bodyPr>
          <a:lstStyle/>
          <a:p>
            <a:pPr algn="l"/>
            <a:r>
              <a:rPr sz="2200" b="1">
                <a:solidFill>
                  <a:srgbClr val="111827"/>
                </a:solidFill>
                <a:latin typeface="Calibri"/>
              </a:rPr>
              <a:t>Wrangle</a:t>
            </a:r>
          </a:p>
        </p:txBody>
      </p:sp>
      <p:sp>
        <p:nvSpPr>
          <p:cNvPr id="9" name="TextBox 8"/>
          <p:cNvSpPr txBox="1"/>
          <p:nvPr/>
        </p:nvSpPr>
        <p:spPr>
          <a:xfrm>
            <a:off x="685800" y="3108960"/>
            <a:ext cx="2377440" cy="1828800"/>
          </a:xfrm>
          <a:prstGeom prst="rect">
            <a:avLst/>
          </a:prstGeom>
          <a:noFill/>
        </p:spPr>
        <p:txBody>
          <a:bodyPr wrap="square" lIns="45720" tIns="18288" rIns="45720" bIns="18288" anchor="t">
            <a:spAutoFit/>
          </a:bodyPr>
          <a:lstStyle/>
          <a:p>
            <a:pPr algn="l"/>
            <a:r>
              <a:rPr sz="1300" b="0">
                <a:solidFill>
                  <a:srgbClr val="4B5563"/>
                </a:solidFill>
                <a:latin typeface="Calibri"/>
              </a:rPr>
              <a:t>Clean FAO CSVs · normalize country &amp; species · validate status flags</a:t>
            </a:r>
          </a:p>
        </p:txBody>
      </p:sp>
      <p:sp>
        <p:nvSpPr>
          <p:cNvPr id="10" name="Right Arrow 9"/>
          <p:cNvSpPr/>
          <p:nvPr/>
        </p:nvSpPr>
        <p:spPr>
          <a:xfrm>
            <a:off x="3250692" y="3200400"/>
            <a:ext cx="118872" cy="274320"/>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83280" y="1737360"/>
            <a:ext cx="2743200" cy="3200400"/>
          </a:xfrm>
          <a:prstGeom prst="rect">
            <a:avLst/>
          </a:prstGeom>
          <a:solidFill>
            <a:srgbClr val="FFFFFF"/>
          </a:solidFill>
          <a:ln>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383280" y="1737360"/>
            <a:ext cx="2743200" cy="64008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66160" y="1828800"/>
            <a:ext cx="2377440" cy="502920"/>
          </a:xfrm>
          <a:prstGeom prst="rect">
            <a:avLst/>
          </a:prstGeom>
          <a:noFill/>
        </p:spPr>
        <p:txBody>
          <a:bodyPr wrap="square" lIns="45720" tIns="18288" rIns="45720" bIns="18288" anchor="t">
            <a:spAutoFit/>
          </a:bodyPr>
          <a:lstStyle/>
          <a:p>
            <a:pPr algn="l"/>
            <a:r>
              <a:rPr sz="2200" b="1">
                <a:solidFill>
                  <a:srgbClr val="FFFFFF"/>
                </a:solidFill>
                <a:latin typeface="Calibri"/>
              </a:rPr>
              <a:t>02</a:t>
            </a:r>
          </a:p>
        </p:txBody>
      </p:sp>
      <p:sp>
        <p:nvSpPr>
          <p:cNvPr id="14" name="TextBox 13"/>
          <p:cNvSpPr txBox="1"/>
          <p:nvPr/>
        </p:nvSpPr>
        <p:spPr>
          <a:xfrm>
            <a:off x="3566160" y="2514600"/>
            <a:ext cx="2377440" cy="548640"/>
          </a:xfrm>
          <a:prstGeom prst="rect">
            <a:avLst/>
          </a:prstGeom>
          <a:noFill/>
        </p:spPr>
        <p:txBody>
          <a:bodyPr wrap="square" lIns="45720" tIns="18288" rIns="45720" bIns="18288" anchor="t">
            <a:spAutoFit/>
          </a:bodyPr>
          <a:lstStyle/>
          <a:p>
            <a:pPr algn="l"/>
            <a:r>
              <a:rPr sz="2200" b="1">
                <a:solidFill>
                  <a:srgbClr val="111827"/>
                </a:solidFill>
                <a:latin typeface="Calibri"/>
              </a:rPr>
              <a:t>Model</a:t>
            </a:r>
          </a:p>
        </p:txBody>
      </p:sp>
      <p:sp>
        <p:nvSpPr>
          <p:cNvPr id="15" name="TextBox 14"/>
          <p:cNvSpPr txBox="1"/>
          <p:nvPr/>
        </p:nvSpPr>
        <p:spPr>
          <a:xfrm>
            <a:off x="3566160" y="3108960"/>
            <a:ext cx="2377440" cy="1828800"/>
          </a:xfrm>
          <a:prstGeom prst="rect">
            <a:avLst/>
          </a:prstGeom>
          <a:noFill/>
        </p:spPr>
        <p:txBody>
          <a:bodyPr wrap="square" lIns="45720" tIns="18288" rIns="45720" bIns="18288" anchor="t">
            <a:spAutoFit/>
          </a:bodyPr>
          <a:lstStyle/>
          <a:p>
            <a:pPr algn="l"/>
            <a:r>
              <a:rPr sz="1300" b="0">
                <a:solidFill>
                  <a:srgbClr val="4B5563"/>
                </a:solidFill>
                <a:latin typeface="Calibri"/>
              </a:rPr>
              <a:t>Load into DuckDB · build the schema · define joins</a:t>
            </a:r>
          </a:p>
        </p:txBody>
      </p:sp>
      <p:sp>
        <p:nvSpPr>
          <p:cNvPr id="16" name="Right Arrow 15"/>
          <p:cNvSpPr/>
          <p:nvPr/>
        </p:nvSpPr>
        <p:spPr>
          <a:xfrm>
            <a:off x="6131052" y="3200400"/>
            <a:ext cx="118872" cy="274320"/>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63640" y="1737360"/>
            <a:ext cx="2743200" cy="3200400"/>
          </a:xfrm>
          <a:prstGeom prst="rect">
            <a:avLst/>
          </a:prstGeom>
          <a:solidFill>
            <a:srgbClr val="FFFFFF"/>
          </a:solidFill>
          <a:ln>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63640" y="1737360"/>
            <a:ext cx="2743200" cy="64008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1828800"/>
            <a:ext cx="2377440" cy="502920"/>
          </a:xfrm>
          <a:prstGeom prst="rect">
            <a:avLst/>
          </a:prstGeom>
          <a:noFill/>
        </p:spPr>
        <p:txBody>
          <a:bodyPr wrap="square" lIns="45720" tIns="18288" rIns="45720" bIns="18288" anchor="t">
            <a:spAutoFit/>
          </a:bodyPr>
          <a:lstStyle/>
          <a:p>
            <a:pPr algn="l"/>
            <a:r>
              <a:rPr sz="2200" b="1">
                <a:solidFill>
                  <a:srgbClr val="FFFFFF"/>
                </a:solidFill>
                <a:latin typeface="Calibri"/>
              </a:rPr>
              <a:t>03</a:t>
            </a:r>
          </a:p>
        </p:txBody>
      </p:sp>
      <p:sp>
        <p:nvSpPr>
          <p:cNvPr id="20" name="TextBox 19"/>
          <p:cNvSpPr txBox="1"/>
          <p:nvPr/>
        </p:nvSpPr>
        <p:spPr>
          <a:xfrm>
            <a:off x="6446520" y="2514600"/>
            <a:ext cx="2377440" cy="548640"/>
          </a:xfrm>
          <a:prstGeom prst="rect">
            <a:avLst/>
          </a:prstGeom>
          <a:noFill/>
        </p:spPr>
        <p:txBody>
          <a:bodyPr wrap="square" lIns="45720" tIns="18288" rIns="45720" bIns="18288" anchor="t">
            <a:spAutoFit/>
          </a:bodyPr>
          <a:lstStyle/>
          <a:p>
            <a:pPr algn="l"/>
            <a:r>
              <a:rPr sz="2200" b="1">
                <a:solidFill>
                  <a:srgbClr val="111827"/>
                </a:solidFill>
                <a:latin typeface="Calibri"/>
              </a:rPr>
              <a:t>Visualize</a:t>
            </a:r>
          </a:p>
        </p:txBody>
      </p:sp>
      <p:sp>
        <p:nvSpPr>
          <p:cNvPr id="21" name="TextBox 20"/>
          <p:cNvSpPr txBox="1"/>
          <p:nvPr/>
        </p:nvSpPr>
        <p:spPr>
          <a:xfrm>
            <a:off x="6446520" y="3108960"/>
            <a:ext cx="2377440" cy="1828800"/>
          </a:xfrm>
          <a:prstGeom prst="rect">
            <a:avLst/>
          </a:prstGeom>
          <a:noFill/>
        </p:spPr>
        <p:txBody>
          <a:bodyPr wrap="square" lIns="45720" tIns="18288" rIns="45720" bIns="18288" anchor="t">
            <a:spAutoFit/>
          </a:bodyPr>
          <a:lstStyle/>
          <a:p>
            <a:pPr algn="l"/>
            <a:r>
              <a:rPr sz="1300" b="0" dirty="0">
                <a:solidFill>
                  <a:srgbClr val="4B5563"/>
                </a:solidFill>
                <a:latin typeface="Calibri"/>
              </a:rPr>
              <a:t>12 React tabs · Recharts + Plotly · KPI cards</a:t>
            </a:r>
          </a:p>
        </p:txBody>
      </p:sp>
      <p:sp>
        <p:nvSpPr>
          <p:cNvPr id="22" name="Right Arrow 21"/>
          <p:cNvSpPr/>
          <p:nvPr/>
        </p:nvSpPr>
        <p:spPr>
          <a:xfrm>
            <a:off x="9011412" y="3200400"/>
            <a:ext cx="118872" cy="274320"/>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144000" y="1737360"/>
            <a:ext cx="2743200" cy="3200400"/>
          </a:xfrm>
          <a:prstGeom prst="rect">
            <a:avLst/>
          </a:prstGeom>
          <a:solidFill>
            <a:srgbClr val="FFFFFF"/>
          </a:solidFill>
          <a:ln>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144000" y="1737360"/>
            <a:ext cx="2743200" cy="64008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26880" y="1828800"/>
            <a:ext cx="2377440" cy="502920"/>
          </a:xfrm>
          <a:prstGeom prst="rect">
            <a:avLst/>
          </a:prstGeom>
          <a:noFill/>
        </p:spPr>
        <p:txBody>
          <a:bodyPr wrap="square" lIns="45720" tIns="18288" rIns="45720" bIns="18288" anchor="t">
            <a:spAutoFit/>
          </a:bodyPr>
          <a:lstStyle/>
          <a:p>
            <a:pPr algn="l"/>
            <a:r>
              <a:rPr sz="2200" b="1">
                <a:solidFill>
                  <a:srgbClr val="FFFFFF"/>
                </a:solidFill>
                <a:latin typeface="Calibri"/>
              </a:rPr>
              <a:t>04</a:t>
            </a:r>
          </a:p>
        </p:txBody>
      </p:sp>
      <p:sp>
        <p:nvSpPr>
          <p:cNvPr id="26" name="TextBox 25"/>
          <p:cNvSpPr txBox="1"/>
          <p:nvPr/>
        </p:nvSpPr>
        <p:spPr>
          <a:xfrm>
            <a:off x="9326880" y="2514600"/>
            <a:ext cx="2377440" cy="548640"/>
          </a:xfrm>
          <a:prstGeom prst="rect">
            <a:avLst/>
          </a:prstGeom>
          <a:noFill/>
        </p:spPr>
        <p:txBody>
          <a:bodyPr wrap="square" lIns="45720" tIns="18288" rIns="45720" bIns="18288" anchor="t">
            <a:spAutoFit/>
          </a:bodyPr>
          <a:lstStyle/>
          <a:p>
            <a:pPr algn="l"/>
            <a:r>
              <a:rPr sz="2200" b="1">
                <a:solidFill>
                  <a:srgbClr val="111827"/>
                </a:solidFill>
                <a:latin typeface="Calibri"/>
              </a:rPr>
              <a:t>Conversate</a:t>
            </a:r>
          </a:p>
        </p:txBody>
      </p:sp>
      <p:sp>
        <p:nvSpPr>
          <p:cNvPr id="27" name="TextBox 26"/>
          <p:cNvSpPr txBox="1"/>
          <p:nvPr/>
        </p:nvSpPr>
        <p:spPr>
          <a:xfrm>
            <a:off x="9326880" y="3108960"/>
            <a:ext cx="2377440" cy="1828800"/>
          </a:xfrm>
          <a:prstGeom prst="rect">
            <a:avLst/>
          </a:prstGeom>
          <a:noFill/>
        </p:spPr>
        <p:txBody>
          <a:bodyPr wrap="square" lIns="45720" tIns="18288" rIns="45720" bIns="18288" anchor="t">
            <a:spAutoFit/>
          </a:bodyPr>
          <a:lstStyle/>
          <a:p>
            <a:pPr algn="l"/>
            <a:r>
              <a:rPr sz="1300" b="0" dirty="0">
                <a:solidFill>
                  <a:srgbClr val="4B5563"/>
                </a:solidFill>
                <a:latin typeface="Calibri"/>
              </a:rPr>
              <a:t>Embed schema + few-shot examples · </a:t>
            </a:r>
            <a:r>
              <a:rPr sz="1300" b="0" dirty="0" err="1">
                <a:solidFill>
                  <a:srgbClr val="4B5563"/>
                </a:solidFill>
                <a:latin typeface="Calibri"/>
              </a:rPr>
              <a:t>Groq</a:t>
            </a:r>
            <a:r>
              <a:rPr sz="1300" b="0" dirty="0">
                <a:solidFill>
                  <a:srgbClr val="4B5563"/>
                </a:solidFill>
                <a:latin typeface="Calibri"/>
              </a:rPr>
              <a:t> LLM → SQL · summarize result</a:t>
            </a:r>
          </a:p>
        </p:txBody>
      </p:sp>
      <p:sp>
        <p:nvSpPr>
          <p:cNvPr id="28" name="TextBox 27"/>
          <p:cNvSpPr txBox="1"/>
          <p:nvPr/>
        </p:nvSpPr>
        <p:spPr>
          <a:xfrm>
            <a:off x="548640" y="5212080"/>
            <a:ext cx="10972800" cy="548640"/>
          </a:xfrm>
          <a:prstGeom prst="rect">
            <a:avLst/>
          </a:prstGeom>
          <a:noFill/>
        </p:spPr>
        <p:txBody>
          <a:bodyPr wrap="square" lIns="45720" tIns="18288" rIns="45720" bIns="18288" anchor="t">
            <a:spAutoFit/>
          </a:bodyPr>
          <a:lstStyle/>
          <a:p>
            <a:pPr algn="l"/>
            <a:r>
              <a:rPr sz="1400" b="0">
                <a:solidFill>
                  <a:srgbClr val="4B5563"/>
                </a:solidFill>
                <a:latin typeface="Calibri"/>
              </a:rPr>
              <a:t>Two surfaces share the same data layer: the dashboard renders pre-built charts, while the AI chat generates SQL on the fly.</a:t>
            </a:r>
          </a:p>
        </p:txBody>
      </p:sp>
      <p:sp>
        <p:nvSpPr>
          <p:cNvPr id="29" name="TextBox 28"/>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a:solidFill>
                  <a:srgbClr val="4B5563"/>
                </a:solidFill>
                <a:latin typeface="Calibri"/>
              </a:rPr>
              <a:t>Seaweed Industry  ·  Capstone Mid-Term</a:t>
            </a:r>
          </a:p>
        </p:txBody>
      </p:sp>
      <p:sp>
        <p:nvSpPr>
          <p:cNvPr id="30" name="TextBox 29"/>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6 / 28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9144000" cy="320040"/>
          </a:xfrm>
          <a:prstGeom prst="rect">
            <a:avLst/>
          </a:prstGeom>
          <a:noFill/>
        </p:spPr>
        <p:txBody>
          <a:bodyPr wrap="square" lIns="45720" tIns="18288" rIns="45720" bIns="18288" anchor="t">
            <a:spAutoFit/>
          </a:bodyPr>
          <a:lstStyle/>
          <a:p>
            <a:pPr algn="l"/>
            <a:r>
              <a:rPr sz="1200" b="1">
                <a:solidFill>
                  <a:srgbClr val="0D9488"/>
                </a:solidFill>
                <a:latin typeface="Calibri"/>
              </a:rPr>
              <a:t>EDA · INSIGHT 1</a:t>
            </a:r>
          </a:p>
        </p:txBody>
      </p:sp>
      <p:sp>
        <p:nvSpPr>
          <p:cNvPr id="4" name="TextBox 3"/>
          <p:cNvSpPr txBox="1"/>
          <p:nvPr/>
        </p:nvSpPr>
        <p:spPr>
          <a:xfrm>
            <a:off x="548640" y="594360"/>
            <a:ext cx="10972800" cy="640080"/>
          </a:xfrm>
          <a:prstGeom prst="rect">
            <a:avLst/>
          </a:prstGeom>
          <a:noFill/>
        </p:spPr>
        <p:txBody>
          <a:bodyPr wrap="square" lIns="45720" tIns="18288" rIns="45720" bIns="18288" anchor="t">
            <a:spAutoFit/>
          </a:bodyPr>
          <a:lstStyle/>
          <a:p>
            <a:pPr algn="l"/>
            <a:r>
              <a:rPr sz="3000" b="1">
                <a:solidFill>
                  <a:srgbClr val="111827"/>
                </a:solidFill>
                <a:latin typeface="Calibri"/>
              </a:rPr>
              <a:t>Global seaweed production has grown ~10× since 1980</a:t>
            </a:r>
          </a:p>
        </p:txBody>
      </p:sp>
      <p:sp>
        <p:nvSpPr>
          <p:cNvPr id="5" name="TextBox 4"/>
          <p:cNvSpPr txBox="1"/>
          <p:nvPr/>
        </p:nvSpPr>
        <p:spPr>
          <a:xfrm>
            <a:off x="548640" y="1554480"/>
            <a:ext cx="4173485" cy="3054939"/>
          </a:xfrm>
          <a:prstGeom prst="rect">
            <a:avLst/>
          </a:prstGeom>
          <a:noFill/>
        </p:spPr>
        <p:txBody>
          <a:bodyPr wrap="square" lIns="45720" rIns="45720">
            <a:spAutoFit/>
          </a:bodyPr>
          <a:lstStyle/>
          <a:p>
            <a:pPr algn="l">
              <a:lnSpc>
                <a:spcPct val="135000"/>
              </a:lnSpc>
            </a:pPr>
            <a:r>
              <a:rPr sz="1600" b="1" dirty="0">
                <a:solidFill>
                  <a:srgbClr val="0D9488"/>
                </a:solidFill>
                <a:latin typeface="Calibri"/>
              </a:rPr>
              <a:t>●  </a:t>
            </a:r>
            <a:r>
              <a:rPr sz="1600" dirty="0">
                <a:solidFill>
                  <a:srgbClr val="111827"/>
                </a:solidFill>
                <a:latin typeface="Calibri"/>
              </a:rPr>
              <a:t>Production climbed from roughly </a:t>
            </a:r>
            <a:r>
              <a:rPr lang="en-US" sz="1600" dirty="0">
                <a:solidFill>
                  <a:srgbClr val="111827"/>
                </a:solidFill>
                <a:latin typeface="Calibri"/>
              </a:rPr>
              <a:t>11.2</a:t>
            </a:r>
            <a:r>
              <a:rPr sz="1600" dirty="0">
                <a:solidFill>
                  <a:srgbClr val="111827"/>
                </a:solidFill>
                <a:latin typeface="Calibri"/>
              </a:rPr>
              <a:t>M </a:t>
            </a:r>
            <a:r>
              <a:rPr sz="1600" dirty="0" err="1">
                <a:solidFill>
                  <a:srgbClr val="111827"/>
                </a:solidFill>
                <a:latin typeface="Calibri"/>
              </a:rPr>
              <a:t>tonnes</a:t>
            </a:r>
            <a:r>
              <a:rPr sz="1600" dirty="0">
                <a:solidFill>
                  <a:srgbClr val="111827"/>
                </a:solidFill>
                <a:latin typeface="Calibri"/>
              </a:rPr>
              <a:t>/year in </a:t>
            </a:r>
            <a:r>
              <a:rPr lang="en-US" sz="1600" dirty="0">
                <a:solidFill>
                  <a:srgbClr val="111827"/>
                </a:solidFill>
                <a:latin typeface="Calibri"/>
              </a:rPr>
              <a:t>2000</a:t>
            </a:r>
            <a:r>
              <a:rPr sz="1600" dirty="0">
                <a:solidFill>
                  <a:srgbClr val="111827"/>
                </a:solidFill>
                <a:latin typeface="Calibri"/>
              </a:rPr>
              <a:t> to over 3</a:t>
            </a:r>
            <a:r>
              <a:rPr lang="en-US" sz="1600" dirty="0">
                <a:solidFill>
                  <a:srgbClr val="111827"/>
                </a:solidFill>
                <a:latin typeface="Calibri"/>
              </a:rPr>
              <a:t>8.9</a:t>
            </a:r>
            <a:r>
              <a:rPr sz="1600" dirty="0">
                <a:solidFill>
                  <a:srgbClr val="111827"/>
                </a:solidFill>
                <a:latin typeface="Calibri"/>
              </a:rPr>
              <a:t>M </a:t>
            </a:r>
            <a:r>
              <a:rPr sz="1600" dirty="0" err="1">
                <a:solidFill>
                  <a:srgbClr val="111827"/>
                </a:solidFill>
                <a:latin typeface="Calibri"/>
              </a:rPr>
              <a:t>tonnes</a:t>
            </a:r>
            <a:r>
              <a:rPr sz="1600" dirty="0">
                <a:solidFill>
                  <a:srgbClr val="111827"/>
                </a:solidFill>
                <a:latin typeface="Calibri"/>
              </a:rPr>
              <a:t>/year today.</a:t>
            </a:r>
          </a:p>
          <a:p>
            <a:pPr algn="l">
              <a:lnSpc>
                <a:spcPct val="135000"/>
              </a:lnSpc>
            </a:pPr>
            <a:r>
              <a:rPr sz="1600" b="1" dirty="0">
                <a:solidFill>
                  <a:srgbClr val="0D9488"/>
                </a:solidFill>
                <a:latin typeface="Calibri"/>
              </a:rPr>
              <a:t>●  </a:t>
            </a:r>
            <a:r>
              <a:rPr sz="1600" dirty="0">
                <a:solidFill>
                  <a:srgbClr val="111827"/>
                </a:solidFill>
                <a:latin typeface="Calibri"/>
              </a:rPr>
              <a:t>Growth is dominated by Asia</a:t>
            </a:r>
            <a:r>
              <a:rPr lang="en-US" sz="1600" dirty="0">
                <a:solidFill>
                  <a:srgbClr val="111827"/>
                </a:solidFill>
                <a:latin typeface="Calibri"/>
              </a:rPr>
              <a:t>:</a:t>
            </a:r>
            <a:r>
              <a:rPr sz="1600" dirty="0">
                <a:solidFill>
                  <a:srgbClr val="111827"/>
                </a:solidFill>
                <a:latin typeface="Calibri"/>
              </a:rPr>
              <a:t> China alone accounts for ~60% of recent global output.</a:t>
            </a:r>
          </a:p>
          <a:p>
            <a:pPr algn="l">
              <a:lnSpc>
                <a:spcPct val="135000"/>
              </a:lnSpc>
            </a:pPr>
            <a:r>
              <a:rPr sz="1600" b="1" dirty="0">
                <a:solidFill>
                  <a:srgbClr val="0D9488"/>
                </a:solidFill>
                <a:latin typeface="Calibri"/>
              </a:rPr>
              <a:t>●  </a:t>
            </a:r>
            <a:r>
              <a:rPr sz="1600" dirty="0">
                <a:solidFill>
                  <a:srgbClr val="111827"/>
                </a:solidFill>
                <a:latin typeface="Calibri"/>
              </a:rPr>
              <a:t>Wild capture has been roughly flat; almost all growth is from aquaculture.</a:t>
            </a:r>
          </a:p>
          <a:p>
            <a:pPr algn="l">
              <a:lnSpc>
                <a:spcPct val="135000"/>
              </a:lnSpc>
            </a:pPr>
            <a:r>
              <a:rPr sz="1600" b="1" dirty="0">
                <a:solidFill>
                  <a:srgbClr val="0D9488"/>
                </a:solidFill>
                <a:latin typeface="Calibri"/>
              </a:rPr>
              <a:t>●  </a:t>
            </a:r>
            <a:r>
              <a:rPr sz="1600" dirty="0">
                <a:solidFill>
                  <a:srgbClr val="111827"/>
                </a:solidFill>
                <a:latin typeface="Calibri"/>
              </a:rPr>
              <a:t>The 2000s and 2010s saw the steepest acceleration as kelp farming scaled.</a:t>
            </a:r>
          </a:p>
        </p:txBody>
      </p:sp>
      <p:sp>
        <p:nvSpPr>
          <p:cNvPr id="9" name="TextBox 8"/>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a:solidFill>
                  <a:srgbClr val="4B5563"/>
                </a:solidFill>
                <a:latin typeface="Calibri"/>
              </a:rPr>
              <a:t>Seaweed Industry  ·  Capstone Mid-Term</a:t>
            </a:r>
          </a:p>
        </p:txBody>
      </p:sp>
      <p:sp>
        <p:nvSpPr>
          <p:cNvPr id="10" name="TextBox 9"/>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7 / 28</a:t>
            </a:r>
          </a:p>
        </p:txBody>
      </p:sp>
      <p:pic>
        <p:nvPicPr>
          <p:cNvPr id="12" name="Picture 11">
            <a:extLst>
              <a:ext uri="{FF2B5EF4-FFF2-40B4-BE49-F238E27FC236}">
                <a16:creationId xmlns:a16="http://schemas.microsoft.com/office/drawing/2014/main" id="{3CB51C0A-C0DE-E206-3D55-5A3DE133E45E}"/>
              </a:ext>
            </a:extLst>
          </p:cNvPr>
          <p:cNvPicPr>
            <a:picLocks noChangeAspect="1"/>
          </p:cNvPicPr>
          <p:nvPr/>
        </p:nvPicPr>
        <p:blipFill>
          <a:blip r:embed="rId3"/>
          <a:srcRect l="2728" b="3859"/>
          <a:stretch>
            <a:fillRect/>
          </a:stretch>
        </p:blipFill>
        <p:spPr>
          <a:xfrm>
            <a:off x="4722125" y="1536192"/>
            <a:ext cx="7090012" cy="440058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9144000" cy="320040"/>
          </a:xfrm>
          <a:prstGeom prst="rect">
            <a:avLst/>
          </a:prstGeom>
          <a:noFill/>
        </p:spPr>
        <p:txBody>
          <a:bodyPr wrap="square" lIns="45720" tIns="18288" rIns="45720" bIns="18288" anchor="t">
            <a:spAutoFit/>
          </a:bodyPr>
          <a:lstStyle/>
          <a:p>
            <a:pPr algn="l"/>
            <a:r>
              <a:rPr sz="1200" b="1">
                <a:solidFill>
                  <a:srgbClr val="0D9488"/>
                </a:solidFill>
                <a:latin typeface="Calibri"/>
              </a:rPr>
              <a:t>EDA · INSIGHT 2</a:t>
            </a:r>
          </a:p>
        </p:txBody>
      </p:sp>
      <p:sp>
        <p:nvSpPr>
          <p:cNvPr id="4" name="TextBox 3"/>
          <p:cNvSpPr txBox="1"/>
          <p:nvPr/>
        </p:nvSpPr>
        <p:spPr>
          <a:xfrm>
            <a:off x="548640" y="594360"/>
            <a:ext cx="10972800" cy="640080"/>
          </a:xfrm>
          <a:prstGeom prst="rect">
            <a:avLst/>
          </a:prstGeom>
          <a:noFill/>
        </p:spPr>
        <p:txBody>
          <a:bodyPr wrap="square" lIns="45720" tIns="18288" rIns="45720" bIns="18288" anchor="t">
            <a:spAutoFit/>
          </a:bodyPr>
          <a:lstStyle/>
          <a:p>
            <a:pPr algn="l"/>
            <a:r>
              <a:rPr sz="3000" b="1">
                <a:solidFill>
                  <a:srgbClr val="111827"/>
                </a:solidFill>
                <a:latin typeface="Calibri"/>
              </a:rPr>
              <a:t>Five countries produce ~99% of the world's seaweed</a:t>
            </a:r>
          </a:p>
        </p:txBody>
      </p:sp>
      <p:sp>
        <p:nvSpPr>
          <p:cNvPr id="5" name="TextBox 4"/>
          <p:cNvSpPr txBox="1"/>
          <p:nvPr/>
        </p:nvSpPr>
        <p:spPr>
          <a:xfrm>
            <a:off x="548640" y="1554480"/>
            <a:ext cx="11521440" cy="1392945"/>
          </a:xfrm>
          <a:prstGeom prst="rect">
            <a:avLst/>
          </a:prstGeom>
          <a:noFill/>
        </p:spPr>
        <p:txBody>
          <a:bodyPr wrap="square" lIns="45720" rIns="45720">
            <a:spAutoFit/>
          </a:bodyPr>
          <a:lstStyle/>
          <a:p>
            <a:pPr algn="l">
              <a:lnSpc>
                <a:spcPct val="135000"/>
              </a:lnSpc>
            </a:pPr>
            <a:r>
              <a:rPr sz="1600" b="1" dirty="0">
                <a:solidFill>
                  <a:srgbClr val="0D9488"/>
                </a:solidFill>
                <a:latin typeface="Calibri"/>
              </a:rPr>
              <a:t>●  </a:t>
            </a:r>
            <a:r>
              <a:rPr sz="1600" dirty="0">
                <a:solidFill>
                  <a:srgbClr val="111827"/>
                </a:solidFill>
                <a:latin typeface="Calibri"/>
              </a:rPr>
              <a:t>Top 5 in 2022: China, Indonesia, Republic of Korea, Philippines </a:t>
            </a:r>
            <a:r>
              <a:rPr lang="en-US" sz="1600" dirty="0">
                <a:solidFill>
                  <a:srgbClr val="111827"/>
                </a:solidFill>
                <a:latin typeface="Calibri"/>
              </a:rPr>
              <a:t>and </a:t>
            </a:r>
            <a:r>
              <a:rPr sz="1600" dirty="0">
                <a:solidFill>
                  <a:srgbClr val="111827"/>
                </a:solidFill>
                <a:latin typeface="Calibri"/>
              </a:rPr>
              <a:t>D</a:t>
            </a:r>
            <a:r>
              <a:rPr lang="en-US" sz="1600" dirty="0">
                <a:solidFill>
                  <a:srgbClr val="111827"/>
                </a:solidFill>
                <a:latin typeface="Calibri"/>
              </a:rPr>
              <a:t>emocratic People’s Republic of Korea</a:t>
            </a:r>
            <a:r>
              <a:rPr sz="1600" dirty="0">
                <a:solidFill>
                  <a:srgbClr val="111827"/>
                </a:solidFill>
                <a:latin typeface="Calibri"/>
              </a:rPr>
              <a:t>.</a:t>
            </a:r>
          </a:p>
          <a:p>
            <a:pPr algn="l">
              <a:lnSpc>
                <a:spcPct val="135000"/>
              </a:lnSpc>
            </a:pPr>
            <a:r>
              <a:rPr sz="1600" b="1" dirty="0">
                <a:solidFill>
                  <a:srgbClr val="0D9488"/>
                </a:solidFill>
                <a:latin typeface="Calibri"/>
              </a:rPr>
              <a:t>●  </a:t>
            </a:r>
            <a:r>
              <a:rPr sz="1600" dirty="0">
                <a:solidFill>
                  <a:srgbClr val="111827"/>
                </a:solidFill>
                <a:latin typeface="Calibri"/>
              </a:rPr>
              <a:t>China (22.7M </a:t>
            </a:r>
            <a:r>
              <a:rPr lang="en-CA" sz="1600" dirty="0">
                <a:solidFill>
                  <a:srgbClr val="111827"/>
                </a:solidFill>
                <a:latin typeface="Calibri"/>
              </a:rPr>
              <a:t>tonnes</a:t>
            </a:r>
            <a:r>
              <a:rPr sz="1600" dirty="0">
                <a:solidFill>
                  <a:srgbClr val="111827"/>
                </a:solidFill>
                <a:latin typeface="Calibri"/>
              </a:rPr>
              <a:t>) and Indonesia (9.</a:t>
            </a:r>
            <a:r>
              <a:rPr lang="en-US" sz="1600" dirty="0">
                <a:solidFill>
                  <a:srgbClr val="111827"/>
                </a:solidFill>
                <a:latin typeface="Calibri"/>
              </a:rPr>
              <a:t>6</a:t>
            </a:r>
            <a:r>
              <a:rPr sz="1600" dirty="0">
                <a:solidFill>
                  <a:srgbClr val="111827"/>
                </a:solidFill>
                <a:latin typeface="Calibri"/>
              </a:rPr>
              <a:t>M </a:t>
            </a:r>
            <a:r>
              <a:rPr lang="en-CA" sz="1600" dirty="0">
                <a:solidFill>
                  <a:srgbClr val="111827"/>
                </a:solidFill>
                <a:latin typeface="Calibri"/>
              </a:rPr>
              <a:t>tonnes</a:t>
            </a:r>
            <a:r>
              <a:rPr sz="1600" dirty="0">
                <a:solidFill>
                  <a:srgbClr val="111827"/>
                </a:solidFill>
                <a:latin typeface="Calibri"/>
              </a:rPr>
              <a:t>) together are ~85% of global output.</a:t>
            </a:r>
          </a:p>
          <a:p>
            <a:pPr algn="l">
              <a:lnSpc>
                <a:spcPct val="135000"/>
              </a:lnSpc>
            </a:pPr>
            <a:r>
              <a:rPr sz="1600" b="1" dirty="0">
                <a:solidFill>
                  <a:srgbClr val="0D9488"/>
                </a:solidFill>
                <a:latin typeface="Calibri"/>
              </a:rPr>
              <a:t>●  </a:t>
            </a:r>
            <a:r>
              <a:rPr sz="1600" dirty="0">
                <a:solidFill>
                  <a:srgbClr val="111827"/>
                </a:solidFill>
                <a:latin typeface="Calibri"/>
              </a:rPr>
              <a:t>The remaining ~190 countries combined contribute roughly 1%.</a:t>
            </a:r>
          </a:p>
          <a:p>
            <a:pPr algn="l">
              <a:lnSpc>
                <a:spcPct val="135000"/>
              </a:lnSpc>
            </a:pPr>
            <a:r>
              <a:rPr sz="1600" b="1" dirty="0">
                <a:solidFill>
                  <a:srgbClr val="0D9488"/>
                </a:solidFill>
                <a:latin typeface="Calibri"/>
              </a:rPr>
              <a:t>●  </a:t>
            </a:r>
            <a:r>
              <a:rPr sz="1600" dirty="0">
                <a:solidFill>
                  <a:srgbClr val="111827"/>
                </a:solidFill>
                <a:latin typeface="Calibri"/>
              </a:rPr>
              <a:t>Concentration creates supply-chain risk any policy shift in China or Indonesia ripples globally.</a:t>
            </a:r>
          </a:p>
        </p:txBody>
      </p:sp>
      <p:sp>
        <p:nvSpPr>
          <p:cNvPr id="23" name="TextBox 22"/>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a:solidFill>
                  <a:srgbClr val="4B5563"/>
                </a:solidFill>
                <a:latin typeface="Calibri"/>
              </a:rPr>
              <a:t>Seaweed Industry  ·  Capstone Mid-Term</a:t>
            </a:r>
          </a:p>
        </p:txBody>
      </p:sp>
      <p:sp>
        <p:nvSpPr>
          <p:cNvPr id="24" name="TextBox 23"/>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8 / 28</a:t>
            </a:r>
          </a:p>
        </p:txBody>
      </p:sp>
      <p:pic>
        <p:nvPicPr>
          <p:cNvPr id="26" name="Picture 25">
            <a:extLst>
              <a:ext uri="{FF2B5EF4-FFF2-40B4-BE49-F238E27FC236}">
                <a16:creationId xmlns:a16="http://schemas.microsoft.com/office/drawing/2014/main" id="{22EA739D-ED05-E36C-3336-A236DD6429C8}"/>
              </a:ext>
            </a:extLst>
          </p:cNvPr>
          <p:cNvPicPr>
            <a:picLocks noChangeAspect="1"/>
          </p:cNvPicPr>
          <p:nvPr/>
        </p:nvPicPr>
        <p:blipFill>
          <a:blip r:embed="rId3"/>
          <a:stretch>
            <a:fillRect/>
          </a:stretch>
        </p:blipFill>
        <p:spPr>
          <a:xfrm>
            <a:off x="729337" y="3057122"/>
            <a:ext cx="10741605" cy="3352825"/>
          </a:xfrm>
          <a:prstGeom prst="rect">
            <a:avLst/>
          </a:prstGeom>
        </p:spPr>
      </p:pic>
      <p:cxnSp>
        <p:nvCxnSpPr>
          <p:cNvPr id="30" name="Straight Arrow Connector 29">
            <a:extLst>
              <a:ext uri="{FF2B5EF4-FFF2-40B4-BE49-F238E27FC236}">
                <a16:creationId xmlns:a16="http://schemas.microsoft.com/office/drawing/2014/main" id="{DCD7C6EB-EA9A-1B80-2126-793564AC972B}"/>
              </a:ext>
            </a:extLst>
          </p:cNvPr>
          <p:cNvCxnSpPr>
            <a:cxnSpLocks/>
          </p:cNvCxnSpPr>
          <p:nvPr/>
        </p:nvCxnSpPr>
        <p:spPr>
          <a:xfrm flipV="1">
            <a:off x="2893325" y="4111743"/>
            <a:ext cx="4100745" cy="66497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31" name="Straight Arrow Connector 30">
            <a:extLst>
              <a:ext uri="{FF2B5EF4-FFF2-40B4-BE49-F238E27FC236}">
                <a16:creationId xmlns:a16="http://schemas.microsoft.com/office/drawing/2014/main" id="{22FB94A1-36C8-435A-4130-C833DFA6426B}"/>
              </a:ext>
            </a:extLst>
          </p:cNvPr>
          <p:cNvCxnSpPr>
            <a:cxnSpLocks/>
            <a:endCxn id="40" idx="1"/>
          </p:cNvCxnSpPr>
          <p:nvPr/>
        </p:nvCxnSpPr>
        <p:spPr>
          <a:xfrm flipV="1">
            <a:off x="3107140" y="4342442"/>
            <a:ext cx="3886930" cy="68451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32" name="Straight Arrow Connector 31">
            <a:extLst>
              <a:ext uri="{FF2B5EF4-FFF2-40B4-BE49-F238E27FC236}">
                <a16:creationId xmlns:a16="http://schemas.microsoft.com/office/drawing/2014/main" id="{DC3F5044-EFDB-1163-66A7-C7036FF34A8D}"/>
              </a:ext>
            </a:extLst>
          </p:cNvPr>
          <p:cNvCxnSpPr>
            <a:cxnSpLocks/>
          </p:cNvCxnSpPr>
          <p:nvPr/>
        </p:nvCxnSpPr>
        <p:spPr>
          <a:xfrm flipV="1">
            <a:off x="3209498" y="4622302"/>
            <a:ext cx="3784572" cy="66106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33" name="Straight Arrow Connector 32">
            <a:extLst>
              <a:ext uri="{FF2B5EF4-FFF2-40B4-BE49-F238E27FC236}">
                <a16:creationId xmlns:a16="http://schemas.microsoft.com/office/drawing/2014/main" id="{D0704E20-A310-D7D5-0255-F85493BE0A9C}"/>
              </a:ext>
            </a:extLst>
          </p:cNvPr>
          <p:cNvCxnSpPr>
            <a:cxnSpLocks/>
          </p:cNvCxnSpPr>
          <p:nvPr/>
        </p:nvCxnSpPr>
        <p:spPr>
          <a:xfrm flipV="1">
            <a:off x="5973171" y="4872534"/>
            <a:ext cx="1306977" cy="594122"/>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34" name="Straight Arrow Connector 33">
            <a:extLst>
              <a:ext uri="{FF2B5EF4-FFF2-40B4-BE49-F238E27FC236}">
                <a16:creationId xmlns:a16="http://schemas.microsoft.com/office/drawing/2014/main" id="{9DE4DE9A-3F21-F5C1-EB2C-96A1D1DCE680}"/>
              </a:ext>
            </a:extLst>
          </p:cNvPr>
          <p:cNvCxnSpPr>
            <a:cxnSpLocks/>
          </p:cNvCxnSpPr>
          <p:nvPr/>
        </p:nvCxnSpPr>
        <p:spPr>
          <a:xfrm flipH="1" flipV="1">
            <a:off x="8752356" y="4872534"/>
            <a:ext cx="396197" cy="72304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40" name="Rectangle 39">
            <a:extLst>
              <a:ext uri="{FF2B5EF4-FFF2-40B4-BE49-F238E27FC236}">
                <a16:creationId xmlns:a16="http://schemas.microsoft.com/office/drawing/2014/main" id="{95B10A52-59D2-EA54-B9FD-D81AE99ABD5E}"/>
              </a:ext>
            </a:extLst>
          </p:cNvPr>
          <p:cNvSpPr/>
          <p:nvPr/>
        </p:nvSpPr>
        <p:spPr>
          <a:xfrm>
            <a:off x="6994070" y="3871594"/>
            <a:ext cx="2480161" cy="941695"/>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Top 5 producer of the world’s seaweed</a:t>
            </a:r>
            <a:endParaRPr lang="en-CA"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9144000" cy="320040"/>
          </a:xfrm>
          <a:prstGeom prst="rect">
            <a:avLst/>
          </a:prstGeom>
          <a:noFill/>
        </p:spPr>
        <p:txBody>
          <a:bodyPr wrap="square" lIns="45720" tIns="18288" rIns="45720" bIns="18288" anchor="t">
            <a:spAutoFit/>
          </a:bodyPr>
          <a:lstStyle/>
          <a:p>
            <a:pPr algn="l"/>
            <a:r>
              <a:rPr sz="1200" b="1">
                <a:solidFill>
                  <a:srgbClr val="0D9488"/>
                </a:solidFill>
                <a:latin typeface="Calibri"/>
              </a:rPr>
              <a:t>EDA · INSIGHT 3</a:t>
            </a:r>
          </a:p>
        </p:txBody>
      </p:sp>
      <p:sp>
        <p:nvSpPr>
          <p:cNvPr id="4" name="TextBox 3"/>
          <p:cNvSpPr txBox="1"/>
          <p:nvPr/>
        </p:nvSpPr>
        <p:spPr>
          <a:xfrm>
            <a:off x="548640" y="594360"/>
            <a:ext cx="10972800" cy="640080"/>
          </a:xfrm>
          <a:prstGeom prst="rect">
            <a:avLst/>
          </a:prstGeom>
          <a:noFill/>
        </p:spPr>
        <p:txBody>
          <a:bodyPr wrap="square" lIns="45720" tIns="18288" rIns="45720" bIns="18288" anchor="t">
            <a:spAutoFit/>
          </a:bodyPr>
          <a:lstStyle/>
          <a:p>
            <a:pPr algn="l"/>
            <a:r>
              <a:rPr sz="3000" b="1">
                <a:solidFill>
                  <a:srgbClr val="111827"/>
                </a:solidFill>
                <a:latin typeface="Calibri"/>
              </a:rPr>
              <a:t>Kenya is the fastest-growing producer between 2010 and 2020</a:t>
            </a:r>
          </a:p>
        </p:txBody>
      </p:sp>
      <p:sp>
        <p:nvSpPr>
          <p:cNvPr id="5" name="TextBox 4"/>
          <p:cNvSpPr txBox="1"/>
          <p:nvPr/>
        </p:nvSpPr>
        <p:spPr>
          <a:xfrm>
            <a:off x="548640" y="1554480"/>
            <a:ext cx="5547360" cy="2722540"/>
          </a:xfrm>
          <a:prstGeom prst="rect">
            <a:avLst/>
          </a:prstGeom>
          <a:noFill/>
        </p:spPr>
        <p:txBody>
          <a:bodyPr wrap="square" lIns="45720" rIns="45720">
            <a:spAutoFit/>
          </a:bodyPr>
          <a:lstStyle/>
          <a:p>
            <a:pPr algn="l">
              <a:lnSpc>
                <a:spcPct val="135000"/>
              </a:lnSpc>
            </a:pPr>
            <a:r>
              <a:rPr sz="1600" b="1" dirty="0">
                <a:solidFill>
                  <a:srgbClr val="0D9488"/>
                </a:solidFill>
                <a:latin typeface="Calibri"/>
              </a:rPr>
              <a:t>●  </a:t>
            </a:r>
            <a:r>
              <a:rPr sz="1600" dirty="0">
                <a:solidFill>
                  <a:srgbClr val="111827"/>
                </a:solidFill>
                <a:latin typeface="Calibri"/>
              </a:rPr>
              <a:t>Kenya led the world in growth rate from 2010 → 2020 at  (≈ 21.25× starting volume).</a:t>
            </a:r>
          </a:p>
          <a:p>
            <a:pPr algn="l">
              <a:lnSpc>
                <a:spcPct val="135000"/>
              </a:lnSpc>
            </a:pPr>
            <a:r>
              <a:rPr sz="1600" b="1" dirty="0">
                <a:solidFill>
                  <a:srgbClr val="0D9488"/>
                </a:solidFill>
                <a:latin typeface="Calibri"/>
              </a:rPr>
              <a:t>●  </a:t>
            </a:r>
            <a:r>
              <a:rPr sz="1600" dirty="0">
                <a:solidFill>
                  <a:srgbClr val="111827"/>
                </a:solidFill>
                <a:latin typeface="Calibri"/>
              </a:rPr>
              <a:t>Several African and small-island economies showed similarly fast (but small-base) growth.</a:t>
            </a:r>
          </a:p>
          <a:p>
            <a:pPr algn="l">
              <a:lnSpc>
                <a:spcPct val="135000"/>
              </a:lnSpc>
            </a:pPr>
            <a:r>
              <a:rPr sz="1600" b="1" dirty="0">
                <a:solidFill>
                  <a:srgbClr val="0D9488"/>
                </a:solidFill>
                <a:latin typeface="Calibri"/>
              </a:rPr>
              <a:t>●  </a:t>
            </a:r>
            <a:r>
              <a:rPr sz="1600" dirty="0">
                <a:solidFill>
                  <a:srgbClr val="111827"/>
                </a:solidFill>
                <a:latin typeface="Calibri"/>
              </a:rPr>
              <a:t>Caveat: when the starting base is tiny, growth rates look dramatic still useful as a signal for where capacity is being built.</a:t>
            </a:r>
          </a:p>
          <a:p>
            <a:pPr algn="l">
              <a:lnSpc>
                <a:spcPct val="135000"/>
              </a:lnSpc>
            </a:pPr>
            <a:r>
              <a:rPr sz="1600" b="1" dirty="0">
                <a:solidFill>
                  <a:srgbClr val="0D9488"/>
                </a:solidFill>
                <a:latin typeface="Calibri"/>
              </a:rPr>
              <a:t>●  </a:t>
            </a:r>
            <a:r>
              <a:rPr sz="1600" dirty="0">
                <a:solidFill>
                  <a:srgbClr val="111827"/>
                </a:solidFill>
                <a:latin typeface="Calibri"/>
              </a:rPr>
              <a:t>Watching emerging producers helps PSIA spot which markets might matter in 5–10 years.</a:t>
            </a:r>
          </a:p>
        </p:txBody>
      </p:sp>
      <p:sp>
        <p:nvSpPr>
          <p:cNvPr id="6" name="Rectangle 5"/>
          <p:cNvSpPr/>
          <p:nvPr/>
        </p:nvSpPr>
        <p:spPr>
          <a:xfrm>
            <a:off x="6286767" y="1528140"/>
            <a:ext cx="2552131" cy="420624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47067" y="1860710"/>
            <a:ext cx="3566160" cy="457200"/>
          </a:xfrm>
          <a:prstGeom prst="rect">
            <a:avLst/>
          </a:prstGeom>
          <a:noFill/>
        </p:spPr>
        <p:txBody>
          <a:bodyPr wrap="square" lIns="45720" tIns="18288" rIns="45720" bIns="18288" anchor="t">
            <a:spAutoFit/>
          </a:bodyPr>
          <a:lstStyle/>
          <a:p>
            <a:pPr algn="l"/>
            <a:r>
              <a:rPr sz="1200" b="1" dirty="0">
                <a:solidFill>
                  <a:srgbClr val="CCFBF1"/>
                </a:solidFill>
                <a:latin typeface="Calibri"/>
              </a:rPr>
              <a:t>FASTEST GROWTH</a:t>
            </a:r>
          </a:p>
        </p:txBody>
      </p:sp>
      <p:sp>
        <p:nvSpPr>
          <p:cNvPr id="8" name="TextBox 7"/>
          <p:cNvSpPr txBox="1"/>
          <p:nvPr/>
        </p:nvSpPr>
        <p:spPr>
          <a:xfrm>
            <a:off x="6647067" y="2396820"/>
            <a:ext cx="3566160" cy="1371600"/>
          </a:xfrm>
          <a:prstGeom prst="rect">
            <a:avLst/>
          </a:prstGeom>
          <a:noFill/>
        </p:spPr>
        <p:txBody>
          <a:bodyPr wrap="square" lIns="45720" tIns="18288" rIns="45720" bIns="18288" anchor="t">
            <a:spAutoFit/>
          </a:bodyPr>
          <a:lstStyle/>
          <a:p>
            <a:pPr algn="l"/>
            <a:r>
              <a:rPr sz="4400" b="1" dirty="0">
                <a:solidFill>
                  <a:srgbClr val="FFFFFF"/>
                </a:solidFill>
                <a:latin typeface="Calibri"/>
              </a:rPr>
              <a:t>Kenya</a:t>
            </a:r>
          </a:p>
        </p:txBody>
      </p:sp>
      <p:sp>
        <p:nvSpPr>
          <p:cNvPr id="9" name="TextBox 8"/>
          <p:cNvSpPr txBox="1"/>
          <p:nvPr/>
        </p:nvSpPr>
        <p:spPr>
          <a:xfrm>
            <a:off x="6647067" y="3638084"/>
            <a:ext cx="3566160" cy="640080"/>
          </a:xfrm>
          <a:prstGeom prst="rect">
            <a:avLst/>
          </a:prstGeom>
          <a:noFill/>
        </p:spPr>
        <p:txBody>
          <a:bodyPr wrap="square" lIns="45720" tIns="18288" rIns="45720" bIns="18288" anchor="t">
            <a:spAutoFit/>
          </a:bodyPr>
          <a:lstStyle/>
          <a:p>
            <a:pPr algn="l"/>
            <a:r>
              <a:rPr sz="2200" b="1" dirty="0">
                <a:solidFill>
                  <a:srgbClr val="CCFBF1"/>
                </a:solidFill>
                <a:latin typeface="Calibri"/>
              </a:rPr>
              <a:t>+21.25× growth</a:t>
            </a:r>
          </a:p>
        </p:txBody>
      </p:sp>
      <p:sp>
        <p:nvSpPr>
          <p:cNvPr id="10" name="TextBox 9"/>
          <p:cNvSpPr txBox="1"/>
          <p:nvPr/>
        </p:nvSpPr>
        <p:spPr>
          <a:xfrm>
            <a:off x="6738508" y="4278164"/>
            <a:ext cx="3566160" cy="548640"/>
          </a:xfrm>
          <a:prstGeom prst="rect">
            <a:avLst/>
          </a:prstGeom>
          <a:noFill/>
        </p:spPr>
        <p:txBody>
          <a:bodyPr wrap="square" lIns="45720" tIns="18288" rIns="45720" bIns="18288" anchor="t">
            <a:spAutoFit/>
          </a:bodyPr>
          <a:lstStyle/>
          <a:p>
            <a:pPr algn="l"/>
            <a:r>
              <a:rPr sz="1400" b="0">
                <a:solidFill>
                  <a:srgbClr val="FFFFFF"/>
                </a:solidFill>
                <a:latin typeface="Calibri"/>
              </a:rPr>
              <a:t>2010 → 2020</a:t>
            </a:r>
          </a:p>
        </p:txBody>
      </p:sp>
      <p:sp>
        <p:nvSpPr>
          <p:cNvPr id="11" name="TextBox 10"/>
          <p:cNvSpPr txBox="1"/>
          <p:nvPr/>
        </p:nvSpPr>
        <p:spPr>
          <a:xfrm>
            <a:off x="6599299" y="4718304"/>
            <a:ext cx="3566160" cy="822960"/>
          </a:xfrm>
          <a:prstGeom prst="rect">
            <a:avLst/>
          </a:prstGeom>
          <a:noFill/>
        </p:spPr>
        <p:txBody>
          <a:bodyPr wrap="square" lIns="45720" tIns="18288" rIns="45720" bIns="18288" anchor="t">
            <a:spAutoFit/>
          </a:bodyPr>
          <a:lstStyle/>
          <a:p>
            <a:pPr algn="l"/>
            <a:r>
              <a:rPr sz="1100" b="0">
                <a:solidFill>
                  <a:srgbClr val="CCFBF1"/>
                </a:solidFill>
                <a:latin typeface="Calibri"/>
              </a:rPr>
              <a:t>Source: AI chat query · live result</a:t>
            </a:r>
          </a:p>
        </p:txBody>
      </p:sp>
      <p:sp>
        <p:nvSpPr>
          <p:cNvPr id="12" name="TextBox 11"/>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a:solidFill>
                  <a:srgbClr val="4B5563"/>
                </a:solidFill>
                <a:latin typeface="Calibri"/>
              </a:rPr>
              <a:t>Seaweed Industry  ·  Capstone Mid-Term</a:t>
            </a:r>
          </a:p>
        </p:txBody>
      </p:sp>
      <p:sp>
        <p:nvSpPr>
          <p:cNvPr id="13" name="TextBox 12"/>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9 / 28</a:t>
            </a:r>
          </a:p>
        </p:txBody>
      </p:sp>
      <p:pic>
        <p:nvPicPr>
          <p:cNvPr id="14" name="Picture 13" descr="Which country had the fastest growth in seaweed production between 2010 and 2020.png">
            <a:extLst>
              <a:ext uri="{FF2B5EF4-FFF2-40B4-BE49-F238E27FC236}">
                <a16:creationId xmlns:a16="http://schemas.microsoft.com/office/drawing/2014/main" id="{D82365DA-89B5-4416-FD7B-79ABB0063E10}"/>
              </a:ext>
            </a:extLst>
          </p:cNvPr>
          <p:cNvPicPr>
            <a:picLocks noChangeAspect="1"/>
          </p:cNvPicPr>
          <p:nvPr/>
        </p:nvPicPr>
        <p:blipFill>
          <a:blip r:embed="rId3"/>
          <a:stretch>
            <a:fillRect/>
          </a:stretch>
        </p:blipFill>
        <p:spPr>
          <a:xfrm>
            <a:off x="8978107" y="1536191"/>
            <a:ext cx="2543333" cy="433916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9144000" cy="320040"/>
          </a:xfrm>
          <a:prstGeom prst="rect">
            <a:avLst/>
          </a:prstGeom>
          <a:noFill/>
        </p:spPr>
        <p:txBody>
          <a:bodyPr wrap="square" lIns="45720" tIns="18288" rIns="45720" bIns="18288" anchor="t">
            <a:spAutoFit/>
          </a:bodyPr>
          <a:lstStyle/>
          <a:p>
            <a:pPr algn="l"/>
            <a:r>
              <a:rPr sz="1200" b="1">
                <a:solidFill>
                  <a:srgbClr val="0D9488"/>
                </a:solidFill>
                <a:latin typeface="Calibri"/>
              </a:rPr>
              <a:t>EDA · INSIGHT 4</a:t>
            </a:r>
          </a:p>
        </p:txBody>
      </p:sp>
      <p:sp>
        <p:nvSpPr>
          <p:cNvPr id="4" name="TextBox 3"/>
          <p:cNvSpPr txBox="1"/>
          <p:nvPr/>
        </p:nvSpPr>
        <p:spPr>
          <a:xfrm>
            <a:off x="548640" y="594360"/>
            <a:ext cx="10972800" cy="498598"/>
          </a:xfrm>
          <a:prstGeom prst="rect">
            <a:avLst/>
          </a:prstGeom>
          <a:noFill/>
        </p:spPr>
        <p:txBody>
          <a:bodyPr wrap="square" lIns="45720" tIns="18288" rIns="45720" bIns="18288" anchor="t">
            <a:spAutoFit/>
          </a:bodyPr>
          <a:lstStyle/>
          <a:p>
            <a:pPr algn="l"/>
            <a:r>
              <a:rPr sz="3000" b="1" dirty="0">
                <a:solidFill>
                  <a:srgbClr val="111827"/>
                </a:solidFill>
                <a:latin typeface="Calibri"/>
              </a:rPr>
              <a:t>Aquaculture dominates</a:t>
            </a:r>
            <a:r>
              <a:rPr lang="en-US" sz="3000" b="1" dirty="0">
                <a:solidFill>
                  <a:srgbClr val="111827"/>
                </a:solidFill>
                <a:latin typeface="Calibri"/>
              </a:rPr>
              <a:t>: </a:t>
            </a:r>
            <a:r>
              <a:rPr sz="3000" b="1" dirty="0">
                <a:solidFill>
                  <a:srgbClr val="111827"/>
                </a:solidFill>
                <a:latin typeface="Calibri"/>
              </a:rPr>
              <a:t>wild capture has been flat for 40 years</a:t>
            </a:r>
          </a:p>
        </p:txBody>
      </p:sp>
      <p:sp>
        <p:nvSpPr>
          <p:cNvPr id="5" name="TextBox 4"/>
          <p:cNvSpPr txBox="1"/>
          <p:nvPr/>
        </p:nvSpPr>
        <p:spPr>
          <a:xfrm>
            <a:off x="548639" y="1554480"/>
            <a:ext cx="7469421" cy="2057743"/>
          </a:xfrm>
          <a:prstGeom prst="rect">
            <a:avLst/>
          </a:prstGeom>
          <a:noFill/>
        </p:spPr>
        <p:txBody>
          <a:bodyPr wrap="square" lIns="45720" rIns="45720">
            <a:spAutoFit/>
          </a:bodyPr>
          <a:lstStyle/>
          <a:p>
            <a:pPr algn="l">
              <a:lnSpc>
                <a:spcPct val="135000"/>
              </a:lnSpc>
            </a:pPr>
            <a:r>
              <a:rPr sz="1600" b="1" dirty="0">
                <a:solidFill>
                  <a:srgbClr val="0D9488"/>
                </a:solidFill>
                <a:latin typeface="Calibri"/>
              </a:rPr>
              <a:t>●  </a:t>
            </a:r>
            <a:r>
              <a:rPr sz="1600" dirty="0">
                <a:solidFill>
                  <a:srgbClr val="111827"/>
                </a:solidFill>
                <a:latin typeface="Calibri"/>
              </a:rPr>
              <a:t>Wild capture volumes have been roughly flat since the early 1980s.</a:t>
            </a:r>
          </a:p>
          <a:p>
            <a:pPr algn="l">
              <a:lnSpc>
                <a:spcPct val="135000"/>
              </a:lnSpc>
            </a:pPr>
            <a:r>
              <a:rPr sz="1600" b="1" dirty="0">
                <a:solidFill>
                  <a:srgbClr val="0D9488"/>
                </a:solidFill>
                <a:latin typeface="Calibri"/>
              </a:rPr>
              <a:t>●  </a:t>
            </a:r>
            <a:r>
              <a:rPr sz="1600" dirty="0">
                <a:solidFill>
                  <a:srgbClr val="111827"/>
                </a:solidFill>
                <a:latin typeface="Calibri"/>
              </a:rPr>
              <a:t>Aquaculture volumes are now ~97% of global seaweed production.</a:t>
            </a:r>
          </a:p>
          <a:p>
            <a:pPr algn="l">
              <a:lnSpc>
                <a:spcPct val="135000"/>
              </a:lnSpc>
            </a:pPr>
            <a:r>
              <a:rPr sz="1600" b="1" dirty="0">
                <a:solidFill>
                  <a:srgbClr val="0D9488"/>
                </a:solidFill>
                <a:latin typeface="Calibri"/>
              </a:rPr>
              <a:t>●  </a:t>
            </a:r>
            <a:r>
              <a:rPr sz="1600" dirty="0">
                <a:solidFill>
                  <a:srgbClr val="111827"/>
                </a:solidFill>
                <a:latin typeface="Calibri"/>
              </a:rPr>
              <a:t>The structural shift mirrors what happened in finfish farmed surpassed wild decades ago.</a:t>
            </a:r>
          </a:p>
          <a:p>
            <a:pPr algn="l">
              <a:lnSpc>
                <a:spcPct val="135000"/>
              </a:lnSpc>
            </a:pPr>
            <a:r>
              <a:rPr sz="1600" b="1" dirty="0">
                <a:solidFill>
                  <a:srgbClr val="0D9488"/>
                </a:solidFill>
                <a:latin typeface="Calibri"/>
              </a:rPr>
              <a:t>●  </a:t>
            </a:r>
            <a:r>
              <a:rPr sz="1600" dirty="0">
                <a:solidFill>
                  <a:srgbClr val="111827"/>
                </a:solidFill>
                <a:latin typeface="Calibri"/>
              </a:rPr>
              <a:t>Implication: any future-supply analysis is really an aquaculture analysis. Wild capture is a footnote.</a:t>
            </a:r>
          </a:p>
        </p:txBody>
      </p:sp>
      <p:sp>
        <p:nvSpPr>
          <p:cNvPr id="9" name="TextBox 8"/>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a:solidFill>
                  <a:srgbClr val="4B5563"/>
                </a:solidFill>
                <a:latin typeface="Calibri"/>
              </a:rPr>
              <a:t>Seaweed Industry  ·  Capstone Mid-Term</a:t>
            </a:r>
          </a:p>
        </p:txBody>
      </p:sp>
      <p:sp>
        <p:nvSpPr>
          <p:cNvPr id="10" name="TextBox 9"/>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10 / 28</a:t>
            </a:r>
          </a:p>
        </p:txBody>
      </p:sp>
      <p:pic>
        <p:nvPicPr>
          <p:cNvPr id="16" name="Picture 15">
            <a:extLst>
              <a:ext uri="{FF2B5EF4-FFF2-40B4-BE49-F238E27FC236}">
                <a16:creationId xmlns:a16="http://schemas.microsoft.com/office/drawing/2014/main" id="{6BF18DB3-5E52-7D49-742B-4298B28487A3}"/>
              </a:ext>
            </a:extLst>
          </p:cNvPr>
          <p:cNvPicPr>
            <a:picLocks noChangeAspect="1"/>
          </p:cNvPicPr>
          <p:nvPr/>
        </p:nvPicPr>
        <p:blipFill>
          <a:blip r:embed="rId3"/>
          <a:srcRect t="27479"/>
          <a:stretch>
            <a:fillRect/>
          </a:stretch>
        </p:blipFill>
        <p:spPr>
          <a:xfrm>
            <a:off x="532771" y="3818538"/>
            <a:ext cx="9401244" cy="2256662"/>
          </a:xfrm>
          <a:prstGeom prst="rect">
            <a:avLst/>
          </a:prstGeom>
        </p:spPr>
      </p:pic>
      <p:pic>
        <p:nvPicPr>
          <p:cNvPr id="14" name="Picture 13">
            <a:extLst>
              <a:ext uri="{FF2B5EF4-FFF2-40B4-BE49-F238E27FC236}">
                <a16:creationId xmlns:a16="http://schemas.microsoft.com/office/drawing/2014/main" id="{CC5D74EF-4C9F-A5E7-9CF6-393377BF4F50}"/>
              </a:ext>
            </a:extLst>
          </p:cNvPr>
          <p:cNvPicPr>
            <a:picLocks noChangeAspect="1"/>
          </p:cNvPicPr>
          <p:nvPr/>
        </p:nvPicPr>
        <p:blipFill>
          <a:blip r:embed="rId4"/>
          <a:stretch>
            <a:fillRect/>
          </a:stretch>
        </p:blipFill>
        <p:spPr>
          <a:xfrm>
            <a:off x="8018060" y="1163305"/>
            <a:ext cx="3831910" cy="28417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9144000" cy="320040"/>
          </a:xfrm>
          <a:prstGeom prst="rect">
            <a:avLst/>
          </a:prstGeom>
          <a:noFill/>
        </p:spPr>
        <p:txBody>
          <a:bodyPr wrap="square" lIns="45720" tIns="18288" rIns="45720" bIns="18288" anchor="t">
            <a:spAutoFit/>
          </a:bodyPr>
          <a:lstStyle/>
          <a:p>
            <a:pPr algn="l"/>
            <a:r>
              <a:rPr sz="1200" b="1">
                <a:solidFill>
                  <a:srgbClr val="0D9488"/>
                </a:solidFill>
                <a:latin typeface="Calibri"/>
              </a:rPr>
              <a:t>KPI · #1</a:t>
            </a:r>
          </a:p>
        </p:txBody>
      </p:sp>
      <p:sp>
        <p:nvSpPr>
          <p:cNvPr id="4" name="TextBox 3"/>
          <p:cNvSpPr txBox="1"/>
          <p:nvPr/>
        </p:nvSpPr>
        <p:spPr>
          <a:xfrm>
            <a:off x="548640" y="594360"/>
            <a:ext cx="10972800" cy="640080"/>
          </a:xfrm>
          <a:prstGeom prst="rect">
            <a:avLst/>
          </a:prstGeom>
          <a:noFill/>
        </p:spPr>
        <p:txBody>
          <a:bodyPr wrap="square" lIns="45720" tIns="18288" rIns="45720" bIns="18288" anchor="t">
            <a:spAutoFit/>
          </a:bodyPr>
          <a:lstStyle/>
          <a:p>
            <a:pPr algn="l"/>
            <a:r>
              <a:rPr sz="3000" b="1">
                <a:solidFill>
                  <a:srgbClr val="111827"/>
                </a:solidFill>
                <a:latin typeface="Calibri"/>
              </a:rPr>
              <a:t>Export Value of Seaweed Products</a:t>
            </a:r>
          </a:p>
        </p:txBody>
      </p:sp>
      <p:sp>
        <p:nvSpPr>
          <p:cNvPr id="9" name="TextBox 8"/>
          <p:cNvSpPr txBox="1"/>
          <p:nvPr/>
        </p:nvSpPr>
        <p:spPr>
          <a:xfrm>
            <a:off x="548640" y="1316052"/>
            <a:ext cx="10424160" cy="1268424"/>
          </a:xfrm>
          <a:prstGeom prst="rect">
            <a:avLst/>
          </a:prstGeom>
          <a:noFill/>
        </p:spPr>
        <p:txBody>
          <a:bodyPr wrap="square" lIns="45720" rIns="45720">
            <a:spAutoFit/>
          </a:bodyPr>
          <a:lstStyle/>
          <a:p>
            <a:pPr algn="l">
              <a:lnSpc>
                <a:spcPct val="130000"/>
              </a:lnSpc>
            </a:pPr>
            <a:r>
              <a:rPr sz="1500" b="1" dirty="0">
                <a:solidFill>
                  <a:srgbClr val="0D9488"/>
                </a:solidFill>
                <a:latin typeface="Calibri"/>
              </a:rPr>
              <a:t>●  </a:t>
            </a:r>
            <a:r>
              <a:rPr sz="1500" dirty="0">
                <a:solidFill>
                  <a:srgbClr val="111827"/>
                </a:solidFill>
                <a:latin typeface="Calibri"/>
              </a:rPr>
              <a:t>Tracks dollars flowing out of producing nations through exports.</a:t>
            </a:r>
          </a:p>
          <a:p>
            <a:pPr algn="l">
              <a:lnSpc>
                <a:spcPct val="130000"/>
              </a:lnSpc>
            </a:pPr>
            <a:r>
              <a:rPr sz="1500" b="1" dirty="0">
                <a:solidFill>
                  <a:srgbClr val="0D9488"/>
                </a:solidFill>
                <a:latin typeface="Calibri"/>
              </a:rPr>
              <a:t>●  </a:t>
            </a:r>
            <a:r>
              <a:rPr sz="1500" dirty="0">
                <a:solidFill>
                  <a:srgbClr val="111827"/>
                </a:solidFill>
                <a:latin typeface="Calibri"/>
              </a:rPr>
              <a:t>Volatility tied to currency, demand shocks (e.g., Asian food markets), and species mix.</a:t>
            </a:r>
          </a:p>
          <a:p>
            <a:pPr algn="l">
              <a:lnSpc>
                <a:spcPct val="130000"/>
              </a:lnSpc>
            </a:pPr>
            <a:r>
              <a:rPr sz="1500" b="1" dirty="0">
                <a:solidFill>
                  <a:srgbClr val="0D9488"/>
                </a:solidFill>
                <a:latin typeface="Calibri"/>
              </a:rPr>
              <a:t>●  </a:t>
            </a:r>
            <a:r>
              <a:rPr sz="1500" dirty="0">
                <a:solidFill>
                  <a:srgbClr val="111827"/>
                </a:solidFill>
                <a:latin typeface="Calibri"/>
              </a:rPr>
              <a:t>China and Indonesia again dominate, but Republic of Korea punches above its volume share on value.</a:t>
            </a:r>
          </a:p>
          <a:p>
            <a:pPr algn="l">
              <a:lnSpc>
                <a:spcPct val="130000"/>
              </a:lnSpc>
            </a:pPr>
            <a:r>
              <a:rPr sz="1500" b="1" dirty="0">
                <a:solidFill>
                  <a:srgbClr val="0D9488"/>
                </a:solidFill>
                <a:latin typeface="Calibri"/>
              </a:rPr>
              <a:t>●  </a:t>
            </a:r>
            <a:r>
              <a:rPr sz="1500" dirty="0">
                <a:solidFill>
                  <a:srgbClr val="111827"/>
                </a:solidFill>
                <a:latin typeface="Calibri"/>
              </a:rPr>
              <a:t>Useful for understanding which countries capture economic value vs. just produce volume.</a:t>
            </a:r>
          </a:p>
        </p:txBody>
      </p:sp>
      <p:sp>
        <p:nvSpPr>
          <p:cNvPr id="13" name="TextBox 12"/>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a:solidFill>
                  <a:srgbClr val="4B5563"/>
                </a:solidFill>
                <a:latin typeface="Calibri"/>
              </a:rPr>
              <a:t>Seaweed Industry  ·  Capstone Mid-Term</a:t>
            </a:r>
          </a:p>
        </p:txBody>
      </p:sp>
      <p:sp>
        <p:nvSpPr>
          <p:cNvPr id="14" name="TextBox 13"/>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11 / 28</a:t>
            </a:r>
          </a:p>
        </p:txBody>
      </p:sp>
      <p:pic>
        <p:nvPicPr>
          <p:cNvPr id="16" name="Picture 15">
            <a:extLst>
              <a:ext uri="{FF2B5EF4-FFF2-40B4-BE49-F238E27FC236}">
                <a16:creationId xmlns:a16="http://schemas.microsoft.com/office/drawing/2014/main" id="{DA2110F9-E9A9-2075-0FAD-51A7FCB5481B}"/>
              </a:ext>
            </a:extLst>
          </p:cNvPr>
          <p:cNvPicPr>
            <a:picLocks noChangeAspect="1"/>
          </p:cNvPicPr>
          <p:nvPr/>
        </p:nvPicPr>
        <p:blipFill>
          <a:blip r:embed="rId3"/>
          <a:srcRect t="19221"/>
          <a:stretch>
            <a:fillRect/>
          </a:stretch>
        </p:blipFill>
        <p:spPr>
          <a:xfrm>
            <a:off x="548640" y="3031909"/>
            <a:ext cx="11092256" cy="294434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9144000" cy="320040"/>
          </a:xfrm>
          <a:prstGeom prst="rect">
            <a:avLst/>
          </a:prstGeom>
          <a:noFill/>
        </p:spPr>
        <p:txBody>
          <a:bodyPr wrap="square" lIns="45720" tIns="18288" rIns="45720" bIns="18288" anchor="t">
            <a:spAutoFit/>
          </a:bodyPr>
          <a:lstStyle/>
          <a:p>
            <a:pPr algn="l"/>
            <a:r>
              <a:rPr sz="1200" b="1">
                <a:solidFill>
                  <a:srgbClr val="0D9488"/>
                </a:solidFill>
                <a:latin typeface="Calibri"/>
              </a:rPr>
              <a:t>KPI · #2</a:t>
            </a:r>
          </a:p>
        </p:txBody>
      </p:sp>
      <p:sp>
        <p:nvSpPr>
          <p:cNvPr id="4" name="TextBox 3"/>
          <p:cNvSpPr txBox="1"/>
          <p:nvPr/>
        </p:nvSpPr>
        <p:spPr>
          <a:xfrm>
            <a:off x="548640" y="594360"/>
            <a:ext cx="10972800" cy="640080"/>
          </a:xfrm>
          <a:prstGeom prst="rect">
            <a:avLst/>
          </a:prstGeom>
          <a:noFill/>
        </p:spPr>
        <p:txBody>
          <a:bodyPr wrap="square" lIns="45720" tIns="18288" rIns="45720" bIns="18288" anchor="t">
            <a:spAutoFit/>
          </a:bodyPr>
          <a:lstStyle/>
          <a:p>
            <a:pPr algn="l"/>
            <a:r>
              <a:rPr sz="3000" b="1">
                <a:solidFill>
                  <a:srgbClr val="111827"/>
                </a:solidFill>
                <a:latin typeface="Calibri"/>
              </a:rPr>
              <a:t>Gross Value of Industry Output</a:t>
            </a:r>
          </a:p>
        </p:txBody>
      </p:sp>
      <p:sp>
        <p:nvSpPr>
          <p:cNvPr id="9" name="TextBox 8"/>
          <p:cNvSpPr txBox="1"/>
          <p:nvPr/>
        </p:nvSpPr>
        <p:spPr>
          <a:xfrm>
            <a:off x="548640" y="1236482"/>
            <a:ext cx="10424160" cy="1268424"/>
          </a:xfrm>
          <a:prstGeom prst="rect">
            <a:avLst/>
          </a:prstGeom>
          <a:noFill/>
        </p:spPr>
        <p:txBody>
          <a:bodyPr wrap="square" lIns="45720" rIns="45720">
            <a:spAutoFit/>
          </a:bodyPr>
          <a:lstStyle/>
          <a:p>
            <a:pPr algn="l">
              <a:lnSpc>
                <a:spcPct val="130000"/>
              </a:lnSpc>
            </a:pPr>
            <a:r>
              <a:rPr sz="1500" b="1" dirty="0">
                <a:solidFill>
                  <a:srgbClr val="0D9488"/>
                </a:solidFill>
                <a:latin typeface="Calibri"/>
              </a:rPr>
              <a:t>●  </a:t>
            </a:r>
            <a:r>
              <a:rPr sz="1500" dirty="0">
                <a:solidFill>
                  <a:srgbClr val="111827"/>
                </a:solidFill>
                <a:latin typeface="Calibri"/>
              </a:rPr>
              <a:t>Aquaculture value + capture value combined, by country and by year.</a:t>
            </a:r>
          </a:p>
          <a:p>
            <a:pPr algn="l">
              <a:lnSpc>
                <a:spcPct val="130000"/>
              </a:lnSpc>
            </a:pPr>
            <a:r>
              <a:rPr sz="1500" b="1" dirty="0">
                <a:solidFill>
                  <a:srgbClr val="0D9488"/>
                </a:solidFill>
                <a:latin typeface="Calibri"/>
              </a:rPr>
              <a:t>●  </a:t>
            </a:r>
            <a:r>
              <a:rPr sz="1500" dirty="0">
                <a:solidFill>
                  <a:srgbClr val="111827"/>
                </a:solidFill>
                <a:latin typeface="Calibri"/>
              </a:rPr>
              <a:t>Reveals the true economic size of the global seaweed sector.</a:t>
            </a:r>
          </a:p>
          <a:p>
            <a:pPr algn="l">
              <a:lnSpc>
                <a:spcPct val="130000"/>
              </a:lnSpc>
            </a:pPr>
            <a:r>
              <a:rPr sz="1500" b="1" dirty="0">
                <a:solidFill>
                  <a:srgbClr val="0D9488"/>
                </a:solidFill>
                <a:latin typeface="Calibri"/>
              </a:rPr>
              <a:t>●  </a:t>
            </a:r>
            <a:r>
              <a:rPr sz="1500" dirty="0">
                <a:solidFill>
                  <a:srgbClr val="111827"/>
                </a:solidFill>
                <a:latin typeface="Calibri"/>
              </a:rPr>
              <a:t>Aquaculture value far exceeds capture value  consistent with the volume picture.</a:t>
            </a:r>
          </a:p>
          <a:p>
            <a:pPr algn="l">
              <a:lnSpc>
                <a:spcPct val="130000"/>
              </a:lnSpc>
            </a:pPr>
            <a:r>
              <a:rPr sz="1500" b="1" dirty="0">
                <a:solidFill>
                  <a:srgbClr val="0D9488"/>
                </a:solidFill>
                <a:latin typeface="Calibri"/>
              </a:rPr>
              <a:t>●  </a:t>
            </a:r>
            <a:r>
              <a:rPr sz="1500" dirty="0">
                <a:solidFill>
                  <a:srgbClr val="111827"/>
                </a:solidFill>
                <a:latin typeface="Calibri"/>
              </a:rPr>
              <a:t>A useful sanity check: gross output should roughly track production × average price.</a:t>
            </a:r>
          </a:p>
        </p:txBody>
      </p:sp>
      <p:sp>
        <p:nvSpPr>
          <p:cNvPr id="13" name="TextBox 12"/>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a:solidFill>
                  <a:srgbClr val="4B5563"/>
                </a:solidFill>
                <a:latin typeface="Calibri"/>
              </a:rPr>
              <a:t>Seaweed Industry  ·  Capstone Mid-Term</a:t>
            </a:r>
          </a:p>
        </p:txBody>
      </p:sp>
      <p:sp>
        <p:nvSpPr>
          <p:cNvPr id="14" name="TextBox 13"/>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12 / 28</a:t>
            </a:r>
          </a:p>
        </p:txBody>
      </p:sp>
      <p:pic>
        <p:nvPicPr>
          <p:cNvPr id="16" name="Picture 15">
            <a:extLst>
              <a:ext uri="{FF2B5EF4-FFF2-40B4-BE49-F238E27FC236}">
                <a16:creationId xmlns:a16="http://schemas.microsoft.com/office/drawing/2014/main" id="{C8E2782F-D86C-B75C-12CE-F4655611E9E2}"/>
              </a:ext>
            </a:extLst>
          </p:cNvPr>
          <p:cNvPicPr>
            <a:picLocks noChangeAspect="1"/>
          </p:cNvPicPr>
          <p:nvPr/>
        </p:nvPicPr>
        <p:blipFill>
          <a:blip r:embed="rId3"/>
          <a:srcRect l="2416" t="22273" r="2311" b="4779"/>
          <a:stretch>
            <a:fillRect/>
          </a:stretch>
        </p:blipFill>
        <p:spPr>
          <a:xfrm>
            <a:off x="548640" y="2830037"/>
            <a:ext cx="10554789" cy="299469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9144000" cy="320040"/>
          </a:xfrm>
          <a:prstGeom prst="rect">
            <a:avLst/>
          </a:prstGeom>
          <a:noFill/>
        </p:spPr>
        <p:txBody>
          <a:bodyPr wrap="square" lIns="45720" tIns="18288" rIns="45720" bIns="18288" anchor="t">
            <a:spAutoFit/>
          </a:bodyPr>
          <a:lstStyle/>
          <a:p>
            <a:pPr algn="l"/>
            <a:r>
              <a:rPr sz="1200" b="1">
                <a:solidFill>
                  <a:srgbClr val="0D9488"/>
                </a:solidFill>
                <a:latin typeface="Calibri"/>
              </a:rPr>
              <a:t>KPI · #3</a:t>
            </a:r>
          </a:p>
        </p:txBody>
      </p:sp>
      <p:sp>
        <p:nvSpPr>
          <p:cNvPr id="4" name="TextBox 3"/>
          <p:cNvSpPr txBox="1"/>
          <p:nvPr/>
        </p:nvSpPr>
        <p:spPr>
          <a:xfrm>
            <a:off x="548640" y="594360"/>
            <a:ext cx="10972800" cy="640080"/>
          </a:xfrm>
          <a:prstGeom prst="rect">
            <a:avLst/>
          </a:prstGeom>
          <a:noFill/>
        </p:spPr>
        <p:txBody>
          <a:bodyPr wrap="square" lIns="45720" tIns="18288" rIns="45720" bIns="18288" anchor="t">
            <a:spAutoFit/>
          </a:bodyPr>
          <a:lstStyle/>
          <a:p>
            <a:pPr algn="l"/>
            <a:r>
              <a:rPr sz="3000" b="1">
                <a:solidFill>
                  <a:srgbClr val="111827"/>
                </a:solidFill>
                <a:latin typeface="Calibri"/>
              </a:rPr>
              <a:t>Value of Seaweed</a:t>
            </a:r>
          </a:p>
        </p:txBody>
      </p:sp>
      <p:sp>
        <p:nvSpPr>
          <p:cNvPr id="9" name="TextBox 8"/>
          <p:cNvSpPr txBox="1"/>
          <p:nvPr/>
        </p:nvSpPr>
        <p:spPr>
          <a:xfrm>
            <a:off x="548640" y="1329115"/>
            <a:ext cx="9771017" cy="1268424"/>
          </a:xfrm>
          <a:prstGeom prst="rect">
            <a:avLst/>
          </a:prstGeom>
          <a:noFill/>
        </p:spPr>
        <p:txBody>
          <a:bodyPr wrap="square" lIns="45720" rIns="45720">
            <a:spAutoFit/>
          </a:bodyPr>
          <a:lstStyle/>
          <a:p>
            <a:pPr algn="l">
              <a:lnSpc>
                <a:spcPct val="130000"/>
              </a:lnSpc>
            </a:pPr>
            <a:r>
              <a:rPr sz="1500" b="1" dirty="0">
                <a:solidFill>
                  <a:srgbClr val="0D9488"/>
                </a:solidFill>
                <a:latin typeface="Calibri"/>
              </a:rPr>
              <a:t>●  </a:t>
            </a:r>
            <a:r>
              <a:rPr sz="1500" dirty="0">
                <a:solidFill>
                  <a:srgbClr val="111827"/>
                </a:solidFill>
                <a:latin typeface="Calibri"/>
              </a:rPr>
              <a:t>Unit economics. Strips out volume to ask: 'what's a pound actually worth?'</a:t>
            </a:r>
          </a:p>
          <a:p>
            <a:pPr algn="l">
              <a:lnSpc>
                <a:spcPct val="130000"/>
              </a:lnSpc>
            </a:pPr>
            <a:r>
              <a:rPr sz="1500" b="1" dirty="0">
                <a:solidFill>
                  <a:srgbClr val="0D9488"/>
                </a:solidFill>
                <a:latin typeface="Calibri"/>
              </a:rPr>
              <a:t>●  </a:t>
            </a:r>
            <a:r>
              <a:rPr sz="1500" dirty="0">
                <a:solidFill>
                  <a:srgbClr val="111827"/>
                </a:solidFill>
                <a:latin typeface="Calibri"/>
              </a:rPr>
              <a:t>Computed as total value ÷ total quantity, by country &amp; year, normalized to USD per pound.</a:t>
            </a:r>
          </a:p>
          <a:p>
            <a:pPr algn="l">
              <a:lnSpc>
                <a:spcPct val="130000"/>
              </a:lnSpc>
            </a:pPr>
            <a:r>
              <a:rPr sz="1500" b="1" dirty="0">
                <a:solidFill>
                  <a:srgbClr val="0D9488"/>
                </a:solidFill>
                <a:latin typeface="Calibri"/>
              </a:rPr>
              <a:t>●  </a:t>
            </a:r>
            <a:r>
              <a:rPr sz="1500" dirty="0">
                <a:solidFill>
                  <a:srgbClr val="111827"/>
                </a:solidFill>
                <a:latin typeface="Calibri"/>
              </a:rPr>
              <a:t>Small-volume producers can have surprisingly high $/</a:t>
            </a:r>
            <a:r>
              <a:rPr sz="1500" dirty="0" err="1">
                <a:solidFill>
                  <a:srgbClr val="111827"/>
                </a:solidFill>
                <a:latin typeface="Calibri"/>
              </a:rPr>
              <a:t>lb</a:t>
            </a:r>
            <a:r>
              <a:rPr sz="1500" dirty="0">
                <a:solidFill>
                  <a:srgbClr val="111827"/>
                </a:solidFill>
                <a:latin typeface="Calibri"/>
              </a:rPr>
              <a:t> (niche species, premium markets).</a:t>
            </a:r>
          </a:p>
          <a:p>
            <a:pPr algn="l">
              <a:lnSpc>
                <a:spcPct val="130000"/>
              </a:lnSpc>
            </a:pPr>
            <a:r>
              <a:rPr sz="1500" b="1" dirty="0">
                <a:solidFill>
                  <a:srgbClr val="0D9488"/>
                </a:solidFill>
                <a:latin typeface="Calibri"/>
              </a:rPr>
              <a:t>●  </a:t>
            </a:r>
            <a:r>
              <a:rPr sz="1500" dirty="0">
                <a:solidFill>
                  <a:srgbClr val="111827"/>
                </a:solidFill>
                <a:latin typeface="Calibri"/>
              </a:rPr>
              <a:t>Helps identify high-margin opportunities outside the high-volume players.</a:t>
            </a:r>
          </a:p>
        </p:txBody>
      </p:sp>
      <p:sp>
        <p:nvSpPr>
          <p:cNvPr id="13" name="TextBox 12"/>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a:solidFill>
                  <a:srgbClr val="4B5563"/>
                </a:solidFill>
                <a:latin typeface="Calibri"/>
              </a:rPr>
              <a:t>Seaweed Industry  ·  Capstone Mid-Term</a:t>
            </a:r>
          </a:p>
        </p:txBody>
      </p:sp>
      <p:sp>
        <p:nvSpPr>
          <p:cNvPr id="14" name="TextBox 13"/>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13 / 28</a:t>
            </a:r>
          </a:p>
        </p:txBody>
      </p:sp>
      <p:pic>
        <p:nvPicPr>
          <p:cNvPr id="16" name="Picture 15">
            <a:extLst>
              <a:ext uri="{FF2B5EF4-FFF2-40B4-BE49-F238E27FC236}">
                <a16:creationId xmlns:a16="http://schemas.microsoft.com/office/drawing/2014/main" id="{869B37CD-70CD-99EF-7CC7-55CA6543B5B1}"/>
              </a:ext>
            </a:extLst>
          </p:cNvPr>
          <p:cNvPicPr>
            <a:picLocks noChangeAspect="1"/>
          </p:cNvPicPr>
          <p:nvPr/>
        </p:nvPicPr>
        <p:blipFill>
          <a:blip r:embed="rId3"/>
          <a:stretch>
            <a:fillRect/>
          </a:stretch>
        </p:blipFill>
        <p:spPr>
          <a:xfrm>
            <a:off x="548639" y="2948157"/>
            <a:ext cx="10886804" cy="287657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6B954B69-3018-E599-3CCF-1A2CD128ACE6}"/>
              </a:ext>
            </a:extLst>
          </p:cNvPr>
          <p:cNvPicPr>
            <a:picLocks noChangeAspect="1"/>
          </p:cNvPicPr>
          <p:nvPr/>
        </p:nvPicPr>
        <p:blipFill>
          <a:blip r:embed="rId3"/>
          <a:stretch>
            <a:fillRect/>
          </a:stretch>
        </p:blipFill>
        <p:spPr>
          <a:xfrm>
            <a:off x="6678265" y="2929107"/>
            <a:ext cx="5391815" cy="3270307"/>
          </a:xfrm>
          <a:prstGeom prst="rect">
            <a:avLst/>
          </a:prstGeom>
        </p:spPr>
      </p:pic>
      <p:sp>
        <p:nvSpPr>
          <p:cNvPr id="2" name="Rectangle 1"/>
          <p:cNvSpPr/>
          <p:nvPr/>
        </p:nvSpPr>
        <p:spPr>
          <a:xfrm>
            <a:off x="0" y="0"/>
            <a:ext cx="1219169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9144000" cy="320040"/>
          </a:xfrm>
          <a:prstGeom prst="rect">
            <a:avLst/>
          </a:prstGeom>
          <a:noFill/>
        </p:spPr>
        <p:txBody>
          <a:bodyPr wrap="square" lIns="45720" tIns="18288" rIns="45720" bIns="18288" anchor="t">
            <a:spAutoFit/>
          </a:bodyPr>
          <a:lstStyle/>
          <a:p>
            <a:pPr algn="l"/>
            <a:r>
              <a:rPr sz="1200" b="1">
                <a:solidFill>
                  <a:srgbClr val="0D9488"/>
                </a:solidFill>
                <a:latin typeface="Calibri"/>
              </a:rPr>
              <a:t>KPI · #4</a:t>
            </a:r>
          </a:p>
        </p:txBody>
      </p:sp>
      <p:sp>
        <p:nvSpPr>
          <p:cNvPr id="4" name="TextBox 3"/>
          <p:cNvSpPr txBox="1"/>
          <p:nvPr/>
        </p:nvSpPr>
        <p:spPr>
          <a:xfrm>
            <a:off x="548640" y="594360"/>
            <a:ext cx="10972800" cy="640080"/>
          </a:xfrm>
          <a:prstGeom prst="rect">
            <a:avLst/>
          </a:prstGeom>
          <a:noFill/>
        </p:spPr>
        <p:txBody>
          <a:bodyPr wrap="square" lIns="45720" tIns="18288" rIns="45720" bIns="18288" anchor="t">
            <a:spAutoFit/>
          </a:bodyPr>
          <a:lstStyle/>
          <a:p>
            <a:pPr algn="l"/>
            <a:r>
              <a:rPr sz="3000" b="1">
                <a:solidFill>
                  <a:srgbClr val="111827"/>
                </a:solidFill>
                <a:latin typeface="Calibri"/>
              </a:rPr>
              <a:t>Price per Wet Tonne</a:t>
            </a:r>
          </a:p>
        </p:txBody>
      </p:sp>
      <p:sp>
        <p:nvSpPr>
          <p:cNvPr id="9" name="TextBox 8"/>
          <p:cNvSpPr txBox="1"/>
          <p:nvPr/>
        </p:nvSpPr>
        <p:spPr>
          <a:xfrm>
            <a:off x="548640" y="1362891"/>
            <a:ext cx="10424160" cy="1268424"/>
          </a:xfrm>
          <a:prstGeom prst="rect">
            <a:avLst/>
          </a:prstGeom>
          <a:noFill/>
        </p:spPr>
        <p:txBody>
          <a:bodyPr wrap="square" lIns="45720" rIns="45720">
            <a:spAutoFit/>
          </a:bodyPr>
          <a:lstStyle/>
          <a:p>
            <a:pPr algn="l">
              <a:lnSpc>
                <a:spcPct val="130000"/>
              </a:lnSpc>
            </a:pPr>
            <a:r>
              <a:rPr sz="1500" b="1" dirty="0">
                <a:solidFill>
                  <a:srgbClr val="0D9488"/>
                </a:solidFill>
                <a:latin typeface="Calibri"/>
              </a:rPr>
              <a:t>●  </a:t>
            </a:r>
            <a:r>
              <a:rPr sz="1500" dirty="0">
                <a:solidFill>
                  <a:srgbClr val="111827"/>
                </a:solidFill>
                <a:latin typeface="Calibri"/>
              </a:rPr>
              <a:t>Pricing varies enormously across species</a:t>
            </a:r>
            <a:r>
              <a:rPr lang="en-US" sz="1500" dirty="0">
                <a:solidFill>
                  <a:srgbClr val="111827"/>
                </a:solidFill>
                <a:latin typeface="Calibri"/>
              </a:rPr>
              <a:t> </a:t>
            </a:r>
            <a:r>
              <a:rPr sz="1500" dirty="0">
                <a:solidFill>
                  <a:srgbClr val="111827"/>
                </a:solidFill>
                <a:latin typeface="Calibri"/>
              </a:rPr>
              <a:t>some species are 10× more valuable per </a:t>
            </a:r>
            <a:r>
              <a:rPr sz="1500" dirty="0" err="1">
                <a:solidFill>
                  <a:srgbClr val="111827"/>
                </a:solidFill>
                <a:latin typeface="Calibri"/>
              </a:rPr>
              <a:t>tonne</a:t>
            </a:r>
            <a:r>
              <a:rPr sz="1500" dirty="0">
                <a:solidFill>
                  <a:srgbClr val="111827"/>
                </a:solidFill>
                <a:latin typeface="Calibri"/>
              </a:rPr>
              <a:t>.</a:t>
            </a:r>
          </a:p>
          <a:p>
            <a:pPr algn="l">
              <a:lnSpc>
                <a:spcPct val="130000"/>
              </a:lnSpc>
            </a:pPr>
            <a:r>
              <a:rPr sz="1500" b="1" dirty="0">
                <a:solidFill>
                  <a:srgbClr val="0D9488"/>
                </a:solidFill>
                <a:latin typeface="Calibri"/>
              </a:rPr>
              <a:t>●  </a:t>
            </a:r>
            <a:r>
              <a:rPr sz="1500" dirty="0">
                <a:solidFill>
                  <a:srgbClr val="111827"/>
                </a:solidFill>
                <a:latin typeface="Calibri"/>
              </a:rPr>
              <a:t>End-use matters too: human food, hydrocolloids, animal feed, fertilizer all price differently.</a:t>
            </a:r>
          </a:p>
          <a:p>
            <a:pPr algn="l">
              <a:lnSpc>
                <a:spcPct val="130000"/>
              </a:lnSpc>
            </a:pPr>
            <a:r>
              <a:rPr sz="1500" b="1" dirty="0">
                <a:solidFill>
                  <a:srgbClr val="0D9488"/>
                </a:solidFill>
                <a:latin typeface="Calibri"/>
              </a:rPr>
              <a:t>●  </a:t>
            </a:r>
            <a:r>
              <a:rPr sz="1500" dirty="0">
                <a:solidFill>
                  <a:srgbClr val="111827"/>
                </a:solidFill>
                <a:latin typeface="Calibri"/>
              </a:rPr>
              <a:t>Pulled from PSIA pricing data see the PSIA Pricing tab.</a:t>
            </a:r>
          </a:p>
          <a:p>
            <a:pPr algn="l">
              <a:lnSpc>
                <a:spcPct val="130000"/>
              </a:lnSpc>
            </a:pPr>
            <a:r>
              <a:rPr sz="1500" b="1" dirty="0">
                <a:solidFill>
                  <a:srgbClr val="0D9488"/>
                </a:solidFill>
                <a:latin typeface="Calibri"/>
              </a:rPr>
              <a:t>●  </a:t>
            </a:r>
            <a:r>
              <a:rPr sz="1500" dirty="0">
                <a:solidFill>
                  <a:srgbClr val="111827"/>
                </a:solidFill>
                <a:latin typeface="Calibri"/>
              </a:rPr>
              <a:t>This is the KPI most directly relevant for new entrants choosing what species to farm.</a:t>
            </a:r>
          </a:p>
        </p:txBody>
      </p:sp>
      <p:sp>
        <p:nvSpPr>
          <p:cNvPr id="13" name="TextBox 12"/>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a:solidFill>
                  <a:srgbClr val="4B5563"/>
                </a:solidFill>
                <a:latin typeface="Calibri"/>
              </a:rPr>
              <a:t>Seaweed Industry  ·  Capstone Mid-Term</a:t>
            </a:r>
          </a:p>
        </p:txBody>
      </p:sp>
      <p:sp>
        <p:nvSpPr>
          <p:cNvPr id="14" name="TextBox 13"/>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14 / 28</a:t>
            </a:r>
          </a:p>
        </p:txBody>
      </p:sp>
      <p:pic>
        <p:nvPicPr>
          <p:cNvPr id="16" name="Picture 15">
            <a:extLst>
              <a:ext uri="{FF2B5EF4-FFF2-40B4-BE49-F238E27FC236}">
                <a16:creationId xmlns:a16="http://schemas.microsoft.com/office/drawing/2014/main" id="{8BB6B986-1D39-CFD3-9E1A-93C1E6F7AF9A}"/>
              </a:ext>
            </a:extLst>
          </p:cNvPr>
          <p:cNvPicPr>
            <a:picLocks noChangeAspect="1"/>
          </p:cNvPicPr>
          <p:nvPr/>
        </p:nvPicPr>
        <p:blipFill>
          <a:blip r:embed="rId4"/>
          <a:stretch>
            <a:fillRect/>
          </a:stretch>
        </p:blipFill>
        <p:spPr>
          <a:xfrm>
            <a:off x="548640" y="2759766"/>
            <a:ext cx="6524673" cy="307659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9144000" cy="320040"/>
          </a:xfrm>
          <a:prstGeom prst="rect">
            <a:avLst/>
          </a:prstGeom>
          <a:noFill/>
        </p:spPr>
        <p:txBody>
          <a:bodyPr wrap="square" lIns="45720" tIns="18288" rIns="45720" bIns="18288" anchor="t">
            <a:spAutoFit/>
          </a:bodyPr>
          <a:lstStyle/>
          <a:p>
            <a:pPr algn="l"/>
            <a:r>
              <a:rPr sz="1200" b="1">
                <a:solidFill>
                  <a:srgbClr val="0D9488"/>
                </a:solidFill>
                <a:latin typeface="Calibri"/>
              </a:rPr>
              <a:t>KPI · #5</a:t>
            </a:r>
          </a:p>
        </p:txBody>
      </p:sp>
      <p:sp>
        <p:nvSpPr>
          <p:cNvPr id="4" name="TextBox 3"/>
          <p:cNvSpPr txBox="1"/>
          <p:nvPr/>
        </p:nvSpPr>
        <p:spPr>
          <a:xfrm>
            <a:off x="548640" y="594360"/>
            <a:ext cx="10972800" cy="640080"/>
          </a:xfrm>
          <a:prstGeom prst="rect">
            <a:avLst/>
          </a:prstGeom>
          <a:noFill/>
        </p:spPr>
        <p:txBody>
          <a:bodyPr wrap="square" lIns="45720" tIns="18288" rIns="45720" bIns="18288" anchor="t">
            <a:spAutoFit/>
          </a:bodyPr>
          <a:lstStyle/>
          <a:p>
            <a:pPr algn="l"/>
            <a:r>
              <a:rPr sz="3000" b="1">
                <a:solidFill>
                  <a:srgbClr val="111827"/>
                </a:solidFill>
                <a:latin typeface="Calibri"/>
              </a:rPr>
              <a:t>Wet vs. Processed Kelp Demand</a:t>
            </a:r>
          </a:p>
        </p:txBody>
      </p:sp>
      <p:sp>
        <p:nvSpPr>
          <p:cNvPr id="9" name="TextBox 8"/>
          <p:cNvSpPr txBox="1"/>
          <p:nvPr/>
        </p:nvSpPr>
        <p:spPr>
          <a:xfrm>
            <a:off x="548639" y="1367878"/>
            <a:ext cx="10888981" cy="1026691"/>
          </a:xfrm>
          <a:prstGeom prst="rect">
            <a:avLst/>
          </a:prstGeom>
          <a:noFill/>
        </p:spPr>
        <p:txBody>
          <a:bodyPr wrap="square" lIns="45720" rIns="45720">
            <a:spAutoFit/>
          </a:bodyPr>
          <a:lstStyle/>
          <a:p>
            <a:pPr marL="285750" indent="-285750" algn="just">
              <a:lnSpc>
                <a:spcPct val="130000"/>
              </a:lnSpc>
              <a:buFont typeface="Arial" panose="020B0604020202020204" pitchFamily="34" charset="0"/>
              <a:buChar char="•"/>
            </a:pPr>
            <a:r>
              <a:rPr lang="en-CA" sz="1600" dirty="0"/>
              <a:t>~80% of global kelp demand is processed (dried, powder, extract); only ~20% is sold raw and wet.</a:t>
            </a:r>
          </a:p>
          <a:p>
            <a:pPr marL="285750" indent="-285750" algn="just">
              <a:lnSpc>
                <a:spcPct val="130000"/>
              </a:lnSpc>
              <a:buFont typeface="Arial" panose="020B0604020202020204" pitchFamily="34" charset="0"/>
              <a:buChar char="•"/>
            </a:pPr>
            <a:r>
              <a:rPr lang="en-CA" sz="1600" dirty="0"/>
              <a:t>Food &amp; Beverage (34%) and Hydrocolloids (28%) drive over 60% of processed demand; agriculture and cosmetics are smaller but growing.</a:t>
            </a:r>
          </a:p>
        </p:txBody>
      </p:sp>
      <p:sp>
        <p:nvSpPr>
          <p:cNvPr id="13" name="TextBox 12"/>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a:solidFill>
                  <a:srgbClr val="4B5563"/>
                </a:solidFill>
                <a:latin typeface="Calibri"/>
              </a:rPr>
              <a:t>Seaweed Industry  ·  Capstone Mid-Term</a:t>
            </a:r>
          </a:p>
        </p:txBody>
      </p:sp>
      <p:sp>
        <p:nvSpPr>
          <p:cNvPr id="14" name="TextBox 13"/>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15 / 28</a:t>
            </a:r>
          </a:p>
        </p:txBody>
      </p:sp>
      <p:pic>
        <p:nvPicPr>
          <p:cNvPr id="11" name="Picture 10">
            <a:extLst>
              <a:ext uri="{FF2B5EF4-FFF2-40B4-BE49-F238E27FC236}">
                <a16:creationId xmlns:a16="http://schemas.microsoft.com/office/drawing/2014/main" id="{7105800D-ABE7-70DD-84CD-43F4C0EB79FE}"/>
              </a:ext>
            </a:extLst>
          </p:cNvPr>
          <p:cNvPicPr>
            <a:picLocks noChangeAspect="1"/>
          </p:cNvPicPr>
          <p:nvPr/>
        </p:nvPicPr>
        <p:blipFill>
          <a:blip r:embed="rId3"/>
          <a:srcRect l="8767" r="3425"/>
          <a:stretch>
            <a:fillRect/>
          </a:stretch>
        </p:blipFill>
        <p:spPr>
          <a:xfrm>
            <a:off x="6286806" y="2701436"/>
            <a:ext cx="5536792" cy="3286149"/>
          </a:xfrm>
          <a:prstGeom prst="rect">
            <a:avLst/>
          </a:prstGeom>
        </p:spPr>
      </p:pic>
      <p:pic>
        <p:nvPicPr>
          <p:cNvPr id="15" name="Picture 14">
            <a:extLst>
              <a:ext uri="{FF2B5EF4-FFF2-40B4-BE49-F238E27FC236}">
                <a16:creationId xmlns:a16="http://schemas.microsoft.com/office/drawing/2014/main" id="{F17D580E-FF94-A91F-B900-B70A24593EAB}"/>
              </a:ext>
            </a:extLst>
          </p:cNvPr>
          <p:cNvPicPr>
            <a:picLocks noChangeAspect="1"/>
          </p:cNvPicPr>
          <p:nvPr/>
        </p:nvPicPr>
        <p:blipFill>
          <a:blip r:embed="rId4"/>
          <a:srcRect l="9598"/>
          <a:stretch>
            <a:fillRect/>
          </a:stretch>
        </p:blipFill>
        <p:spPr>
          <a:xfrm>
            <a:off x="548639" y="3225736"/>
            <a:ext cx="5738167" cy="247774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9144000" cy="320040"/>
          </a:xfrm>
          <a:prstGeom prst="rect">
            <a:avLst/>
          </a:prstGeom>
          <a:noFill/>
        </p:spPr>
        <p:txBody>
          <a:bodyPr wrap="square" lIns="45720" tIns="18288" rIns="45720" bIns="18288" anchor="t">
            <a:spAutoFit/>
          </a:bodyPr>
          <a:lstStyle/>
          <a:p>
            <a:pPr algn="l"/>
            <a:r>
              <a:rPr sz="1200" b="1">
                <a:solidFill>
                  <a:srgbClr val="0D9488"/>
                </a:solidFill>
                <a:latin typeface="Calibri"/>
              </a:rPr>
              <a:t>SOLUTION</a:t>
            </a:r>
          </a:p>
        </p:txBody>
      </p:sp>
      <p:sp>
        <p:nvSpPr>
          <p:cNvPr id="4" name="TextBox 3"/>
          <p:cNvSpPr txBox="1"/>
          <p:nvPr/>
        </p:nvSpPr>
        <p:spPr>
          <a:xfrm>
            <a:off x="548640" y="594360"/>
            <a:ext cx="10972800" cy="640080"/>
          </a:xfrm>
          <a:prstGeom prst="rect">
            <a:avLst/>
          </a:prstGeom>
          <a:noFill/>
        </p:spPr>
        <p:txBody>
          <a:bodyPr wrap="square" lIns="45720" tIns="18288" rIns="45720" bIns="18288" anchor="t">
            <a:spAutoFit/>
          </a:bodyPr>
          <a:lstStyle/>
          <a:p>
            <a:pPr algn="l"/>
            <a:r>
              <a:rPr sz="3000" b="1">
                <a:solidFill>
                  <a:srgbClr val="111827"/>
                </a:solidFill>
                <a:latin typeface="Calibri"/>
              </a:rPr>
              <a:t>Architecture overview</a:t>
            </a:r>
          </a:p>
        </p:txBody>
      </p:sp>
      <p:sp>
        <p:nvSpPr>
          <p:cNvPr id="5" name="Rectangle 4"/>
          <p:cNvSpPr/>
          <p:nvPr/>
        </p:nvSpPr>
        <p:spPr>
          <a:xfrm>
            <a:off x="548640" y="1463040"/>
            <a:ext cx="4572000" cy="109728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54480"/>
            <a:ext cx="4206240" cy="457200"/>
          </a:xfrm>
          <a:prstGeom prst="rect">
            <a:avLst/>
          </a:prstGeom>
          <a:noFill/>
        </p:spPr>
        <p:txBody>
          <a:bodyPr wrap="square" lIns="45720" tIns="18288" rIns="45720" bIns="18288" anchor="t">
            <a:spAutoFit/>
          </a:bodyPr>
          <a:lstStyle/>
          <a:p>
            <a:pPr algn="l"/>
            <a:r>
              <a:rPr sz="1500" b="1">
                <a:solidFill>
                  <a:srgbClr val="0B6E66"/>
                </a:solidFill>
                <a:latin typeface="Calibri"/>
              </a:rPr>
              <a:t>Frontend · React + Vite</a:t>
            </a:r>
          </a:p>
        </p:txBody>
      </p:sp>
      <p:sp>
        <p:nvSpPr>
          <p:cNvPr id="7" name="TextBox 6"/>
          <p:cNvSpPr txBox="1"/>
          <p:nvPr/>
        </p:nvSpPr>
        <p:spPr>
          <a:xfrm>
            <a:off x="731520" y="1965960"/>
            <a:ext cx="4206240" cy="640080"/>
          </a:xfrm>
          <a:prstGeom prst="rect">
            <a:avLst/>
          </a:prstGeom>
          <a:noFill/>
        </p:spPr>
        <p:txBody>
          <a:bodyPr wrap="square" lIns="45720" tIns="18288" rIns="45720" bIns="18288" anchor="t">
            <a:spAutoFit/>
          </a:bodyPr>
          <a:lstStyle/>
          <a:p>
            <a:pPr algn="l"/>
            <a:r>
              <a:rPr sz="1200" b="0">
                <a:solidFill>
                  <a:srgbClr val="4B5563"/>
                </a:solidFill>
                <a:latin typeface="Calibri"/>
              </a:rPr>
              <a:t>12 dashboard tabs (Recharts + Plotly) · ChatPanel UI · Tailwind</a:t>
            </a:r>
          </a:p>
        </p:txBody>
      </p:sp>
      <p:sp>
        <p:nvSpPr>
          <p:cNvPr id="8" name="Down Arrow 7"/>
          <p:cNvSpPr/>
          <p:nvPr/>
        </p:nvSpPr>
        <p:spPr>
          <a:xfrm>
            <a:off x="2651760" y="2606040"/>
            <a:ext cx="365760" cy="365760"/>
          </a:xfrm>
          <a:prstGeom prst="down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3017520"/>
            <a:ext cx="4572000" cy="109728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3108960"/>
            <a:ext cx="4206240" cy="457200"/>
          </a:xfrm>
          <a:prstGeom prst="rect">
            <a:avLst/>
          </a:prstGeom>
          <a:noFill/>
        </p:spPr>
        <p:txBody>
          <a:bodyPr wrap="square" lIns="45720" tIns="18288" rIns="45720" bIns="18288" anchor="t">
            <a:spAutoFit/>
          </a:bodyPr>
          <a:lstStyle/>
          <a:p>
            <a:pPr algn="l"/>
            <a:r>
              <a:rPr sz="1500" b="1">
                <a:solidFill>
                  <a:srgbClr val="0B6E66"/>
                </a:solidFill>
                <a:latin typeface="Calibri"/>
              </a:rPr>
              <a:t>Backend · FastAPI</a:t>
            </a:r>
          </a:p>
        </p:txBody>
      </p:sp>
      <p:sp>
        <p:nvSpPr>
          <p:cNvPr id="11" name="TextBox 10"/>
          <p:cNvSpPr txBox="1"/>
          <p:nvPr/>
        </p:nvSpPr>
        <p:spPr>
          <a:xfrm>
            <a:off x="731520" y="3520440"/>
            <a:ext cx="4206240" cy="640080"/>
          </a:xfrm>
          <a:prstGeom prst="rect">
            <a:avLst/>
          </a:prstGeom>
          <a:noFill/>
        </p:spPr>
        <p:txBody>
          <a:bodyPr wrap="square" lIns="45720" tIns="18288" rIns="45720" bIns="18288" anchor="t">
            <a:spAutoFit/>
          </a:bodyPr>
          <a:lstStyle/>
          <a:p>
            <a:pPr algn="l"/>
            <a:r>
              <a:rPr sz="1200" b="0">
                <a:solidFill>
                  <a:srgbClr val="4B5563"/>
                </a:solidFill>
                <a:latin typeface="Calibri"/>
              </a:rPr>
              <a:t>POST /chat endpoint · request orchestration · CORS · health check</a:t>
            </a:r>
          </a:p>
        </p:txBody>
      </p:sp>
      <p:sp>
        <p:nvSpPr>
          <p:cNvPr id="12" name="Down Arrow 11"/>
          <p:cNvSpPr/>
          <p:nvPr/>
        </p:nvSpPr>
        <p:spPr>
          <a:xfrm>
            <a:off x="2651760" y="4160520"/>
            <a:ext cx="365760" cy="365760"/>
          </a:xfrm>
          <a:prstGeom prst="down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4572000"/>
            <a:ext cx="4572000" cy="137160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4663440"/>
            <a:ext cx="4206240" cy="457200"/>
          </a:xfrm>
          <a:prstGeom prst="rect">
            <a:avLst/>
          </a:prstGeom>
          <a:noFill/>
        </p:spPr>
        <p:txBody>
          <a:bodyPr wrap="square" lIns="45720" tIns="18288" rIns="45720" bIns="18288" anchor="t">
            <a:spAutoFit/>
          </a:bodyPr>
          <a:lstStyle/>
          <a:p>
            <a:pPr algn="l"/>
            <a:r>
              <a:rPr sz="1500" b="1">
                <a:solidFill>
                  <a:srgbClr val="0B6E66"/>
                </a:solidFill>
                <a:latin typeface="Calibri"/>
              </a:rPr>
              <a:t>Data + AI</a:t>
            </a:r>
          </a:p>
        </p:txBody>
      </p:sp>
      <p:sp>
        <p:nvSpPr>
          <p:cNvPr id="15" name="TextBox 14"/>
          <p:cNvSpPr txBox="1"/>
          <p:nvPr/>
        </p:nvSpPr>
        <p:spPr>
          <a:xfrm>
            <a:off x="731520" y="5074920"/>
            <a:ext cx="4206240" cy="822960"/>
          </a:xfrm>
          <a:prstGeom prst="rect">
            <a:avLst/>
          </a:prstGeom>
          <a:noFill/>
        </p:spPr>
        <p:txBody>
          <a:bodyPr wrap="square" lIns="45720" tIns="18288" rIns="45720" bIns="18288" anchor="t">
            <a:spAutoFit/>
          </a:bodyPr>
          <a:lstStyle/>
          <a:p>
            <a:pPr algn="l"/>
            <a:r>
              <a:rPr sz="1200" b="0">
                <a:solidFill>
                  <a:srgbClr val="4B5563"/>
                </a:solidFill>
                <a:latin typeface="Calibri"/>
              </a:rPr>
              <a:t>DuckDB (4 FAO tables) · BAAI/bge-small embeddings · Groq Llama 3.3 70B</a:t>
            </a:r>
          </a:p>
        </p:txBody>
      </p:sp>
      <p:sp>
        <p:nvSpPr>
          <p:cNvPr id="16" name="TextBox 15"/>
          <p:cNvSpPr txBox="1"/>
          <p:nvPr/>
        </p:nvSpPr>
        <p:spPr>
          <a:xfrm>
            <a:off x="5943600" y="1463040"/>
            <a:ext cx="5760720" cy="457200"/>
          </a:xfrm>
          <a:prstGeom prst="rect">
            <a:avLst/>
          </a:prstGeom>
          <a:noFill/>
        </p:spPr>
        <p:txBody>
          <a:bodyPr wrap="square" lIns="45720" tIns="18288" rIns="45720" bIns="18288" anchor="t">
            <a:spAutoFit/>
          </a:bodyPr>
          <a:lstStyle/>
          <a:p>
            <a:pPr algn="l"/>
            <a:r>
              <a:rPr sz="1400" b="1">
                <a:solidFill>
                  <a:srgbClr val="111827"/>
                </a:solidFill>
                <a:latin typeface="Calibri"/>
              </a:rPr>
              <a:t>How a chat question becomes an answer:</a:t>
            </a:r>
          </a:p>
        </p:txBody>
      </p:sp>
      <p:sp>
        <p:nvSpPr>
          <p:cNvPr id="17" name="TextBox 16"/>
          <p:cNvSpPr txBox="1"/>
          <p:nvPr/>
        </p:nvSpPr>
        <p:spPr>
          <a:xfrm>
            <a:off x="5943600" y="1965960"/>
            <a:ext cx="457200" cy="457200"/>
          </a:xfrm>
          <a:prstGeom prst="rect">
            <a:avLst/>
          </a:prstGeom>
          <a:noFill/>
        </p:spPr>
        <p:txBody>
          <a:bodyPr wrap="square" lIns="45720" tIns="18288" rIns="45720" bIns="18288" anchor="t">
            <a:spAutoFit/>
          </a:bodyPr>
          <a:lstStyle/>
          <a:p>
            <a:pPr algn="l"/>
            <a:r>
              <a:rPr sz="1400" b="1">
                <a:solidFill>
                  <a:srgbClr val="0D9488"/>
                </a:solidFill>
                <a:latin typeface="Calibri"/>
              </a:rPr>
              <a:t>1.</a:t>
            </a:r>
          </a:p>
        </p:txBody>
      </p:sp>
      <p:sp>
        <p:nvSpPr>
          <p:cNvPr id="18" name="TextBox 17"/>
          <p:cNvSpPr txBox="1"/>
          <p:nvPr/>
        </p:nvSpPr>
        <p:spPr>
          <a:xfrm>
            <a:off x="6400800" y="1965960"/>
            <a:ext cx="5303520" cy="822960"/>
          </a:xfrm>
          <a:prstGeom prst="rect">
            <a:avLst/>
          </a:prstGeom>
          <a:noFill/>
        </p:spPr>
        <p:txBody>
          <a:bodyPr wrap="square" lIns="45720" tIns="18288" rIns="45720" bIns="18288" anchor="t">
            <a:spAutoFit/>
          </a:bodyPr>
          <a:lstStyle/>
          <a:p>
            <a:pPr algn="l"/>
            <a:r>
              <a:rPr sz="1300" b="0">
                <a:solidFill>
                  <a:srgbClr val="111827"/>
                </a:solidFill>
                <a:latin typeface="Calibri"/>
              </a:rPr>
              <a:t>User types a question in plain English.</a:t>
            </a:r>
          </a:p>
        </p:txBody>
      </p:sp>
      <p:sp>
        <p:nvSpPr>
          <p:cNvPr id="19" name="TextBox 18"/>
          <p:cNvSpPr txBox="1"/>
          <p:nvPr/>
        </p:nvSpPr>
        <p:spPr>
          <a:xfrm>
            <a:off x="5943600" y="2743200"/>
            <a:ext cx="457200" cy="457200"/>
          </a:xfrm>
          <a:prstGeom prst="rect">
            <a:avLst/>
          </a:prstGeom>
          <a:noFill/>
        </p:spPr>
        <p:txBody>
          <a:bodyPr wrap="square" lIns="45720" tIns="18288" rIns="45720" bIns="18288" anchor="t">
            <a:spAutoFit/>
          </a:bodyPr>
          <a:lstStyle/>
          <a:p>
            <a:pPr algn="l"/>
            <a:r>
              <a:rPr sz="1400" b="1">
                <a:solidFill>
                  <a:srgbClr val="0D9488"/>
                </a:solidFill>
                <a:latin typeface="Calibri"/>
              </a:rPr>
              <a:t>2.</a:t>
            </a:r>
          </a:p>
        </p:txBody>
      </p:sp>
      <p:sp>
        <p:nvSpPr>
          <p:cNvPr id="20" name="TextBox 19"/>
          <p:cNvSpPr txBox="1"/>
          <p:nvPr/>
        </p:nvSpPr>
        <p:spPr>
          <a:xfrm>
            <a:off x="6400800" y="2743200"/>
            <a:ext cx="5303520" cy="822960"/>
          </a:xfrm>
          <a:prstGeom prst="rect">
            <a:avLst/>
          </a:prstGeom>
          <a:noFill/>
        </p:spPr>
        <p:txBody>
          <a:bodyPr wrap="square" lIns="45720" tIns="18288" rIns="45720" bIns="18288" anchor="t">
            <a:spAutoFit/>
          </a:bodyPr>
          <a:lstStyle/>
          <a:p>
            <a:pPr algn="l"/>
            <a:r>
              <a:rPr sz="1300" b="0">
                <a:solidFill>
                  <a:srgbClr val="111827"/>
                </a:solidFill>
                <a:latin typeface="Calibri"/>
              </a:rPr>
              <a:t>Backend retrieves few-shot examples via embeddings; resolves entities (e.g., 'USA' → 'United States of America').</a:t>
            </a:r>
          </a:p>
        </p:txBody>
      </p:sp>
      <p:sp>
        <p:nvSpPr>
          <p:cNvPr id="21" name="TextBox 20"/>
          <p:cNvSpPr txBox="1"/>
          <p:nvPr/>
        </p:nvSpPr>
        <p:spPr>
          <a:xfrm>
            <a:off x="5943600" y="3520440"/>
            <a:ext cx="457200" cy="457200"/>
          </a:xfrm>
          <a:prstGeom prst="rect">
            <a:avLst/>
          </a:prstGeom>
          <a:noFill/>
        </p:spPr>
        <p:txBody>
          <a:bodyPr wrap="square" lIns="45720" tIns="18288" rIns="45720" bIns="18288" anchor="t">
            <a:spAutoFit/>
          </a:bodyPr>
          <a:lstStyle/>
          <a:p>
            <a:pPr algn="l"/>
            <a:r>
              <a:rPr sz="1400" b="1">
                <a:solidFill>
                  <a:srgbClr val="0D9488"/>
                </a:solidFill>
                <a:latin typeface="Calibri"/>
              </a:rPr>
              <a:t>3.</a:t>
            </a:r>
          </a:p>
        </p:txBody>
      </p:sp>
      <p:sp>
        <p:nvSpPr>
          <p:cNvPr id="22" name="TextBox 21"/>
          <p:cNvSpPr txBox="1"/>
          <p:nvPr/>
        </p:nvSpPr>
        <p:spPr>
          <a:xfrm>
            <a:off x="6400800" y="3520440"/>
            <a:ext cx="5303520" cy="822960"/>
          </a:xfrm>
          <a:prstGeom prst="rect">
            <a:avLst/>
          </a:prstGeom>
          <a:noFill/>
        </p:spPr>
        <p:txBody>
          <a:bodyPr wrap="square" lIns="45720" tIns="18288" rIns="45720" bIns="18288" anchor="t">
            <a:spAutoFit/>
          </a:bodyPr>
          <a:lstStyle/>
          <a:p>
            <a:pPr algn="l"/>
            <a:r>
              <a:rPr sz="1300" b="0">
                <a:solidFill>
                  <a:srgbClr val="111827"/>
                </a:solidFill>
                <a:latin typeface="Calibri"/>
              </a:rPr>
              <a:t>Groq LLM generates SQL grounded in the FAO schema.</a:t>
            </a:r>
          </a:p>
        </p:txBody>
      </p:sp>
      <p:sp>
        <p:nvSpPr>
          <p:cNvPr id="23" name="TextBox 22"/>
          <p:cNvSpPr txBox="1"/>
          <p:nvPr/>
        </p:nvSpPr>
        <p:spPr>
          <a:xfrm>
            <a:off x="5943600" y="4297680"/>
            <a:ext cx="457200" cy="457200"/>
          </a:xfrm>
          <a:prstGeom prst="rect">
            <a:avLst/>
          </a:prstGeom>
          <a:noFill/>
        </p:spPr>
        <p:txBody>
          <a:bodyPr wrap="square" lIns="45720" tIns="18288" rIns="45720" bIns="18288" anchor="t">
            <a:spAutoFit/>
          </a:bodyPr>
          <a:lstStyle/>
          <a:p>
            <a:pPr algn="l"/>
            <a:r>
              <a:rPr sz="1400" b="1">
                <a:solidFill>
                  <a:srgbClr val="0D9488"/>
                </a:solidFill>
                <a:latin typeface="Calibri"/>
              </a:rPr>
              <a:t>4.</a:t>
            </a:r>
          </a:p>
        </p:txBody>
      </p:sp>
      <p:sp>
        <p:nvSpPr>
          <p:cNvPr id="24" name="TextBox 23"/>
          <p:cNvSpPr txBox="1"/>
          <p:nvPr/>
        </p:nvSpPr>
        <p:spPr>
          <a:xfrm>
            <a:off x="6400800" y="4297680"/>
            <a:ext cx="5303520" cy="822960"/>
          </a:xfrm>
          <a:prstGeom prst="rect">
            <a:avLst/>
          </a:prstGeom>
          <a:noFill/>
        </p:spPr>
        <p:txBody>
          <a:bodyPr wrap="square" lIns="45720" tIns="18288" rIns="45720" bIns="18288" anchor="t">
            <a:spAutoFit/>
          </a:bodyPr>
          <a:lstStyle/>
          <a:p>
            <a:pPr algn="l"/>
            <a:r>
              <a:rPr sz="1300" b="0">
                <a:solidFill>
                  <a:srgbClr val="111827"/>
                </a:solidFill>
                <a:latin typeface="Calibri"/>
              </a:rPr>
              <a:t>DuckDB runs the SQL on the in-memory tables.</a:t>
            </a:r>
          </a:p>
        </p:txBody>
      </p:sp>
      <p:sp>
        <p:nvSpPr>
          <p:cNvPr id="25" name="TextBox 24"/>
          <p:cNvSpPr txBox="1"/>
          <p:nvPr/>
        </p:nvSpPr>
        <p:spPr>
          <a:xfrm>
            <a:off x="5943600" y="5074920"/>
            <a:ext cx="457200" cy="457200"/>
          </a:xfrm>
          <a:prstGeom prst="rect">
            <a:avLst/>
          </a:prstGeom>
          <a:noFill/>
        </p:spPr>
        <p:txBody>
          <a:bodyPr wrap="square" lIns="45720" tIns="18288" rIns="45720" bIns="18288" anchor="t">
            <a:spAutoFit/>
          </a:bodyPr>
          <a:lstStyle/>
          <a:p>
            <a:pPr algn="l"/>
            <a:r>
              <a:rPr sz="1400" b="1">
                <a:solidFill>
                  <a:srgbClr val="0D9488"/>
                </a:solidFill>
                <a:latin typeface="Calibri"/>
              </a:rPr>
              <a:t>5.</a:t>
            </a:r>
          </a:p>
        </p:txBody>
      </p:sp>
      <p:sp>
        <p:nvSpPr>
          <p:cNvPr id="26" name="TextBox 25"/>
          <p:cNvSpPr txBox="1"/>
          <p:nvPr/>
        </p:nvSpPr>
        <p:spPr>
          <a:xfrm>
            <a:off x="6400800" y="5074920"/>
            <a:ext cx="5303520" cy="822960"/>
          </a:xfrm>
          <a:prstGeom prst="rect">
            <a:avLst/>
          </a:prstGeom>
          <a:noFill/>
        </p:spPr>
        <p:txBody>
          <a:bodyPr wrap="square" lIns="45720" tIns="18288" rIns="45720" bIns="18288" anchor="t">
            <a:spAutoFit/>
          </a:bodyPr>
          <a:lstStyle/>
          <a:p>
            <a:pPr algn="l"/>
            <a:r>
              <a:rPr sz="1300" b="0">
                <a:solidFill>
                  <a:srgbClr val="111827"/>
                </a:solidFill>
                <a:latin typeface="Calibri"/>
              </a:rPr>
              <a:t>LLM summarizes the result in plain English; UI shows answer, table, and the SQL.</a:t>
            </a:r>
          </a:p>
        </p:txBody>
      </p:sp>
      <p:sp>
        <p:nvSpPr>
          <p:cNvPr id="27" name="TextBox 26"/>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a:solidFill>
                  <a:srgbClr val="4B5563"/>
                </a:solidFill>
                <a:latin typeface="Calibri"/>
              </a:rPr>
              <a:t>Seaweed Industry  ·  Capstone Mid-Term</a:t>
            </a:r>
          </a:p>
        </p:txBody>
      </p:sp>
      <p:sp>
        <p:nvSpPr>
          <p:cNvPr id="28" name="TextBox 27"/>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16 / 28</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9144000" cy="320040"/>
          </a:xfrm>
          <a:prstGeom prst="rect">
            <a:avLst/>
          </a:prstGeom>
          <a:noFill/>
        </p:spPr>
        <p:txBody>
          <a:bodyPr wrap="square" lIns="45720" tIns="18288" rIns="45720" bIns="18288" anchor="t">
            <a:spAutoFit/>
          </a:bodyPr>
          <a:lstStyle/>
          <a:p>
            <a:pPr algn="l"/>
            <a:r>
              <a:rPr sz="1200" b="1">
                <a:solidFill>
                  <a:srgbClr val="0D9488"/>
                </a:solidFill>
                <a:latin typeface="Calibri"/>
              </a:rPr>
              <a:t>USE CASE</a:t>
            </a:r>
          </a:p>
        </p:txBody>
      </p:sp>
      <p:sp>
        <p:nvSpPr>
          <p:cNvPr id="4" name="TextBox 3"/>
          <p:cNvSpPr txBox="1"/>
          <p:nvPr/>
        </p:nvSpPr>
        <p:spPr>
          <a:xfrm>
            <a:off x="548640" y="594360"/>
            <a:ext cx="10972800" cy="640080"/>
          </a:xfrm>
          <a:prstGeom prst="rect">
            <a:avLst/>
          </a:prstGeom>
          <a:noFill/>
        </p:spPr>
        <p:txBody>
          <a:bodyPr wrap="square" lIns="45720" tIns="18288" rIns="45720" bIns="18288" anchor="t">
            <a:spAutoFit/>
          </a:bodyPr>
          <a:lstStyle/>
          <a:p>
            <a:pPr algn="l"/>
            <a:r>
              <a:rPr sz="3000" b="1">
                <a:solidFill>
                  <a:srgbClr val="111827"/>
                </a:solidFill>
                <a:latin typeface="Calibri"/>
              </a:rPr>
              <a:t>Who uses this, and how it creates value</a:t>
            </a:r>
          </a:p>
        </p:txBody>
      </p:sp>
      <p:sp>
        <p:nvSpPr>
          <p:cNvPr id="5" name="Rectangle 4"/>
          <p:cNvSpPr/>
          <p:nvPr/>
        </p:nvSpPr>
        <p:spPr>
          <a:xfrm>
            <a:off x="502920" y="1554480"/>
            <a:ext cx="3794760" cy="4023360"/>
          </a:xfrm>
          <a:prstGeom prst="rect">
            <a:avLst/>
          </a:prstGeom>
          <a:solidFill>
            <a:srgbClr val="FFFFFF"/>
          </a:solidFill>
          <a:ln>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554480"/>
            <a:ext cx="3794760" cy="64008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691640"/>
            <a:ext cx="3429000" cy="457200"/>
          </a:xfrm>
          <a:prstGeom prst="rect">
            <a:avLst/>
          </a:prstGeom>
          <a:noFill/>
        </p:spPr>
        <p:txBody>
          <a:bodyPr wrap="square" lIns="45720" tIns="18288" rIns="45720" bIns="18288" anchor="t">
            <a:spAutoFit/>
          </a:bodyPr>
          <a:lstStyle/>
          <a:p>
            <a:pPr algn="l"/>
            <a:r>
              <a:rPr sz="1800" b="1">
                <a:solidFill>
                  <a:srgbClr val="FFFFFF"/>
                </a:solidFill>
                <a:latin typeface="Calibri"/>
              </a:rPr>
              <a:t>Industry Analyst</a:t>
            </a:r>
          </a:p>
        </p:txBody>
      </p:sp>
      <p:sp>
        <p:nvSpPr>
          <p:cNvPr id="8" name="TextBox 7"/>
          <p:cNvSpPr txBox="1"/>
          <p:nvPr/>
        </p:nvSpPr>
        <p:spPr>
          <a:xfrm>
            <a:off x="685800" y="2423160"/>
            <a:ext cx="3429000" cy="457200"/>
          </a:xfrm>
          <a:prstGeom prst="rect">
            <a:avLst/>
          </a:prstGeom>
          <a:noFill/>
        </p:spPr>
        <p:txBody>
          <a:bodyPr wrap="square" lIns="45720" tIns="18288" rIns="45720" bIns="18288" anchor="t">
            <a:spAutoFit/>
          </a:bodyPr>
          <a:lstStyle/>
          <a:p>
            <a:pPr algn="l"/>
            <a:r>
              <a:rPr sz="1100" b="1">
                <a:solidFill>
                  <a:srgbClr val="0B6E66"/>
                </a:solidFill>
                <a:latin typeface="Calibri"/>
              </a:rPr>
              <a:t>NEEDS</a:t>
            </a:r>
          </a:p>
        </p:txBody>
      </p:sp>
      <p:sp>
        <p:nvSpPr>
          <p:cNvPr id="9" name="TextBox 8"/>
          <p:cNvSpPr txBox="1"/>
          <p:nvPr/>
        </p:nvSpPr>
        <p:spPr>
          <a:xfrm>
            <a:off x="685800" y="2788920"/>
            <a:ext cx="3429000" cy="914400"/>
          </a:xfrm>
          <a:prstGeom prst="rect">
            <a:avLst/>
          </a:prstGeom>
          <a:noFill/>
        </p:spPr>
        <p:txBody>
          <a:bodyPr wrap="square" lIns="45720" tIns="18288" rIns="45720" bIns="18288" anchor="t">
            <a:spAutoFit/>
          </a:bodyPr>
          <a:lstStyle/>
          <a:p>
            <a:pPr algn="l"/>
            <a:r>
              <a:rPr sz="1400" b="1">
                <a:solidFill>
                  <a:srgbClr val="111827"/>
                </a:solidFill>
                <a:latin typeface="Calibri"/>
              </a:rPr>
              <a:t>Needs to answer market questions quickly</a:t>
            </a:r>
          </a:p>
        </p:txBody>
      </p:sp>
      <p:sp>
        <p:nvSpPr>
          <p:cNvPr id="10" name="TextBox 9"/>
          <p:cNvSpPr txBox="1"/>
          <p:nvPr/>
        </p:nvSpPr>
        <p:spPr>
          <a:xfrm>
            <a:off x="685800" y="3703320"/>
            <a:ext cx="3429000" cy="457200"/>
          </a:xfrm>
          <a:prstGeom prst="rect">
            <a:avLst/>
          </a:prstGeom>
          <a:noFill/>
        </p:spPr>
        <p:txBody>
          <a:bodyPr wrap="square" lIns="45720" tIns="18288" rIns="45720" bIns="18288" anchor="t">
            <a:spAutoFit/>
          </a:bodyPr>
          <a:lstStyle/>
          <a:p>
            <a:pPr algn="l"/>
            <a:r>
              <a:rPr sz="1100" b="1">
                <a:solidFill>
                  <a:srgbClr val="0B6E66"/>
                </a:solidFill>
                <a:latin typeface="Calibri"/>
              </a:rPr>
              <a:t>HOW THEY USE IT</a:t>
            </a:r>
          </a:p>
        </p:txBody>
      </p:sp>
      <p:sp>
        <p:nvSpPr>
          <p:cNvPr id="11" name="TextBox 10"/>
          <p:cNvSpPr txBox="1"/>
          <p:nvPr/>
        </p:nvSpPr>
        <p:spPr>
          <a:xfrm>
            <a:off x="685800" y="4069080"/>
            <a:ext cx="3429000" cy="1371600"/>
          </a:xfrm>
          <a:prstGeom prst="rect">
            <a:avLst/>
          </a:prstGeom>
          <a:noFill/>
        </p:spPr>
        <p:txBody>
          <a:bodyPr wrap="square" lIns="45720" tIns="18288" rIns="45720" bIns="18288" anchor="t">
            <a:spAutoFit/>
          </a:bodyPr>
          <a:lstStyle/>
          <a:p>
            <a:pPr algn="l"/>
            <a:r>
              <a:rPr sz="1300" b="0">
                <a:solidFill>
                  <a:srgbClr val="4B5563"/>
                </a:solidFill>
                <a:latin typeface="Calibri"/>
              </a:rPr>
              <a:t>Opens the dashboard or asks the chat: 'Top 5 producers in 2022' → answer in 3 seconds, no SQL required.</a:t>
            </a:r>
          </a:p>
        </p:txBody>
      </p:sp>
      <p:sp>
        <p:nvSpPr>
          <p:cNvPr id="12" name="Rectangle 11"/>
          <p:cNvSpPr/>
          <p:nvPr/>
        </p:nvSpPr>
        <p:spPr>
          <a:xfrm>
            <a:off x="4480560" y="1554480"/>
            <a:ext cx="3794760" cy="4023360"/>
          </a:xfrm>
          <a:prstGeom prst="rect">
            <a:avLst/>
          </a:prstGeom>
          <a:solidFill>
            <a:srgbClr val="FFFFFF"/>
          </a:solidFill>
          <a:ln>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480560" y="1554480"/>
            <a:ext cx="3794760" cy="64008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63440" y="1691640"/>
            <a:ext cx="3429000" cy="457200"/>
          </a:xfrm>
          <a:prstGeom prst="rect">
            <a:avLst/>
          </a:prstGeom>
          <a:noFill/>
        </p:spPr>
        <p:txBody>
          <a:bodyPr wrap="square" lIns="45720" tIns="18288" rIns="45720" bIns="18288" anchor="t">
            <a:spAutoFit/>
          </a:bodyPr>
          <a:lstStyle/>
          <a:p>
            <a:pPr algn="l"/>
            <a:r>
              <a:rPr sz="1800" b="1">
                <a:solidFill>
                  <a:srgbClr val="FFFFFF"/>
                </a:solidFill>
                <a:latin typeface="Calibri"/>
              </a:rPr>
              <a:t>PSIA Sponsor</a:t>
            </a:r>
          </a:p>
        </p:txBody>
      </p:sp>
      <p:sp>
        <p:nvSpPr>
          <p:cNvPr id="15" name="TextBox 14"/>
          <p:cNvSpPr txBox="1"/>
          <p:nvPr/>
        </p:nvSpPr>
        <p:spPr>
          <a:xfrm>
            <a:off x="4663440" y="2423160"/>
            <a:ext cx="3429000" cy="457200"/>
          </a:xfrm>
          <a:prstGeom prst="rect">
            <a:avLst/>
          </a:prstGeom>
          <a:noFill/>
        </p:spPr>
        <p:txBody>
          <a:bodyPr wrap="square" lIns="45720" tIns="18288" rIns="45720" bIns="18288" anchor="t">
            <a:spAutoFit/>
          </a:bodyPr>
          <a:lstStyle/>
          <a:p>
            <a:pPr algn="l"/>
            <a:r>
              <a:rPr sz="1100" b="1">
                <a:solidFill>
                  <a:srgbClr val="0B6E66"/>
                </a:solidFill>
                <a:latin typeface="Calibri"/>
              </a:rPr>
              <a:t>NEEDS</a:t>
            </a:r>
          </a:p>
        </p:txBody>
      </p:sp>
      <p:sp>
        <p:nvSpPr>
          <p:cNvPr id="16" name="TextBox 15"/>
          <p:cNvSpPr txBox="1"/>
          <p:nvPr/>
        </p:nvSpPr>
        <p:spPr>
          <a:xfrm>
            <a:off x="4663440" y="2788920"/>
            <a:ext cx="3429000" cy="914400"/>
          </a:xfrm>
          <a:prstGeom prst="rect">
            <a:avLst/>
          </a:prstGeom>
          <a:noFill/>
        </p:spPr>
        <p:txBody>
          <a:bodyPr wrap="square" lIns="45720" tIns="18288" rIns="45720" bIns="18288" anchor="t">
            <a:spAutoFit/>
          </a:bodyPr>
          <a:lstStyle/>
          <a:p>
            <a:pPr algn="l"/>
            <a:r>
              <a:rPr sz="1400" b="1">
                <a:solidFill>
                  <a:srgbClr val="111827"/>
                </a:solidFill>
                <a:latin typeface="Calibri"/>
              </a:rPr>
              <a:t>Wants a high-level view of where the industry is going</a:t>
            </a:r>
          </a:p>
        </p:txBody>
      </p:sp>
      <p:sp>
        <p:nvSpPr>
          <p:cNvPr id="17" name="TextBox 16"/>
          <p:cNvSpPr txBox="1"/>
          <p:nvPr/>
        </p:nvSpPr>
        <p:spPr>
          <a:xfrm>
            <a:off x="4663440" y="3703320"/>
            <a:ext cx="3429000" cy="457200"/>
          </a:xfrm>
          <a:prstGeom prst="rect">
            <a:avLst/>
          </a:prstGeom>
          <a:noFill/>
        </p:spPr>
        <p:txBody>
          <a:bodyPr wrap="square" lIns="45720" tIns="18288" rIns="45720" bIns="18288" anchor="t">
            <a:spAutoFit/>
          </a:bodyPr>
          <a:lstStyle/>
          <a:p>
            <a:pPr algn="l"/>
            <a:r>
              <a:rPr sz="1100" b="1">
                <a:solidFill>
                  <a:srgbClr val="0B6E66"/>
                </a:solidFill>
                <a:latin typeface="Calibri"/>
              </a:rPr>
              <a:t>HOW THEY USE IT</a:t>
            </a:r>
          </a:p>
        </p:txBody>
      </p:sp>
      <p:sp>
        <p:nvSpPr>
          <p:cNvPr id="18" name="TextBox 17"/>
          <p:cNvSpPr txBox="1"/>
          <p:nvPr/>
        </p:nvSpPr>
        <p:spPr>
          <a:xfrm>
            <a:off x="4663440" y="4069080"/>
            <a:ext cx="3429000" cy="1371600"/>
          </a:xfrm>
          <a:prstGeom prst="rect">
            <a:avLst/>
          </a:prstGeom>
          <a:noFill/>
        </p:spPr>
        <p:txBody>
          <a:bodyPr wrap="square" lIns="45720" tIns="18288" rIns="45720" bIns="18288" anchor="t">
            <a:spAutoFit/>
          </a:bodyPr>
          <a:lstStyle/>
          <a:p>
            <a:pPr algn="l"/>
            <a:r>
              <a:rPr sz="1300" b="0">
                <a:solidFill>
                  <a:srgbClr val="4B5563"/>
                </a:solidFill>
                <a:latin typeface="Calibri"/>
              </a:rPr>
              <a:t>Scans Overview + KPI tabs to see headline trends — production, value, pricing — in one place.</a:t>
            </a:r>
          </a:p>
        </p:txBody>
      </p:sp>
      <p:sp>
        <p:nvSpPr>
          <p:cNvPr id="19" name="Rectangle 18"/>
          <p:cNvSpPr/>
          <p:nvPr/>
        </p:nvSpPr>
        <p:spPr>
          <a:xfrm>
            <a:off x="8458200" y="1554480"/>
            <a:ext cx="3483429" cy="4023360"/>
          </a:xfrm>
          <a:prstGeom prst="rect">
            <a:avLst/>
          </a:prstGeom>
          <a:solidFill>
            <a:srgbClr val="FFFFFF"/>
          </a:solidFill>
          <a:ln>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458200" y="1554480"/>
            <a:ext cx="3483429" cy="64008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41080" y="1691640"/>
            <a:ext cx="3429000" cy="457200"/>
          </a:xfrm>
          <a:prstGeom prst="rect">
            <a:avLst/>
          </a:prstGeom>
          <a:noFill/>
        </p:spPr>
        <p:txBody>
          <a:bodyPr wrap="square" lIns="45720" tIns="18288" rIns="45720" bIns="18288" anchor="t">
            <a:spAutoFit/>
          </a:bodyPr>
          <a:lstStyle/>
          <a:p>
            <a:pPr algn="l"/>
            <a:r>
              <a:rPr sz="1800" b="1">
                <a:solidFill>
                  <a:srgbClr val="FFFFFF"/>
                </a:solidFill>
                <a:latin typeface="Calibri"/>
              </a:rPr>
              <a:t>Researcher / Student</a:t>
            </a:r>
          </a:p>
        </p:txBody>
      </p:sp>
      <p:sp>
        <p:nvSpPr>
          <p:cNvPr id="22" name="TextBox 21"/>
          <p:cNvSpPr txBox="1"/>
          <p:nvPr/>
        </p:nvSpPr>
        <p:spPr>
          <a:xfrm>
            <a:off x="8641080" y="2423160"/>
            <a:ext cx="3429000" cy="457200"/>
          </a:xfrm>
          <a:prstGeom prst="rect">
            <a:avLst/>
          </a:prstGeom>
          <a:noFill/>
        </p:spPr>
        <p:txBody>
          <a:bodyPr wrap="square" lIns="45720" tIns="18288" rIns="45720" bIns="18288" anchor="t">
            <a:spAutoFit/>
          </a:bodyPr>
          <a:lstStyle/>
          <a:p>
            <a:pPr algn="l"/>
            <a:r>
              <a:rPr sz="1100" b="1">
                <a:solidFill>
                  <a:srgbClr val="0B6E66"/>
                </a:solidFill>
                <a:latin typeface="Calibri"/>
              </a:rPr>
              <a:t>NEEDS</a:t>
            </a:r>
          </a:p>
        </p:txBody>
      </p:sp>
      <p:sp>
        <p:nvSpPr>
          <p:cNvPr id="23" name="TextBox 22"/>
          <p:cNvSpPr txBox="1"/>
          <p:nvPr/>
        </p:nvSpPr>
        <p:spPr>
          <a:xfrm>
            <a:off x="8641080" y="2788920"/>
            <a:ext cx="3429000" cy="914400"/>
          </a:xfrm>
          <a:prstGeom prst="rect">
            <a:avLst/>
          </a:prstGeom>
          <a:noFill/>
        </p:spPr>
        <p:txBody>
          <a:bodyPr wrap="square" lIns="45720" tIns="18288" rIns="45720" bIns="18288" anchor="t">
            <a:spAutoFit/>
          </a:bodyPr>
          <a:lstStyle/>
          <a:p>
            <a:pPr algn="l"/>
            <a:r>
              <a:rPr sz="1400" b="1">
                <a:solidFill>
                  <a:srgbClr val="111827"/>
                </a:solidFill>
                <a:latin typeface="Calibri"/>
              </a:rPr>
              <a:t>Building their own analysis or paper</a:t>
            </a:r>
          </a:p>
        </p:txBody>
      </p:sp>
      <p:sp>
        <p:nvSpPr>
          <p:cNvPr id="24" name="TextBox 23"/>
          <p:cNvSpPr txBox="1"/>
          <p:nvPr/>
        </p:nvSpPr>
        <p:spPr>
          <a:xfrm>
            <a:off x="8641080" y="3703320"/>
            <a:ext cx="3429000" cy="457200"/>
          </a:xfrm>
          <a:prstGeom prst="rect">
            <a:avLst/>
          </a:prstGeom>
          <a:noFill/>
        </p:spPr>
        <p:txBody>
          <a:bodyPr wrap="square" lIns="45720" tIns="18288" rIns="45720" bIns="18288" anchor="t">
            <a:spAutoFit/>
          </a:bodyPr>
          <a:lstStyle/>
          <a:p>
            <a:pPr algn="l"/>
            <a:r>
              <a:rPr sz="1100" b="1">
                <a:solidFill>
                  <a:srgbClr val="0B6E66"/>
                </a:solidFill>
                <a:latin typeface="Calibri"/>
              </a:rPr>
              <a:t>HOW THEY USE IT</a:t>
            </a:r>
          </a:p>
        </p:txBody>
      </p:sp>
      <p:sp>
        <p:nvSpPr>
          <p:cNvPr id="25" name="TextBox 24"/>
          <p:cNvSpPr txBox="1"/>
          <p:nvPr/>
        </p:nvSpPr>
        <p:spPr>
          <a:xfrm>
            <a:off x="8641080" y="4069080"/>
            <a:ext cx="3429000" cy="1371600"/>
          </a:xfrm>
          <a:prstGeom prst="rect">
            <a:avLst/>
          </a:prstGeom>
          <a:noFill/>
        </p:spPr>
        <p:txBody>
          <a:bodyPr wrap="square" lIns="45720" tIns="18288" rIns="45720" bIns="18288" anchor="t">
            <a:spAutoFit/>
          </a:bodyPr>
          <a:lstStyle/>
          <a:p>
            <a:pPr algn="l"/>
            <a:r>
              <a:rPr sz="1300" b="0">
                <a:solidFill>
                  <a:srgbClr val="4B5563"/>
                </a:solidFill>
                <a:latin typeface="Calibri"/>
              </a:rPr>
              <a:t>Uses the dashboard for exploration, then asks the chat for specific cuts and copies the SQL it generates.</a:t>
            </a:r>
          </a:p>
        </p:txBody>
      </p:sp>
      <p:sp>
        <p:nvSpPr>
          <p:cNvPr id="26" name="TextBox 25"/>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a:solidFill>
                  <a:srgbClr val="4B5563"/>
                </a:solidFill>
                <a:latin typeface="Calibri"/>
              </a:rPr>
              <a:t>Seaweed Industry  ·  Capstone Mid-Term</a:t>
            </a:r>
          </a:p>
        </p:txBody>
      </p:sp>
      <p:sp>
        <p:nvSpPr>
          <p:cNvPr id="27" name="TextBox 26"/>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17 / 28</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9144000" cy="320040"/>
          </a:xfrm>
          <a:prstGeom prst="rect">
            <a:avLst/>
          </a:prstGeom>
          <a:noFill/>
        </p:spPr>
        <p:txBody>
          <a:bodyPr wrap="square" lIns="45720" tIns="18288" rIns="45720" bIns="18288" anchor="t">
            <a:spAutoFit/>
          </a:bodyPr>
          <a:lstStyle/>
          <a:p>
            <a:pPr algn="l"/>
            <a:r>
              <a:rPr sz="1200" b="1">
                <a:solidFill>
                  <a:srgbClr val="0D9488"/>
                </a:solidFill>
                <a:latin typeface="Calibri"/>
              </a:rPr>
              <a:t>DEMO · DASHBOARD</a:t>
            </a:r>
          </a:p>
        </p:txBody>
      </p:sp>
      <p:sp>
        <p:nvSpPr>
          <p:cNvPr id="4" name="TextBox 3"/>
          <p:cNvSpPr txBox="1"/>
          <p:nvPr/>
        </p:nvSpPr>
        <p:spPr>
          <a:xfrm>
            <a:off x="548640" y="594360"/>
            <a:ext cx="10972800" cy="640080"/>
          </a:xfrm>
          <a:prstGeom prst="rect">
            <a:avLst/>
          </a:prstGeom>
          <a:noFill/>
        </p:spPr>
        <p:txBody>
          <a:bodyPr wrap="square" lIns="45720" tIns="18288" rIns="45720" bIns="18288" anchor="t">
            <a:spAutoFit/>
          </a:bodyPr>
          <a:lstStyle/>
          <a:p>
            <a:pPr algn="l"/>
            <a:r>
              <a:rPr sz="3000" b="1">
                <a:solidFill>
                  <a:srgbClr val="111827"/>
                </a:solidFill>
                <a:latin typeface="Calibri"/>
              </a:rPr>
              <a:t>12 tabs at a glance</a:t>
            </a:r>
          </a:p>
        </p:txBody>
      </p:sp>
      <p:sp>
        <p:nvSpPr>
          <p:cNvPr id="5" name="Rectangle 4"/>
          <p:cNvSpPr/>
          <p:nvPr/>
        </p:nvSpPr>
        <p:spPr>
          <a:xfrm>
            <a:off x="548640" y="1554480"/>
            <a:ext cx="2651760" cy="82296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554480"/>
            <a:ext cx="73152" cy="82296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83080"/>
            <a:ext cx="2377440" cy="457200"/>
          </a:xfrm>
          <a:prstGeom prst="rect">
            <a:avLst/>
          </a:prstGeom>
          <a:noFill/>
        </p:spPr>
        <p:txBody>
          <a:bodyPr wrap="square" lIns="45720" tIns="18288" rIns="45720" bIns="18288" anchor="t">
            <a:spAutoFit/>
          </a:bodyPr>
          <a:lstStyle/>
          <a:p>
            <a:pPr algn="l"/>
            <a:r>
              <a:rPr sz="1400" b="1">
                <a:solidFill>
                  <a:srgbClr val="111827"/>
                </a:solidFill>
                <a:latin typeface="Calibri"/>
              </a:rPr>
              <a:t>Overview</a:t>
            </a:r>
          </a:p>
        </p:txBody>
      </p:sp>
      <p:sp>
        <p:nvSpPr>
          <p:cNvPr id="8" name="Rectangle 7"/>
          <p:cNvSpPr/>
          <p:nvPr/>
        </p:nvSpPr>
        <p:spPr>
          <a:xfrm>
            <a:off x="3337560" y="1554480"/>
            <a:ext cx="2651760" cy="82296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337560" y="1554480"/>
            <a:ext cx="73152" cy="82296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66160" y="1783080"/>
            <a:ext cx="2377440" cy="457200"/>
          </a:xfrm>
          <a:prstGeom prst="rect">
            <a:avLst/>
          </a:prstGeom>
          <a:noFill/>
        </p:spPr>
        <p:txBody>
          <a:bodyPr wrap="square" lIns="45720" tIns="18288" rIns="45720" bIns="18288" anchor="t">
            <a:spAutoFit/>
          </a:bodyPr>
          <a:lstStyle/>
          <a:p>
            <a:pPr algn="l"/>
            <a:r>
              <a:rPr sz="1400" b="1">
                <a:solidFill>
                  <a:srgbClr val="111827"/>
                </a:solidFill>
                <a:latin typeface="Calibri"/>
              </a:rPr>
              <a:t>Countries</a:t>
            </a:r>
          </a:p>
        </p:txBody>
      </p:sp>
      <p:sp>
        <p:nvSpPr>
          <p:cNvPr id="11" name="Rectangle 10"/>
          <p:cNvSpPr/>
          <p:nvPr/>
        </p:nvSpPr>
        <p:spPr>
          <a:xfrm>
            <a:off x="6126480" y="1554480"/>
            <a:ext cx="2651760" cy="82296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26480" y="1554480"/>
            <a:ext cx="73152" cy="82296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1783080"/>
            <a:ext cx="2377440" cy="457200"/>
          </a:xfrm>
          <a:prstGeom prst="rect">
            <a:avLst/>
          </a:prstGeom>
          <a:noFill/>
        </p:spPr>
        <p:txBody>
          <a:bodyPr wrap="square" lIns="45720" tIns="18288" rIns="45720" bIns="18288" anchor="t">
            <a:spAutoFit/>
          </a:bodyPr>
          <a:lstStyle/>
          <a:p>
            <a:pPr algn="l"/>
            <a:r>
              <a:rPr sz="1400" b="1">
                <a:solidFill>
                  <a:srgbClr val="111827"/>
                </a:solidFill>
                <a:latin typeface="Calibri"/>
              </a:rPr>
              <a:t>Regions</a:t>
            </a:r>
          </a:p>
        </p:txBody>
      </p:sp>
      <p:sp>
        <p:nvSpPr>
          <p:cNvPr id="14" name="Rectangle 13"/>
          <p:cNvSpPr/>
          <p:nvPr/>
        </p:nvSpPr>
        <p:spPr>
          <a:xfrm>
            <a:off x="8915400" y="1554480"/>
            <a:ext cx="2651760" cy="82296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915400" y="1554480"/>
            <a:ext cx="73152" cy="82296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0" y="1783080"/>
            <a:ext cx="2377440" cy="457200"/>
          </a:xfrm>
          <a:prstGeom prst="rect">
            <a:avLst/>
          </a:prstGeom>
          <a:noFill/>
        </p:spPr>
        <p:txBody>
          <a:bodyPr wrap="square" lIns="45720" tIns="18288" rIns="45720" bIns="18288" anchor="t">
            <a:spAutoFit/>
          </a:bodyPr>
          <a:lstStyle/>
          <a:p>
            <a:pPr algn="l"/>
            <a:r>
              <a:rPr sz="1400" b="1">
                <a:solidFill>
                  <a:srgbClr val="111827"/>
                </a:solidFill>
                <a:latin typeface="Calibri"/>
              </a:rPr>
              <a:t>Species</a:t>
            </a:r>
          </a:p>
        </p:txBody>
      </p:sp>
      <p:sp>
        <p:nvSpPr>
          <p:cNvPr id="17" name="Rectangle 16"/>
          <p:cNvSpPr/>
          <p:nvPr/>
        </p:nvSpPr>
        <p:spPr>
          <a:xfrm>
            <a:off x="548640" y="2560320"/>
            <a:ext cx="2651760" cy="82296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48640" y="2560320"/>
            <a:ext cx="73152" cy="82296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2788920"/>
            <a:ext cx="2377440" cy="457200"/>
          </a:xfrm>
          <a:prstGeom prst="rect">
            <a:avLst/>
          </a:prstGeom>
          <a:noFill/>
        </p:spPr>
        <p:txBody>
          <a:bodyPr wrap="square" lIns="45720" tIns="18288" rIns="45720" bIns="18288" anchor="t">
            <a:spAutoFit/>
          </a:bodyPr>
          <a:lstStyle/>
          <a:p>
            <a:pPr algn="l"/>
            <a:r>
              <a:rPr sz="1400" b="1">
                <a:solidFill>
                  <a:srgbClr val="111827"/>
                </a:solidFill>
                <a:latin typeface="Calibri"/>
              </a:rPr>
              <a:t>Economics</a:t>
            </a:r>
          </a:p>
        </p:txBody>
      </p:sp>
      <p:sp>
        <p:nvSpPr>
          <p:cNvPr id="20" name="Rectangle 19"/>
          <p:cNvSpPr/>
          <p:nvPr/>
        </p:nvSpPr>
        <p:spPr>
          <a:xfrm>
            <a:off x="3337560" y="2560320"/>
            <a:ext cx="2651760" cy="82296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337560" y="2560320"/>
            <a:ext cx="73152" cy="82296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566160" y="2788920"/>
            <a:ext cx="2377440" cy="457200"/>
          </a:xfrm>
          <a:prstGeom prst="rect">
            <a:avLst/>
          </a:prstGeom>
          <a:noFill/>
        </p:spPr>
        <p:txBody>
          <a:bodyPr wrap="square" lIns="45720" tIns="18288" rIns="45720" bIns="18288" anchor="t">
            <a:spAutoFit/>
          </a:bodyPr>
          <a:lstStyle/>
          <a:p>
            <a:pPr algn="l"/>
            <a:r>
              <a:rPr sz="1400" b="1">
                <a:solidFill>
                  <a:srgbClr val="111827"/>
                </a:solidFill>
                <a:latin typeface="Calibri"/>
              </a:rPr>
              <a:t>EDA</a:t>
            </a:r>
          </a:p>
        </p:txBody>
      </p:sp>
      <p:sp>
        <p:nvSpPr>
          <p:cNvPr id="23" name="Rectangle 22"/>
          <p:cNvSpPr/>
          <p:nvPr/>
        </p:nvSpPr>
        <p:spPr>
          <a:xfrm>
            <a:off x="6126480" y="2560320"/>
            <a:ext cx="2651760" cy="82296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126480" y="2560320"/>
            <a:ext cx="73152" cy="82296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55080" y="2788920"/>
            <a:ext cx="2377440" cy="457200"/>
          </a:xfrm>
          <a:prstGeom prst="rect">
            <a:avLst/>
          </a:prstGeom>
          <a:noFill/>
        </p:spPr>
        <p:txBody>
          <a:bodyPr wrap="square" lIns="45720" tIns="18288" rIns="45720" bIns="18288" anchor="t">
            <a:spAutoFit/>
          </a:bodyPr>
          <a:lstStyle/>
          <a:p>
            <a:pPr algn="l"/>
            <a:r>
              <a:rPr sz="1400" b="1">
                <a:solidFill>
                  <a:srgbClr val="111827"/>
                </a:solidFill>
                <a:latin typeface="Calibri"/>
              </a:rPr>
              <a:t>KPI · Export Value</a:t>
            </a:r>
          </a:p>
        </p:txBody>
      </p:sp>
      <p:sp>
        <p:nvSpPr>
          <p:cNvPr id="26" name="Rectangle 25"/>
          <p:cNvSpPr/>
          <p:nvPr/>
        </p:nvSpPr>
        <p:spPr>
          <a:xfrm>
            <a:off x="8915400" y="2560320"/>
            <a:ext cx="2651760" cy="82296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915400" y="2560320"/>
            <a:ext cx="73152" cy="82296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44000" y="2788920"/>
            <a:ext cx="2377440" cy="457200"/>
          </a:xfrm>
          <a:prstGeom prst="rect">
            <a:avLst/>
          </a:prstGeom>
          <a:noFill/>
        </p:spPr>
        <p:txBody>
          <a:bodyPr wrap="square" lIns="45720" tIns="18288" rIns="45720" bIns="18288" anchor="t">
            <a:spAutoFit/>
          </a:bodyPr>
          <a:lstStyle/>
          <a:p>
            <a:pPr algn="l"/>
            <a:r>
              <a:rPr sz="1400" b="1">
                <a:solidFill>
                  <a:srgbClr val="111827"/>
                </a:solidFill>
                <a:latin typeface="Calibri"/>
              </a:rPr>
              <a:t>KPI · Gross Output</a:t>
            </a:r>
          </a:p>
        </p:txBody>
      </p:sp>
      <p:sp>
        <p:nvSpPr>
          <p:cNvPr id="29" name="Rectangle 28"/>
          <p:cNvSpPr/>
          <p:nvPr/>
        </p:nvSpPr>
        <p:spPr>
          <a:xfrm>
            <a:off x="548640" y="3566160"/>
            <a:ext cx="2651760" cy="82296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48640" y="3566160"/>
            <a:ext cx="73152" cy="82296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7240" y="3794760"/>
            <a:ext cx="2377440" cy="457200"/>
          </a:xfrm>
          <a:prstGeom prst="rect">
            <a:avLst/>
          </a:prstGeom>
          <a:noFill/>
        </p:spPr>
        <p:txBody>
          <a:bodyPr wrap="square" lIns="45720" tIns="18288" rIns="45720" bIns="18288" anchor="t">
            <a:spAutoFit/>
          </a:bodyPr>
          <a:lstStyle/>
          <a:p>
            <a:pPr algn="l"/>
            <a:r>
              <a:rPr sz="1400" b="1">
                <a:solidFill>
                  <a:srgbClr val="111827"/>
                </a:solidFill>
                <a:latin typeface="Calibri"/>
              </a:rPr>
              <a:t>KPI · Value per Lb</a:t>
            </a:r>
          </a:p>
        </p:txBody>
      </p:sp>
      <p:sp>
        <p:nvSpPr>
          <p:cNvPr id="32" name="Rectangle 31"/>
          <p:cNvSpPr/>
          <p:nvPr/>
        </p:nvSpPr>
        <p:spPr>
          <a:xfrm>
            <a:off x="3337560" y="3566160"/>
            <a:ext cx="2651760" cy="82296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337560" y="3566160"/>
            <a:ext cx="73152" cy="82296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566160" y="3794760"/>
            <a:ext cx="2377440" cy="457200"/>
          </a:xfrm>
          <a:prstGeom prst="rect">
            <a:avLst/>
          </a:prstGeom>
          <a:noFill/>
        </p:spPr>
        <p:txBody>
          <a:bodyPr wrap="square" lIns="45720" tIns="18288" rIns="45720" bIns="18288" anchor="t">
            <a:spAutoFit/>
          </a:bodyPr>
          <a:lstStyle/>
          <a:p>
            <a:pPr algn="l"/>
            <a:r>
              <a:rPr sz="1400" b="1">
                <a:solidFill>
                  <a:srgbClr val="111827"/>
                </a:solidFill>
                <a:latin typeface="Calibri"/>
              </a:rPr>
              <a:t>PSIA · Demand</a:t>
            </a:r>
          </a:p>
        </p:txBody>
      </p:sp>
      <p:sp>
        <p:nvSpPr>
          <p:cNvPr id="35" name="Rectangle 34"/>
          <p:cNvSpPr/>
          <p:nvPr/>
        </p:nvSpPr>
        <p:spPr>
          <a:xfrm>
            <a:off x="6126480" y="3566160"/>
            <a:ext cx="2651760" cy="82296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126480" y="3566160"/>
            <a:ext cx="73152" cy="82296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55080" y="3794760"/>
            <a:ext cx="2377440" cy="457200"/>
          </a:xfrm>
          <a:prstGeom prst="rect">
            <a:avLst/>
          </a:prstGeom>
          <a:noFill/>
        </p:spPr>
        <p:txBody>
          <a:bodyPr wrap="square" lIns="45720" tIns="18288" rIns="45720" bIns="18288" anchor="t">
            <a:spAutoFit/>
          </a:bodyPr>
          <a:lstStyle/>
          <a:p>
            <a:pPr algn="l"/>
            <a:r>
              <a:rPr sz="1400" b="1">
                <a:solidFill>
                  <a:srgbClr val="111827"/>
                </a:solidFill>
                <a:latin typeface="Calibri"/>
              </a:rPr>
              <a:t>PSIA · Pricing</a:t>
            </a:r>
          </a:p>
        </p:txBody>
      </p:sp>
      <p:sp>
        <p:nvSpPr>
          <p:cNvPr id="38" name="TextBox 37"/>
          <p:cNvSpPr txBox="1"/>
          <p:nvPr/>
        </p:nvSpPr>
        <p:spPr>
          <a:xfrm>
            <a:off x="548640" y="4983480"/>
            <a:ext cx="10972800" cy="467820"/>
          </a:xfrm>
          <a:prstGeom prst="rect">
            <a:avLst/>
          </a:prstGeom>
          <a:noFill/>
        </p:spPr>
        <p:txBody>
          <a:bodyPr wrap="square" lIns="45720" tIns="18288" rIns="45720" bIns="18288" anchor="t">
            <a:spAutoFit/>
          </a:bodyPr>
          <a:lstStyle/>
          <a:p>
            <a:pPr algn="l"/>
            <a:r>
              <a:rPr sz="1400" b="0" dirty="0">
                <a:solidFill>
                  <a:srgbClr val="4B5563"/>
                </a:solidFill>
                <a:latin typeface="Calibri"/>
              </a:rPr>
              <a:t>Every tab follows the same pattern: a KPI row up top, the main visualization in the middle, and an Insights list below highlighting the takeaway. The Insights list is generated from the chart's underlying data so as the data updates, the takeaways stay in sync.</a:t>
            </a:r>
          </a:p>
        </p:txBody>
      </p:sp>
      <p:sp>
        <p:nvSpPr>
          <p:cNvPr id="39" name="TextBox 38"/>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a:solidFill>
                  <a:srgbClr val="4B5563"/>
                </a:solidFill>
                <a:latin typeface="Calibri"/>
              </a:rPr>
              <a:t>Seaweed Industry  ·  Capstone Mid-Term</a:t>
            </a:r>
          </a:p>
        </p:txBody>
      </p:sp>
      <p:sp>
        <p:nvSpPr>
          <p:cNvPr id="40" name="TextBox 39"/>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18 / 28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9144000" cy="320040"/>
          </a:xfrm>
          <a:prstGeom prst="rect">
            <a:avLst/>
          </a:prstGeom>
          <a:noFill/>
        </p:spPr>
        <p:txBody>
          <a:bodyPr wrap="square" lIns="45720" tIns="18288" rIns="45720" bIns="18288" anchor="t">
            <a:spAutoFit/>
          </a:bodyPr>
          <a:lstStyle/>
          <a:p>
            <a:pPr algn="l"/>
            <a:r>
              <a:rPr sz="1200" b="1">
                <a:solidFill>
                  <a:srgbClr val="0D9488"/>
                </a:solidFill>
                <a:latin typeface="Calibri"/>
              </a:rPr>
              <a:t>DEMO · PSIA AI</a:t>
            </a:r>
          </a:p>
        </p:txBody>
      </p:sp>
      <p:sp>
        <p:nvSpPr>
          <p:cNvPr id="4" name="TextBox 3"/>
          <p:cNvSpPr txBox="1"/>
          <p:nvPr/>
        </p:nvSpPr>
        <p:spPr>
          <a:xfrm>
            <a:off x="548640" y="594360"/>
            <a:ext cx="10972800" cy="640080"/>
          </a:xfrm>
          <a:prstGeom prst="rect">
            <a:avLst/>
          </a:prstGeom>
          <a:noFill/>
        </p:spPr>
        <p:txBody>
          <a:bodyPr wrap="square" lIns="45720" tIns="18288" rIns="45720" bIns="18288" anchor="t">
            <a:spAutoFit/>
          </a:bodyPr>
          <a:lstStyle/>
          <a:p>
            <a:pPr algn="l"/>
            <a:r>
              <a:rPr sz="3000" b="1">
                <a:solidFill>
                  <a:srgbClr val="111827"/>
                </a:solidFill>
                <a:latin typeface="Calibri"/>
              </a:rPr>
              <a:t>Ask your data — in plain English</a:t>
            </a:r>
          </a:p>
        </p:txBody>
      </p:sp>
      <p:sp>
        <p:nvSpPr>
          <p:cNvPr id="5" name="TextBox 4"/>
          <p:cNvSpPr txBox="1"/>
          <p:nvPr/>
        </p:nvSpPr>
        <p:spPr>
          <a:xfrm>
            <a:off x="548640" y="1463040"/>
            <a:ext cx="10972800" cy="548640"/>
          </a:xfrm>
          <a:prstGeom prst="rect">
            <a:avLst/>
          </a:prstGeom>
          <a:noFill/>
        </p:spPr>
        <p:txBody>
          <a:bodyPr wrap="square" lIns="45720" tIns="18288" rIns="45720" bIns="18288" anchor="t">
            <a:spAutoFit/>
          </a:bodyPr>
          <a:lstStyle/>
          <a:p>
            <a:pPr algn="l"/>
            <a:r>
              <a:rPr sz="1500" b="0">
                <a:solidFill>
                  <a:srgbClr val="4B5563"/>
                </a:solidFill>
                <a:latin typeface="Calibri"/>
              </a:rPr>
              <a:t>Click the chat icon, type a question, and PSIA AI generates SQL, queries DuckDB, and answers you back.</a:t>
            </a:r>
          </a:p>
        </p:txBody>
      </p:sp>
      <p:sp>
        <p:nvSpPr>
          <p:cNvPr id="6" name="TextBox 5"/>
          <p:cNvSpPr txBox="1"/>
          <p:nvPr/>
        </p:nvSpPr>
        <p:spPr>
          <a:xfrm>
            <a:off x="548640" y="2194560"/>
            <a:ext cx="10972800" cy="457200"/>
          </a:xfrm>
          <a:prstGeom prst="rect">
            <a:avLst/>
          </a:prstGeom>
          <a:noFill/>
        </p:spPr>
        <p:txBody>
          <a:bodyPr wrap="square" lIns="45720" tIns="18288" rIns="45720" bIns="18288" anchor="t">
            <a:spAutoFit/>
          </a:bodyPr>
          <a:lstStyle/>
          <a:p>
            <a:pPr algn="l"/>
            <a:r>
              <a:rPr sz="1600" b="1">
                <a:solidFill>
                  <a:srgbClr val="111827"/>
                </a:solidFill>
                <a:latin typeface="Calibri"/>
              </a:rPr>
              <a:t>What makes it useful:</a:t>
            </a:r>
          </a:p>
        </p:txBody>
      </p:sp>
      <p:sp>
        <p:nvSpPr>
          <p:cNvPr id="7" name="TextBox 6"/>
          <p:cNvSpPr txBox="1"/>
          <p:nvPr/>
        </p:nvSpPr>
        <p:spPr>
          <a:xfrm>
            <a:off x="731520" y="2743200"/>
            <a:ext cx="3291840" cy="457200"/>
          </a:xfrm>
          <a:prstGeom prst="rect">
            <a:avLst/>
          </a:prstGeom>
          <a:noFill/>
        </p:spPr>
        <p:txBody>
          <a:bodyPr wrap="square" lIns="45720" tIns="18288" rIns="45720" bIns="18288" anchor="t">
            <a:spAutoFit/>
          </a:bodyPr>
          <a:lstStyle/>
          <a:p>
            <a:pPr algn="l"/>
            <a:r>
              <a:rPr sz="1400" b="1">
                <a:solidFill>
                  <a:srgbClr val="0B6E66"/>
                </a:solidFill>
                <a:latin typeface="Calibri"/>
              </a:rPr>
              <a:t>● Plain English → SQL</a:t>
            </a:r>
          </a:p>
        </p:txBody>
      </p:sp>
      <p:sp>
        <p:nvSpPr>
          <p:cNvPr id="8" name="TextBox 7"/>
          <p:cNvSpPr txBox="1"/>
          <p:nvPr/>
        </p:nvSpPr>
        <p:spPr>
          <a:xfrm>
            <a:off x="4114800" y="2743200"/>
            <a:ext cx="7315200" cy="236988"/>
          </a:xfrm>
          <a:prstGeom prst="rect">
            <a:avLst/>
          </a:prstGeom>
          <a:noFill/>
        </p:spPr>
        <p:txBody>
          <a:bodyPr wrap="square" lIns="45720" tIns="18288" rIns="45720" bIns="18288" anchor="t">
            <a:spAutoFit/>
          </a:bodyPr>
          <a:lstStyle/>
          <a:p>
            <a:pPr algn="l"/>
            <a:r>
              <a:rPr sz="1300" b="0" dirty="0">
                <a:solidFill>
                  <a:srgbClr val="4B5563"/>
                </a:solidFill>
                <a:latin typeface="Calibri"/>
              </a:rPr>
              <a:t>No </a:t>
            </a:r>
            <a:r>
              <a:rPr lang="en-CA" sz="1300" b="0" dirty="0">
                <a:solidFill>
                  <a:srgbClr val="4B5563"/>
                </a:solidFill>
                <a:latin typeface="Calibri"/>
              </a:rPr>
              <a:t>need-to-know</a:t>
            </a:r>
            <a:r>
              <a:rPr sz="1300" b="0" dirty="0">
                <a:solidFill>
                  <a:srgbClr val="4B5563"/>
                </a:solidFill>
                <a:latin typeface="Calibri"/>
              </a:rPr>
              <a:t> table names, columns, or joins. Type the question; get the data.</a:t>
            </a:r>
          </a:p>
        </p:txBody>
      </p:sp>
      <p:sp>
        <p:nvSpPr>
          <p:cNvPr id="9" name="TextBox 8"/>
          <p:cNvSpPr txBox="1"/>
          <p:nvPr/>
        </p:nvSpPr>
        <p:spPr>
          <a:xfrm>
            <a:off x="731520" y="3337560"/>
            <a:ext cx="3291840" cy="457200"/>
          </a:xfrm>
          <a:prstGeom prst="rect">
            <a:avLst/>
          </a:prstGeom>
          <a:noFill/>
        </p:spPr>
        <p:txBody>
          <a:bodyPr wrap="square" lIns="45720" tIns="18288" rIns="45720" bIns="18288" anchor="t">
            <a:spAutoFit/>
          </a:bodyPr>
          <a:lstStyle/>
          <a:p>
            <a:pPr algn="l"/>
            <a:r>
              <a:rPr sz="1400" b="1">
                <a:solidFill>
                  <a:srgbClr val="0B6E66"/>
                </a:solidFill>
                <a:latin typeface="Calibri"/>
              </a:rPr>
              <a:t>● Entity resolution</a:t>
            </a:r>
          </a:p>
        </p:txBody>
      </p:sp>
      <p:sp>
        <p:nvSpPr>
          <p:cNvPr id="10" name="TextBox 9"/>
          <p:cNvSpPr txBox="1"/>
          <p:nvPr/>
        </p:nvSpPr>
        <p:spPr>
          <a:xfrm>
            <a:off x="4114800" y="3337560"/>
            <a:ext cx="7315200" cy="548640"/>
          </a:xfrm>
          <a:prstGeom prst="rect">
            <a:avLst/>
          </a:prstGeom>
          <a:noFill/>
        </p:spPr>
        <p:txBody>
          <a:bodyPr wrap="square" lIns="45720" tIns="18288" rIns="45720" bIns="18288" anchor="t">
            <a:spAutoFit/>
          </a:bodyPr>
          <a:lstStyle/>
          <a:p>
            <a:pPr algn="l"/>
            <a:r>
              <a:rPr sz="1300" b="0" dirty="0">
                <a:solidFill>
                  <a:srgbClr val="4B5563"/>
                </a:solidFill>
                <a:latin typeface="Calibri"/>
              </a:rPr>
              <a:t>We map informal names to canonical ones — 'USA' resolves to 'United States of America'.</a:t>
            </a:r>
          </a:p>
        </p:txBody>
      </p:sp>
      <p:sp>
        <p:nvSpPr>
          <p:cNvPr id="11" name="TextBox 10"/>
          <p:cNvSpPr txBox="1"/>
          <p:nvPr/>
        </p:nvSpPr>
        <p:spPr>
          <a:xfrm>
            <a:off x="731520" y="3931920"/>
            <a:ext cx="3291840" cy="457200"/>
          </a:xfrm>
          <a:prstGeom prst="rect">
            <a:avLst/>
          </a:prstGeom>
          <a:noFill/>
        </p:spPr>
        <p:txBody>
          <a:bodyPr wrap="square" lIns="45720" tIns="18288" rIns="45720" bIns="18288" anchor="t">
            <a:spAutoFit/>
          </a:bodyPr>
          <a:lstStyle/>
          <a:p>
            <a:pPr algn="l"/>
            <a:r>
              <a:rPr sz="1400" b="1">
                <a:solidFill>
                  <a:srgbClr val="0B6E66"/>
                </a:solidFill>
                <a:latin typeface="Calibri"/>
              </a:rPr>
              <a:t>● Few-shot grounded</a:t>
            </a:r>
          </a:p>
        </p:txBody>
      </p:sp>
      <p:sp>
        <p:nvSpPr>
          <p:cNvPr id="12" name="TextBox 11"/>
          <p:cNvSpPr txBox="1"/>
          <p:nvPr/>
        </p:nvSpPr>
        <p:spPr>
          <a:xfrm>
            <a:off x="4114800" y="3931920"/>
            <a:ext cx="7315200" cy="548640"/>
          </a:xfrm>
          <a:prstGeom prst="rect">
            <a:avLst/>
          </a:prstGeom>
          <a:noFill/>
        </p:spPr>
        <p:txBody>
          <a:bodyPr wrap="square" lIns="45720" tIns="18288" rIns="45720" bIns="18288" anchor="t">
            <a:spAutoFit/>
          </a:bodyPr>
          <a:lstStyle/>
          <a:p>
            <a:pPr algn="l"/>
            <a:r>
              <a:rPr sz="1300" b="0">
                <a:solidFill>
                  <a:srgbClr val="4B5563"/>
                </a:solidFill>
                <a:latin typeface="Calibri"/>
              </a:rPr>
              <a:t>Embeddings retrieve similar example queries; the LLM uses them to write better SQL.</a:t>
            </a:r>
          </a:p>
        </p:txBody>
      </p:sp>
      <p:sp>
        <p:nvSpPr>
          <p:cNvPr id="13" name="TextBox 12"/>
          <p:cNvSpPr txBox="1"/>
          <p:nvPr/>
        </p:nvSpPr>
        <p:spPr>
          <a:xfrm>
            <a:off x="731520" y="4526280"/>
            <a:ext cx="3291840" cy="457200"/>
          </a:xfrm>
          <a:prstGeom prst="rect">
            <a:avLst/>
          </a:prstGeom>
          <a:noFill/>
        </p:spPr>
        <p:txBody>
          <a:bodyPr wrap="square" lIns="45720" tIns="18288" rIns="45720" bIns="18288" anchor="t">
            <a:spAutoFit/>
          </a:bodyPr>
          <a:lstStyle/>
          <a:p>
            <a:pPr algn="l"/>
            <a:r>
              <a:rPr sz="1400" b="1">
                <a:solidFill>
                  <a:srgbClr val="0B6E66"/>
                </a:solidFill>
                <a:latin typeface="Calibri"/>
              </a:rPr>
              <a:t>● Transparent</a:t>
            </a:r>
          </a:p>
        </p:txBody>
      </p:sp>
      <p:sp>
        <p:nvSpPr>
          <p:cNvPr id="14" name="TextBox 13"/>
          <p:cNvSpPr txBox="1"/>
          <p:nvPr/>
        </p:nvSpPr>
        <p:spPr>
          <a:xfrm>
            <a:off x="4114800" y="4526280"/>
            <a:ext cx="7315200" cy="548640"/>
          </a:xfrm>
          <a:prstGeom prst="rect">
            <a:avLst/>
          </a:prstGeom>
          <a:noFill/>
        </p:spPr>
        <p:txBody>
          <a:bodyPr wrap="square" lIns="45720" tIns="18288" rIns="45720" bIns="18288" anchor="t">
            <a:spAutoFit/>
          </a:bodyPr>
          <a:lstStyle/>
          <a:p>
            <a:pPr algn="l"/>
            <a:r>
              <a:rPr sz="1300" b="0" dirty="0">
                <a:solidFill>
                  <a:srgbClr val="4B5563"/>
                </a:solidFill>
                <a:latin typeface="Calibri"/>
              </a:rPr>
              <a:t>Every answer shows the SQL it ran — so you can verify, edit, or copy it.</a:t>
            </a:r>
          </a:p>
        </p:txBody>
      </p:sp>
      <p:sp>
        <p:nvSpPr>
          <p:cNvPr id="15" name="TextBox 14"/>
          <p:cNvSpPr txBox="1"/>
          <p:nvPr/>
        </p:nvSpPr>
        <p:spPr>
          <a:xfrm>
            <a:off x="731520" y="5120640"/>
            <a:ext cx="3291840" cy="457200"/>
          </a:xfrm>
          <a:prstGeom prst="rect">
            <a:avLst/>
          </a:prstGeom>
          <a:noFill/>
        </p:spPr>
        <p:txBody>
          <a:bodyPr wrap="square" lIns="45720" tIns="18288" rIns="45720" bIns="18288" anchor="t">
            <a:spAutoFit/>
          </a:bodyPr>
          <a:lstStyle/>
          <a:p>
            <a:pPr algn="l"/>
            <a:r>
              <a:rPr sz="1400" b="1">
                <a:solidFill>
                  <a:srgbClr val="0B6E66"/>
                </a:solidFill>
                <a:latin typeface="Calibri"/>
              </a:rPr>
              <a:t>● Graceful failure</a:t>
            </a:r>
          </a:p>
        </p:txBody>
      </p:sp>
      <p:sp>
        <p:nvSpPr>
          <p:cNvPr id="16" name="TextBox 15"/>
          <p:cNvSpPr txBox="1"/>
          <p:nvPr/>
        </p:nvSpPr>
        <p:spPr>
          <a:xfrm>
            <a:off x="4114800" y="5120640"/>
            <a:ext cx="7315200" cy="548640"/>
          </a:xfrm>
          <a:prstGeom prst="rect">
            <a:avLst/>
          </a:prstGeom>
          <a:noFill/>
        </p:spPr>
        <p:txBody>
          <a:bodyPr wrap="square" lIns="45720" tIns="18288" rIns="45720" bIns="18288" anchor="t">
            <a:spAutoFit/>
          </a:bodyPr>
          <a:lstStyle/>
          <a:p>
            <a:pPr algn="l"/>
            <a:r>
              <a:rPr sz="1300" b="0">
                <a:solidFill>
                  <a:srgbClr val="4B5563"/>
                </a:solidFill>
                <a:latin typeface="Calibri"/>
              </a:rPr>
              <a:t>Nonsense questions ('Mars production') return None instead of hallucinated numbers.</a:t>
            </a:r>
          </a:p>
        </p:txBody>
      </p:sp>
      <p:sp>
        <p:nvSpPr>
          <p:cNvPr id="17" name="TextBox 16"/>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a:solidFill>
                  <a:srgbClr val="4B5563"/>
                </a:solidFill>
                <a:latin typeface="Calibri"/>
              </a:rPr>
              <a:t>Seaweed Industry  ·  Capstone Mid-Term</a:t>
            </a:r>
          </a:p>
        </p:txBody>
      </p:sp>
      <p:sp>
        <p:nvSpPr>
          <p:cNvPr id="18" name="TextBox 17"/>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19 / 28</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9144000" cy="320040"/>
          </a:xfrm>
          <a:prstGeom prst="rect">
            <a:avLst/>
          </a:prstGeom>
          <a:noFill/>
        </p:spPr>
        <p:txBody>
          <a:bodyPr wrap="square" lIns="45720" tIns="18288" rIns="45720" bIns="18288" anchor="t">
            <a:spAutoFit/>
          </a:bodyPr>
          <a:lstStyle/>
          <a:p>
            <a:pPr algn="l"/>
            <a:r>
              <a:rPr sz="1200" b="1">
                <a:solidFill>
                  <a:srgbClr val="0D9488"/>
                </a:solidFill>
                <a:latin typeface="Calibri"/>
              </a:rPr>
              <a:t>AI CHAT · #1</a:t>
            </a:r>
          </a:p>
        </p:txBody>
      </p:sp>
      <p:sp>
        <p:nvSpPr>
          <p:cNvPr id="4" name="TextBox 3"/>
          <p:cNvSpPr txBox="1"/>
          <p:nvPr/>
        </p:nvSpPr>
        <p:spPr>
          <a:xfrm>
            <a:off x="548640" y="594360"/>
            <a:ext cx="10972800" cy="640080"/>
          </a:xfrm>
          <a:prstGeom prst="rect">
            <a:avLst/>
          </a:prstGeom>
          <a:noFill/>
        </p:spPr>
        <p:txBody>
          <a:bodyPr wrap="square" lIns="45720" tIns="18288" rIns="45720" bIns="18288" anchor="t">
            <a:spAutoFit/>
          </a:bodyPr>
          <a:lstStyle/>
          <a:p>
            <a:pPr algn="l"/>
            <a:r>
              <a:rPr sz="3000" b="1">
                <a:solidFill>
                  <a:srgbClr val="111827"/>
                </a:solidFill>
                <a:latin typeface="Calibri"/>
              </a:rPr>
              <a:t>Top-N query: 'Top 5 producers in 2022'</a:t>
            </a:r>
          </a:p>
        </p:txBody>
      </p:sp>
      <p:pic>
        <p:nvPicPr>
          <p:cNvPr id="5" name="Picture 4" descr="Top % producer in 2022.png"/>
          <p:cNvPicPr>
            <a:picLocks noChangeAspect="1"/>
          </p:cNvPicPr>
          <p:nvPr/>
        </p:nvPicPr>
        <p:blipFill>
          <a:blip r:embed="rId3"/>
          <a:stretch>
            <a:fillRect/>
          </a:stretch>
        </p:blipFill>
        <p:spPr>
          <a:xfrm>
            <a:off x="1378722" y="1508760"/>
            <a:ext cx="3369035" cy="4754880"/>
          </a:xfrm>
          <a:prstGeom prst="rect">
            <a:avLst/>
          </a:prstGeom>
        </p:spPr>
      </p:pic>
      <p:sp>
        <p:nvSpPr>
          <p:cNvPr id="6" name="TextBox 5"/>
          <p:cNvSpPr txBox="1"/>
          <p:nvPr/>
        </p:nvSpPr>
        <p:spPr>
          <a:xfrm>
            <a:off x="5943600" y="1508760"/>
            <a:ext cx="5760720" cy="548640"/>
          </a:xfrm>
          <a:prstGeom prst="rect">
            <a:avLst/>
          </a:prstGeom>
          <a:noFill/>
        </p:spPr>
        <p:txBody>
          <a:bodyPr wrap="square" lIns="45720" tIns="18288" rIns="45720" bIns="18288" anchor="t">
            <a:spAutoFit/>
          </a:bodyPr>
          <a:lstStyle/>
          <a:p>
            <a:pPr algn="l"/>
            <a:r>
              <a:rPr sz="1200" b="1">
                <a:solidFill>
                  <a:srgbClr val="0B6E66"/>
                </a:solidFill>
                <a:latin typeface="Calibri"/>
              </a:rPr>
              <a:t>WHAT THE CHAT DID</a:t>
            </a:r>
          </a:p>
        </p:txBody>
      </p:sp>
      <p:sp>
        <p:nvSpPr>
          <p:cNvPr id="7" name="TextBox 6"/>
          <p:cNvSpPr txBox="1"/>
          <p:nvPr/>
        </p:nvSpPr>
        <p:spPr>
          <a:xfrm>
            <a:off x="5943600" y="1920240"/>
            <a:ext cx="5760720" cy="1470082"/>
          </a:xfrm>
          <a:prstGeom prst="rect">
            <a:avLst/>
          </a:prstGeom>
          <a:noFill/>
        </p:spPr>
        <p:txBody>
          <a:bodyPr wrap="square" lIns="45720" rIns="45720">
            <a:spAutoFit/>
          </a:bodyPr>
          <a:lstStyle/>
          <a:p>
            <a:pPr algn="l">
              <a:lnSpc>
                <a:spcPct val="130000"/>
              </a:lnSpc>
            </a:pPr>
            <a:r>
              <a:rPr sz="1400" b="1" dirty="0">
                <a:solidFill>
                  <a:srgbClr val="0D9488"/>
                </a:solidFill>
                <a:latin typeface="Calibri"/>
              </a:rPr>
              <a:t>●  </a:t>
            </a:r>
            <a:r>
              <a:rPr sz="1400" dirty="0">
                <a:solidFill>
                  <a:srgbClr val="111827"/>
                </a:solidFill>
                <a:latin typeface="Calibri"/>
              </a:rPr>
              <a:t>We typed 'Top 5 producers in 2022' natural language, no table names.</a:t>
            </a:r>
          </a:p>
          <a:p>
            <a:pPr algn="l">
              <a:lnSpc>
                <a:spcPct val="130000"/>
              </a:lnSpc>
            </a:pPr>
            <a:r>
              <a:rPr sz="1400" b="1" dirty="0">
                <a:solidFill>
                  <a:srgbClr val="0D9488"/>
                </a:solidFill>
                <a:latin typeface="Calibri"/>
              </a:rPr>
              <a:t>●  </a:t>
            </a:r>
            <a:r>
              <a:rPr sz="1400" dirty="0">
                <a:solidFill>
                  <a:srgbClr val="111827"/>
                </a:solidFill>
                <a:latin typeface="Calibri"/>
              </a:rPr>
              <a:t>The chat generated a clean SUM + GROUP BY + ORDER BY + LIMIT 5 SQL query.</a:t>
            </a:r>
          </a:p>
          <a:p>
            <a:pPr algn="l">
              <a:lnSpc>
                <a:spcPct val="130000"/>
              </a:lnSpc>
            </a:pPr>
            <a:r>
              <a:rPr sz="1400" b="1" dirty="0">
                <a:solidFill>
                  <a:srgbClr val="0D9488"/>
                </a:solidFill>
                <a:latin typeface="Calibri"/>
              </a:rPr>
              <a:t>●  </a:t>
            </a:r>
            <a:r>
              <a:rPr sz="1400" dirty="0">
                <a:solidFill>
                  <a:srgbClr val="111827"/>
                </a:solidFill>
                <a:latin typeface="Calibri"/>
              </a:rPr>
              <a:t>Returned China, Indonesia, Republic of Korea, Philippines, and DPR Korea.</a:t>
            </a:r>
          </a:p>
          <a:p>
            <a:pPr algn="l">
              <a:lnSpc>
                <a:spcPct val="130000"/>
              </a:lnSpc>
            </a:pPr>
            <a:r>
              <a:rPr sz="1400" b="1" dirty="0">
                <a:solidFill>
                  <a:srgbClr val="0D9488"/>
                </a:solidFill>
                <a:latin typeface="Calibri"/>
              </a:rPr>
              <a:t>●  </a:t>
            </a:r>
            <a:r>
              <a:rPr sz="1400" dirty="0">
                <a:solidFill>
                  <a:srgbClr val="111827"/>
                </a:solidFill>
                <a:latin typeface="Calibri"/>
              </a:rPr>
              <a:t>Also produced a one-sentence English summary above the table.</a:t>
            </a:r>
          </a:p>
        </p:txBody>
      </p:sp>
      <p:sp>
        <p:nvSpPr>
          <p:cNvPr id="8" name="Rectangle 7"/>
          <p:cNvSpPr/>
          <p:nvPr/>
        </p:nvSpPr>
        <p:spPr>
          <a:xfrm>
            <a:off x="5943600" y="5212080"/>
            <a:ext cx="5760720" cy="100584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26480" y="5285232"/>
            <a:ext cx="5486400" cy="365760"/>
          </a:xfrm>
          <a:prstGeom prst="rect">
            <a:avLst/>
          </a:prstGeom>
          <a:noFill/>
        </p:spPr>
        <p:txBody>
          <a:bodyPr wrap="square" lIns="45720" tIns="18288" rIns="45720" bIns="18288" anchor="t">
            <a:spAutoFit/>
          </a:bodyPr>
          <a:lstStyle/>
          <a:p>
            <a:pPr algn="l"/>
            <a:r>
              <a:rPr sz="1100" b="1">
                <a:solidFill>
                  <a:srgbClr val="0B6E66"/>
                </a:solidFill>
                <a:latin typeface="Calibri"/>
              </a:rPr>
              <a:t>TAKEAWAY</a:t>
            </a:r>
          </a:p>
        </p:txBody>
      </p:sp>
      <p:sp>
        <p:nvSpPr>
          <p:cNvPr id="10" name="TextBox 9"/>
          <p:cNvSpPr txBox="1"/>
          <p:nvPr/>
        </p:nvSpPr>
        <p:spPr>
          <a:xfrm>
            <a:off x="6126480" y="5577840"/>
            <a:ext cx="5486400" cy="640080"/>
          </a:xfrm>
          <a:prstGeom prst="rect">
            <a:avLst/>
          </a:prstGeom>
          <a:noFill/>
        </p:spPr>
        <p:txBody>
          <a:bodyPr wrap="square" lIns="45720" tIns="18288" rIns="45720" bIns="18288" anchor="t">
            <a:spAutoFit/>
          </a:bodyPr>
          <a:lstStyle/>
          <a:p>
            <a:pPr algn="l"/>
            <a:r>
              <a:rPr sz="1300" b="1">
                <a:solidFill>
                  <a:srgbClr val="111827"/>
                </a:solidFill>
                <a:latin typeface="Calibri"/>
              </a:rPr>
              <a:t>Plain English → correct SQL → clean answer, in seconds.</a:t>
            </a:r>
          </a:p>
        </p:txBody>
      </p:sp>
      <p:sp>
        <p:nvSpPr>
          <p:cNvPr id="11" name="TextBox 10"/>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a:solidFill>
                  <a:srgbClr val="4B5563"/>
                </a:solidFill>
                <a:latin typeface="Calibri"/>
              </a:rPr>
              <a:t>Seaweed Industry  ·  Capstone Mid-Term</a:t>
            </a:r>
          </a:p>
        </p:txBody>
      </p:sp>
      <p:sp>
        <p:nvSpPr>
          <p:cNvPr id="12" name="TextBox 11"/>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20 / 28</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9144000" cy="320040"/>
          </a:xfrm>
          <a:prstGeom prst="rect">
            <a:avLst/>
          </a:prstGeom>
          <a:noFill/>
        </p:spPr>
        <p:txBody>
          <a:bodyPr wrap="square" lIns="45720" tIns="18288" rIns="45720" bIns="18288" anchor="t">
            <a:spAutoFit/>
          </a:bodyPr>
          <a:lstStyle/>
          <a:p>
            <a:pPr algn="l"/>
            <a:r>
              <a:rPr sz="1200" b="1">
                <a:solidFill>
                  <a:srgbClr val="0D9488"/>
                </a:solidFill>
                <a:latin typeface="Calibri"/>
              </a:rPr>
              <a:t>AI CHAT · #2</a:t>
            </a:r>
          </a:p>
        </p:txBody>
      </p:sp>
      <p:sp>
        <p:nvSpPr>
          <p:cNvPr id="4" name="TextBox 3"/>
          <p:cNvSpPr txBox="1"/>
          <p:nvPr/>
        </p:nvSpPr>
        <p:spPr>
          <a:xfrm>
            <a:off x="548640" y="594360"/>
            <a:ext cx="10972800" cy="640080"/>
          </a:xfrm>
          <a:prstGeom prst="rect">
            <a:avLst/>
          </a:prstGeom>
          <a:noFill/>
        </p:spPr>
        <p:txBody>
          <a:bodyPr wrap="square" lIns="45720" tIns="18288" rIns="45720" bIns="18288" anchor="t">
            <a:spAutoFit/>
          </a:bodyPr>
          <a:lstStyle/>
          <a:p>
            <a:pPr algn="l"/>
            <a:r>
              <a:rPr sz="3000" b="1">
                <a:solidFill>
                  <a:srgbClr val="111827"/>
                </a:solidFill>
                <a:latin typeface="Calibri"/>
              </a:rPr>
              <a:t>Comparison query: 'Compare China and Indonesia in 2022'</a:t>
            </a:r>
          </a:p>
        </p:txBody>
      </p:sp>
      <p:pic>
        <p:nvPicPr>
          <p:cNvPr id="5" name="Picture 4" descr="Compare China and Indonesia's seaweed production in 2022..png"/>
          <p:cNvPicPr>
            <a:picLocks noChangeAspect="1"/>
          </p:cNvPicPr>
          <p:nvPr/>
        </p:nvPicPr>
        <p:blipFill>
          <a:blip r:embed="rId3"/>
          <a:stretch>
            <a:fillRect/>
          </a:stretch>
        </p:blipFill>
        <p:spPr>
          <a:xfrm>
            <a:off x="1149865" y="1508760"/>
            <a:ext cx="3826750" cy="4754880"/>
          </a:xfrm>
          <a:prstGeom prst="rect">
            <a:avLst/>
          </a:prstGeom>
        </p:spPr>
      </p:pic>
      <p:sp>
        <p:nvSpPr>
          <p:cNvPr id="6" name="TextBox 5"/>
          <p:cNvSpPr txBox="1"/>
          <p:nvPr/>
        </p:nvSpPr>
        <p:spPr>
          <a:xfrm>
            <a:off x="5943600" y="1508760"/>
            <a:ext cx="5760720" cy="548640"/>
          </a:xfrm>
          <a:prstGeom prst="rect">
            <a:avLst/>
          </a:prstGeom>
          <a:noFill/>
        </p:spPr>
        <p:txBody>
          <a:bodyPr wrap="square" lIns="45720" tIns="18288" rIns="45720" bIns="18288" anchor="t">
            <a:spAutoFit/>
          </a:bodyPr>
          <a:lstStyle/>
          <a:p>
            <a:pPr algn="l"/>
            <a:r>
              <a:rPr sz="1200" b="1">
                <a:solidFill>
                  <a:srgbClr val="0B6E66"/>
                </a:solidFill>
                <a:latin typeface="Calibri"/>
              </a:rPr>
              <a:t>WHAT THE CHAT DID</a:t>
            </a:r>
          </a:p>
        </p:txBody>
      </p:sp>
      <p:sp>
        <p:nvSpPr>
          <p:cNvPr id="7" name="TextBox 6"/>
          <p:cNvSpPr txBox="1"/>
          <p:nvPr/>
        </p:nvSpPr>
        <p:spPr>
          <a:xfrm>
            <a:off x="5943600" y="1920240"/>
            <a:ext cx="5760720" cy="3200400"/>
          </a:xfrm>
          <a:prstGeom prst="rect">
            <a:avLst/>
          </a:prstGeom>
          <a:noFill/>
        </p:spPr>
        <p:txBody>
          <a:bodyPr wrap="square" lIns="45720" rIns="45720">
            <a:spAutoFit/>
          </a:bodyPr>
          <a:lstStyle/>
          <a:p>
            <a:pPr algn="l">
              <a:lnSpc>
                <a:spcPct val="130000"/>
              </a:lnSpc>
            </a:pPr>
            <a:r>
              <a:rPr sz="1400" b="1">
                <a:solidFill>
                  <a:srgbClr val="0D9488"/>
                </a:solidFill>
                <a:latin typeface="Calibri"/>
              </a:rPr>
              <a:t>●  </a:t>
            </a:r>
            <a:r>
              <a:rPr sz="1400">
                <a:solidFill>
                  <a:srgbClr val="111827"/>
                </a:solidFill>
                <a:latin typeface="Calibri"/>
              </a:rPr>
              <a:t>The chat parses two entities and a year filter from one English sentence.</a:t>
            </a:r>
          </a:p>
          <a:p>
            <a:pPr algn="l">
              <a:lnSpc>
                <a:spcPct val="130000"/>
              </a:lnSpc>
            </a:pPr>
            <a:r>
              <a:rPr sz="1400" b="1">
                <a:solidFill>
                  <a:srgbClr val="0D9488"/>
                </a:solidFill>
                <a:latin typeface="Calibri"/>
              </a:rPr>
              <a:t>●  </a:t>
            </a:r>
            <a:r>
              <a:rPr sz="1400">
                <a:solidFill>
                  <a:srgbClr val="111827"/>
                </a:solidFill>
                <a:latin typeface="Calibri"/>
              </a:rPr>
              <a:t>Generates a clean WHERE … IN (…) AND PERIOD = 2022 query with GROUP BY.</a:t>
            </a:r>
          </a:p>
          <a:p>
            <a:pPr algn="l">
              <a:lnSpc>
                <a:spcPct val="130000"/>
              </a:lnSpc>
            </a:pPr>
            <a:r>
              <a:rPr sz="1400" b="1">
                <a:solidFill>
                  <a:srgbClr val="0D9488"/>
                </a:solidFill>
                <a:latin typeface="Calibri"/>
              </a:rPr>
              <a:t>●  </a:t>
            </a:r>
            <a:r>
              <a:rPr sz="1400">
                <a:solidFill>
                  <a:srgbClr val="111827"/>
                </a:solidFill>
                <a:latin typeface="Calibri"/>
              </a:rPr>
              <a:t>Returned China at 22.7M tonnes vs Indonesia at 9.3M tonnes.</a:t>
            </a:r>
          </a:p>
          <a:p>
            <a:pPr algn="l">
              <a:lnSpc>
                <a:spcPct val="130000"/>
              </a:lnSpc>
            </a:pPr>
            <a:r>
              <a:rPr sz="1400" b="1">
                <a:solidFill>
                  <a:srgbClr val="0D9488"/>
                </a:solidFill>
                <a:latin typeface="Calibri"/>
              </a:rPr>
              <a:t>●  </a:t>
            </a:r>
            <a:r>
              <a:rPr sz="1400">
                <a:solidFill>
                  <a:srgbClr val="111827"/>
                </a:solidFill>
                <a:latin typeface="Calibri"/>
              </a:rPr>
              <a:t>The English summary explicitly states which country produced more.</a:t>
            </a:r>
          </a:p>
        </p:txBody>
      </p:sp>
      <p:sp>
        <p:nvSpPr>
          <p:cNvPr id="8" name="Rectangle 7"/>
          <p:cNvSpPr/>
          <p:nvPr/>
        </p:nvSpPr>
        <p:spPr>
          <a:xfrm>
            <a:off x="5943600" y="5212080"/>
            <a:ext cx="5760720" cy="100584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26480" y="5285232"/>
            <a:ext cx="5486400" cy="365760"/>
          </a:xfrm>
          <a:prstGeom prst="rect">
            <a:avLst/>
          </a:prstGeom>
          <a:noFill/>
        </p:spPr>
        <p:txBody>
          <a:bodyPr wrap="square" lIns="45720" tIns="18288" rIns="45720" bIns="18288" anchor="t">
            <a:spAutoFit/>
          </a:bodyPr>
          <a:lstStyle/>
          <a:p>
            <a:pPr algn="l"/>
            <a:r>
              <a:rPr sz="1100" b="1">
                <a:solidFill>
                  <a:srgbClr val="0B6E66"/>
                </a:solidFill>
                <a:latin typeface="Calibri"/>
              </a:rPr>
              <a:t>TAKEAWAY</a:t>
            </a:r>
          </a:p>
        </p:txBody>
      </p:sp>
      <p:sp>
        <p:nvSpPr>
          <p:cNvPr id="10" name="TextBox 9"/>
          <p:cNvSpPr txBox="1"/>
          <p:nvPr/>
        </p:nvSpPr>
        <p:spPr>
          <a:xfrm>
            <a:off x="6126480" y="5577840"/>
            <a:ext cx="5486400" cy="640080"/>
          </a:xfrm>
          <a:prstGeom prst="rect">
            <a:avLst/>
          </a:prstGeom>
          <a:noFill/>
        </p:spPr>
        <p:txBody>
          <a:bodyPr wrap="square" lIns="45720" tIns="18288" rIns="45720" bIns="18288" anchor="t">
            <a:spAutoFit/>
          </a:bodyPr>
          <a:lstStyle/>
          <a:p>
            <a:pPr algn="l"/>
            <a:r>
              <a:rPr sz="1300" b="1">
                <a:solidFill>
                  <a:srgbClr val="111827"/>
                </a:solidFill>
                <a:latin typeface="Calibri"/>
              </a:rPr>
              <a:t>Multi-entity comparisons work out of the box — no special syntax needed.</a:t>
            </a:r>
          </a:p>
        </p:txBody>
      </p:sp>
      <p:sp>
        <p:nvSpPr>
          <p:cNvPr id="11" name="TextBox 10"/>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a:solidFill>
                  <a:srgbClr val="4B5563"/>
                </a:solidFill>
                <a:latin typeface="Calibri"/>
              </a:rPr>
              <a:t>Seaweed Industry  ·  Capstone Mid-Term</a:t>
            </a:r>
          </a:p>
        </p:txBody>
      </p:sp>
      <p:sp>
        <p:nvSpPr>
          <p:cNvPr id="12" name="TextBox 11"/>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21 / 28</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9144000" cy="320040"/>
          </a:xfrm>
          <a:prstGeom prst="rect">
            <a:avLst/>
          </a:prstGeom>
          <a:noFill/>
        </p:spPr>
        <p:txBody>
          <a:bodyPr wrap="square" lIns="45720" tIns="18288" rIns="45720" bIns="18288" anchor="t">
            <a:spAutoFit/>
          </a:bodyPr>
          <a:lstStyle/>
          <a:p>
            <a:pPr algn="l"/>
            <a:r>
              <a:rPr sz="1200" b="1">
                <a:solidFill>
                  <a:srgbClr val="0D9488"/>
                </a:solidFill>
                <a:latin typeface="Calibri"/>
              </a:rPr>
              <a:t>AI CHAT · #3</a:t>
            </a:r>
          </a:p>
        </p:txBody>
      </p:sp>
      <p:sp>
        <p:nvSpPr>
          <p:cNvPr id="4" name="TextBox 3"/>
          <p:cNvSpPr txBox="1"/>
          <p:nvPr/>
        </p:nvSpPr>
        <p:spPr>
          <a:xfrm>
            <a:off x="548640" y="594360"/>
            <a:ext cx="10972800" cy="640080"/>
          </a:xfrm>
          <a:prstGeom prst="rect">
            <a:avLst/>
          </a:prstGeom>
          <a:noFill/>
        </p:spPr>
        <p:txBody>
          <a:bodyPr wrap="square" lIns="45720" tIns="18288" rIns="45720" bIns="18288" anchor="t">
            <a:spAutoFit/>
          </a:bodyPr>
          <a:lstStyle/>
          <a:p>
            <a:pPr algn="l"/>
            <a:r>
              <a:rPr sz="3000" b="1">
                <a:solidFill>
                  <a:srgbClr val="111827"/>
                </a:solidFill>
                <a:latin typeface="Calibri"/>
              </a:rPr>
              <a:t>Analytical query: 'Fastest growth, 2010 → 2020'</a:t>
            </a:r>
          </a:p>
        </p:txBody>
      </p:sp>
      <p:pic>
        <p:nvPicPr>
          <p:cNvPr id="5" name="Picture 4" descr="Which country had the fastest growth in seaweed production between 2010 and 2020.png"/>
          <p:cNvPicPr>
            <a:picLocks noChangeAspect="1"/>
          </p:cNvPicPr>
          <p:nvPr/>
        </p:nvPicPr>
        <p:blipFill>
          <a:blip r:embed="rId3"/>
          <a:stretch>
            <a:fillRect/>
          </a:stretch>
        </p:blipFill>
        <p:spPr>
          <a:xfrm>
            <a:off x="1520494" y="1508760"/>
            <a:ext cx="3085491" cy="4754880"/>
          </a:xfrm>
          <a:prstGeom prst="rect">
            <a:avLst/>
          </a:prstGeom>
        </p:spPr>
      </p:pic>
      <p:sp>
        <p:nvSpPr>
          <p:cNvPr id="6" name="TextBox 5"/>
          <p:cNvSpPr txBox="1"/>
          <p:nvPr/>
        </p:nvSpPr>
        <p:spPr>
          <a:xfrm>
            <a:off x="5943600" y="1508760"/>
            <a:ext cx="5760720" cy="548640"/>
          </a:xfrm>
          <a:prstGeom prst="rect">
            <a:avLst/>
          </a:prstGeom>
          <a:noFill/>
        </p:spPr>
        <p:txBody>
          <a:bodyPr wrap="square" lIns="45720" tIns="18288" rIns="45720" bIns="18288" anchor="t">
            <a:spAutoFit/>
          </a:bodyPr>
          <a:lstStyle/>
          <a:p>
            <a:pPr algn="l"/>
            <a:r>
              <a:rPr sz="1200" b="1">
                <a:solidFill>
                  <a:srgbClr val="0B6E66"/>
                </a:solidFill>
                <a:latin typeface="Calibri"/>
              </a:rPr>
              <a:t>WHAT THE CHAT DID</a:t>
            </a:r>
          </a:p>
        </p:txBody>
      </p:sp>
      <p:sp>
        <p:nvSpPr>
          <p:cNvPr id="7" name="TextBox 6"/>
          <p:cNvSpPr txBox="1"/>
          <p:nvPr/>
        </p:nvSpPr>
        <p:spPr>
          <a:xfrm>
            <a:off x="5943600" y="1920240"/>
            <a:ext cx="5760720" cy="1750159"/>
          </a:xfrm>
          <a:prstGeom prst="rect">
            <a:avLst/>
          </a:prstGeom>
          <a:noFill/>
        </p:spPr>
        <p:txBody>
          <a:bodyPr wrap="square" lIns="45720" rIns="45720">
            <a:spAutoFit/>
          </a:bodyPr>
          <a:lstStyle/>
          <a:p>
            <a:pPr algn="l">
              <a:lnSpc>
                <a:spcPct val="130000"/>
              </a:lnSpc>
            </a:pPr>
            <a:r>
              <a:rPr sz="1400" b="1" dirty="0">
                <a:solidFill>
                  <a:srgbClr val="0D9488"/>
                </a:solidFill>
                <a:latin typeface="Calibri"/>
              </a:rPr>
              <a:t>●  </a:t>
            </a:r>
            <a:r>
              <a:rPr sz="1400" dirty="0">
                <a:solidFill>
                  <a:srgbClr val="111827"/>
                </a:solidFill>
                <a:latin typeface="Calibri"/>
              </a:rPr>
              <a:t>The chat understood 'growth between 2010 and 2020' as a percentage change calculation.</a:t>
            </a:r>
          </a:p>
          <a:p>
            <a:pPr algn="l">
              <a:lnSpc>
                <a:spcPct val="130000"/>
              </a:lnSpc>
            </a:pPr>
            <a:r>
              <a:rPr sz="1400" b="1" dirty="0">
                <a:solidFill>
                  <a:srgbClr val="0D9488"/>
                </a:solidFill>
                <a:latin typeface="Calibri"/>
              </a:rPr>
              <a:t>●  </a:t>
            </a:r>
            <a:r>
              <a:rPr sz="1400" dirty="0">
                <a:solidFill>
                  <a:srgbClr val="111827"/>
                </a:solidFill>
                <a:latin typeface="Calibri"/>
              </a:rPr>
              <a:t>Generated a sophisticated CASE-WHEN SQL with NULLIF guarding against zero base.</a:t>
            </a:r>
          </a:p>
          <a:p>
            <a:pPr algn="l">
              <a:lnSpc>
                <a:spcPct val="130000"/>
              </a:lnSpc>
            </a:pPr>
            <a:r>
              <a:rPr sz="1400" b="1" dirty="0">
                <a:solidFill>
                  <a:srgbClr val="0D9488"/>
                </a:solidFill>
                <a:latin typeface="Calibri"/>
              </a:rPr>
              <a:t>●  </a:t>
            </a:r>
            <a:r>
              <a:rPr sz="1400" dirty="0">
                <a:solidFill>
                  <a:srgbClr val="111827"/>
                </a:solidFill>
                <a:latin typeface="Calibri"/>
              </a:rPr>
              <a:t>Correctly excluded countries with zero baseline to avoid divide-by-zero.</a:t>
            </a:r>
          </a:p>
          <a:p>
            <a:pPr algn="l">
              <a:lnSpc>
                <a:spcPct val="130000"/>
              </a:lnSpc>
            </a:pPr>
            <a:r>
              <a:rPr sz="1400" b="1" dirty="0">
                <a:solidFill>
                  <a:srgbClr val="0D9488"/>
                </a:solidFill>
                <a:latin typeface="Calibri"/>
              </a:rPr>
              <a:t>●  </a:t>
            </a:r>
            <a:r>
              <a:rPr sz="1400" dirty="0">
                <a:solidFill>
                  <a:srgbClr val="111827"/>
                </a:solidFill>
                <a:latin typeface="Calibri"/>
              </a:rPr>
              <a:t>Result: Kenya, with +21.25× growth a finding that's hard to spot by eye.</a:t>
            </a:r>
          </a:p>
        </p:txBody>
      </p:sp>
      <p:sp>
        <p:nvSpPr>
          <p:cNvPr id="8" name="Rectangle 7"/>
          <p:cNvSpPr/>
          <p:nvPr/>
        </p:nvSpPr>
        <p:spPr>
          <a:xfrm>
            <a:off x="5943600" y="5212080"/>
            <a:ext cx="5760720" cy="100584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26480" y="5285232"/>
            <a:ext cx="5486400" cy="365760"/>
          </a:xfrm>
          <a:prstGeom prst="rect">
            <a:avLst/>
          </a:prstGeom>
          <a:noFill/>
        </p:spPr>
        <p:txBody>
          <a:bodyPr wrap="square" lIns="45720" tIns="18288" rIns="45720" bIns="18288" anchor="t">
            <a:spAutoFit/>
          </a:bodyPr>
          <a:lstStyle/>
          <a:p>
            <a:pPr algn="l"/>
            <a:r>
              <a:rPr sz="1100" b="1">
                <a:solidFill>
                  <a:srgbClr val="0B6E66"/>
                </a:solidFill>
                <a:latin typeface="Calibri"/>
              </a:rPr>
              <a:t>TAKEAWAY</a:t>
            </a:r>
          </a:p>
        </p:txBody>
      </p:sp>
      <p:sp>
        <p:nvSpPr>
          <p:cNvPr id="10" name="TextBox 9"/>
          <p:cNvSpPr txBox="1"/>
          <p:nvPr/>
        </p:nvSpPr>
        <p:spPr>
          <a:xfrm>
            <a:off x="6126480" y="5577840"/>
            <a:ext cx="5486400" cy="640080"/>
          </a:xfrm>
          <a:prstGeom prst="rect">
            <a:avLst/>
          </a:prstGeom>
          <a:noFill/>
        </p:spPr>
        <p:txBody>
          <a:bodyPr wrap="square" lIns="45720" tIns="18288" rIns="45720" bIns="18288" anchor="t">
            <a:spAutoFit/>
          </a:bodyPr>
          <a:lstStyle/>
          <a:p>
            <a:pPr algn="l"/>
            <a:r>
              <a:rPr sz="1300" b="1">
                <a:solidFill>
                  <a:srgbClr val="111827"/>
                </a:solidFill>
                <a:latin typeface="Calibri"/>
              </a:rPr>
              <a:t>The chat can do real analysis, not just lookups.</a:t>
            </a:r>
          </a:p>
        </p:txBody>
      </p:sp>
      <p:sp>
        <p:nvSpPr>
          <p:cNvPr id="11" name="TextBox 10"/>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a:solidFill>
                  <a:srgbClr val="4B5563"/>
                </a:solidFill>
                <a:latin typeface="Calibri"/>
              </a:rPr>
              <a:t>Seaweed Industry  ·  Capstone Mid-Term</a:t>
            </a:r>
          </a:p>
        </p:txBody>
      </p:sp>
      <p:sp>
        <p:nvSpPr>
          <p:cNvPr id="12" name="TextBox 11"/>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22 / 28</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9144000" cy="320040"/>
          </a:xfrm>
          <a:prstGeom prst="rect">
            <a:avLst/>
          </a:prstGeom>
          <a:noFill/>
        </p:spPr>
        <p:txBody>
          <a:bodyPr wrap="square" lIns="45720" tIns="18288" rIns="45720" bIns="18288" anchor="t">
            <a:spAutoFit/>
          </a:bodyPr>
          <a:lstStyle/>
          <a:p>
            <a:pPr algn="l"/>
            <a:r>
              <a:rPr sz="1200" b="1">
                <a:solidFill>
                  <a:srgbClr val="0D9488"/>
                </a:solidFill>
                <a:latin typeface="Calibri"/>
              </a:rPr>
              <a:t>AI CHAT · #4</a:t>
            </a:r>
          </a:p>
        </p:txBody>
      </p:sp>
      <p:sp>
        <p:nvSpPr>
          <p:cNvPr id="4" name="TextBox 3"/>
          <p:cNvSpPr txBox="1"/>
          <p:nvPr/>
        </p:nvSpPr>
        <p:spPr>
          <a:xfrm>
            <a:off x="548640" y="594360"/>
            <a:ext cx="10972800" cy="640080"/>
          </a:xfrm>
          <a:prstGeom prst="rect">
            <a:avLst/>
          </a:prstGeom>
          <a:noFill/>
        </p:spPr>
        <p:txBody>
          <a:bodyPr wrap="square" lIns="45720" tIns="18288" rIns="45720" bIns="18288" anchor="t">
            <a:spAutoFit/>
          </a:bodyPr>
          <a:lstStyle/>
          <a:p>
            <a:pPr algn="l"/>
            <a:r>
              <a:rPr sz="3000" b="1">
                <a:solidFill>
                  <a:srgbClr val="111827"/>
                </a:solidFill>
                <a:latin typeface="Calibri"/>
              </a:rPr>
              <a:t>Aggregate query: 'Average annual production per country since 2015'</a:t>
            </a:r>
          </a:p>
        </p:txBody>
      </p:sp>
      <p:pic>
        <p:nvPicPr>
          <p:cNvPr id="5" name="Picture 4" descr="Average annual seaweed production per country since 2015..png"/>
          <p:cNvPicPr>
            <a:picLocks noChangeAspect="1"/>
          </p:cNvPicPr>
          <p:nvPr/>
        </p:nvPicPr>
        <p:blipFill>
          <a:blip r:embed="rId3"/>
          <a:stretch>
            <a:fillRect/>
          </a:stretch>
        </p:blipFill>
        <p:spPr>
          <a:xfrm>
            <a:off x="1737548" y="1508760"/>
            <a:ext cx="2651383" cy="4754880"/>
          </a:xfrm>
          <a:prstGeom prst="rect">
            <a:avLst/>
          </a:prstGeom>
        </p:spPr>
      </p:pic>
      <p:sp>
        <p:nvSpPr>
          <p:cNvPr id="6" name="TextBox 5"/>
          <p:cNvSpPr txBox="1"/>
          <p:nvPr/>
        </p:nvSpPr>
        <p:spPr>
          <a:xfrm>
            <a:off x="5943600" y="1508760"/>
            <a:ext cx="5760720" cy="548640"/>
          </a:xfrm>
          <a:prstGeom prst="rect">
            <a:avLst/>
          </a:prstGeom>
          <a:noFill/>
        </p:spPr>
        <p:txBody>
          <a:bodyPr wrap="square" lIns="45720" tIns="18288" rIns="45720" bIns="18288" anchor="t">
            <a:spAutoFit/>
          </a:bodyPr>
          <a:lstStyle/>
          <a:p>
            <a:pPr algn="l"/>
            <a:r>
              <a:rPr sz="1200" b="1">
                <a:solidFill>
                  <a:srgbClr val="0B6E66"/>
                </a:solidFill>
                <a:latin typeface="Calibri"/>
              </a:rPr>
              <a:t>WHAT THE CHAT DID</a:t>
            </a:r>
          </a:p>
        </p:txBody>
      </p:sp>
      <p:sp>
        <p:nvSpPr>
          <p:cNvPr id="7" name="TextBox 6"/>
          <p:cNvSpPr txBox="1"/>
          <p:nvPr/>
        </p:nvSpPr>
        <p:spPr>
          <a:xfrm>
            <a:off x="5943600" y="1920240"/>
            <a:ext cx="5760720" cy="2030236"/>
          </a:xfrm>
          <a:prstGeom prst="rect">
            <a:avLst/>
          </a:prstGeom>
          <a:noFill/>
        </p:spPr>
        <p:txBody>
          <a:bodyPr wrap="square" lIns="45720" rIns="45720">
            <a:spAutoFit/>
          </a:bodyPr>
          <a:lstStyle/>
          <a:p>
            <a:pPr algn="l">
              <a:lnSpc>
                <a:spcPct val="130000"/>
              </a:lnSpc>
            </a:pPr>
            <a:r>
              <a:rPr sz="1400" b="1" dirty="0">
                <a:solidFill>
                  <a:srgbClr val="0D9488"/>
                </a:solidFill>
                <a:latin typeface="Calibri"/>
              </a:rPr>
              <a:t>●  </a:t>
            </a:r>
            <a:r>
              <a:rPr sz="1400" dirty="0">
                <a:solidFill>
                  <a:srgbClr val="111827"/>
                </a:solidFill>
                <a:latin typeface="Calibri"/>
              </a:rPr>
              <a:t>Aggregation across both time and grouping needs AVG, GROUP BY country, WHERE year ≥ 2015.</a:t>
            </a:r>
          </a:p>
          <a:p>
            <a:pPr algn="l">
              <a:lnSpc>
                <a:spcPct val="130000"/>
              </a:lnSpc>
            </a:pPr>
            <a:r>
              <a:rPr sz="1400" b="1" dirty="0">
                <a:solidFill>
                  <a:srgbClr val="0D9488"/>
                </a:solidFill>
                <a:latin typeface="Calibri"/>
              </a:rPr>
              <a:t>●  </a:t>
            </a:r>
            <a:r>
              <a:rPr sz="1400" dirty="0">
                <a:solidFill>
                  <a:srgbClr val="111827"/>
                </a:solidFill>
                <a:latin typeface="Calibri"/>
              </a:rPr>
              <a:t>Returned 86 rows ranging from Samoa (4.3 </a:t>
            </a:r>
            <a:r>
              <a:rPr sz="1400" dirty="0" err="1">
                <a:solidFill>
                  <a:srgbClr val="111827"/>
                </a:solidFill>
                <a:latin typeface="Calibri"/>
              </a:rPr>
              <a:t>tonnes</a:t>
            </a:r>
            <a:r>
              <a:rPr sz="1400" dirty="0">
                <a:solidFill>
                  <a:srgbClr val="111827"/>
                </a:solidFill>
                <a:latin typeface="Calibri"/>
              </a:rPr>
              <a:t>/year) to the Philippines (264,433 </a:t>
            </a:r>
            <a:r>
              <a:rPr sz="1400" dirty="0" err="1">
                <a:solidFill>
                  <a:srgbClr val="111827"/>
                </a:solidFill>
                <a:latin typeface="Calibri"/>
              </a:rPr>
              <a:t>tonnes</a:t>
            </a:r>
            <a:r>
              <a:rPr sz="1400" dirty="0">
                <a:solidFill>
                  <a:srgbClr val="111827"/>
                </a:solidFill>
                <a:latin typeface="Calibri"/>
              </a:rPr>
              <a:t>/year).</a:t>
            </a:r>
          </a:p>
          <a:p>
            <a:pPr algn="l">
              <a:lnSpc>
                <a:spcPct val="130000"/>
              </a:lnSpc>
            </a:pPr>
            <a:r>
              <a:rPr sz="1400" b="1" dirty="0">
                <a:solidFill>
                  <a:srgbClr val="0D9488"/>
                </a:solidFill>
                <a:latin typeface="Calibri"/>
              </a:rPr>
              <a:t>●  </a:t>
            </a:r>
            <a:r>
              <a:rPr sz="1400" dirty="0">
                <a:solidFill>
                  <a:srgbClr val="111827"/>
                </a:solidFill>
                <a:latin typeface="Calibri"/>
              </a:rPr>
              <a:t>Highlights the dynamic range of the data six orders of magnitude across producers.</a:t>
            </a:r>
          </a:p>
          <a:p>
            <a:pPr algn="l">
              <a:lnSpc>
                <a:spcPct val="130000"/>
              </a:lnSpc>
            </a:pPr>
            <a:r>
              <a:rPr sz="1400" b="1" dirty="0">
                <a:solidFill>
                  <a:srgbClr val="0D9488"/>
                </a:solidFill>
                <a:latin typeface="Calibri"/>
              </a:rPr>
              <a:t>●  </a:t>
            </a:r>
            <a:r>
              <a:rPr sz="1400" dirty="0">
                <a:solidFill>
                  <a:srgbClr val="111827"/>
                </a:solidFill>
                <a:latin typeface="Calibri"/>
              </a:rPr>
              <a:t>Pagination link ('Show all 86 rows') for full inspection.</a:t>
            </a:r>
          </a:p>
        </p:txBody>
      </p:sp>
      <p:sp>
        <p:nvSpPr>
          <p:cNvPr id="8" name="Rectangle 7"/>
          <p:cNvSpPr/>
          <p:nvPr/>
        </p:nvSpPr>
        <p:spPr>
          <a:xfrm>
            <a:off x="5943600" y="5212080"/>
            <a:ext cx="5760720" cy="100584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26480" y="5285232"/>
            <a:ext cx="5486400" cy="365760"/>
          </a:xfrm>
          <a:prstGeom prst="rect">
            <a:avLst/>
          </a:prstGeom>
          <a:noFill/>
        </p:spPr>
        <p:txBody>
          <a:bodyPr wrap="square" lIns="45720" tIns="18288" rIns="45720" bIns="18288" anchor="t">
            <a:spAutoFit/>
          </a:bodyPr>
          <a:lstStyle/>
          <a:p>
            <a:pPr algn="l"/>
            <a:r>
              <a:rPr sz="1100" b="1">
                <a:solidFill>
                  <a:srgbClr val="0B6E66"/>
                </a:solidFill>
                <a:latin typeface="Calibri"/>
              </a:rPr>
              <a:t>TAKEAWAY</a:t>
            </a:r>
          </a:p>
        </p:txBody>
      </p:sp>
      <p:sp>
        <p:nvSpPr>
          <p:cNvPr id="10" name="TextBox 9"/>
          <p:cNvSpPr txBox="1"/>
          <p:nvPr/>
        </p:nvSpPr>
        <p:spPr>
          <a:xfrm>
            <a:off x="6126480" y="5577840"/>
            <a:ext cx="5486400" cy="640080"/>
          </a:xfrm>
          <a:prstGeom prst="rect">
            <a:avLst/>
          </a:prstGeom>
          <a:noFill/>
        </p:spPr>
        <p:txBody>
          <a:bodyPr wrap="square" lIns="45720" tIns="18288" rIns="45720" bIns="18288" anchor="t">
            <a:spAutoFit/>
          </a:bodyPr>
          <a:lstStyle/>
          <a:p>
            <a:pPr algn="l"/>
            <a:r>
              <a:rPr sz="1300" b="1">
                <a:solidFill>
                  <a:srgbClr val="111827"/>
                </a:solidFill>
                <a:latin typeface="Calibri"/>
              </a:rPr>
              <a:t>Wide-result queries are returned with pagination, not truncated.</a:t>
            </a:r>
          </a:p>
        </p:txBody>
      </p:sp>
      <p:sp>
        <p:nvSpPr>
          <p:cNvPr id="11" name="TextBox 10"/>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a:solidFill>
                  <a:srgbClr val="4B5563"/>
                </a:solidFill>
                <a:latin typeface="Calibri"/>
              </a:rPr>
              <a:t>Seaweed Industry  ·  Capstone Mid-Term</a:t>
            </a:r>
          </a:p>
        </p:txBody>
      </p:sp>
      <p:sp>
        <p:nvSpPr>
          <p:cNvPr id="12" name="TextBox 11"/>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23 / 28</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9144000" cy="320040"/>
          </a:xfrm>
          <a:prstGeom prst="rect">
            <a:avLst/>
          </a:prstGeom>
          <a:noFill/>
        </p:spPr>
        <p:txBody>
          <a:bodyPr wrap="square" lIns="45720" tIns="18288" rIns="45720" bIns="18288" anchor="t">
            <a:spAutoFit/>
          </a:bodyPr>
          <a:lstStyle/>
          <a:p>
            <a:pPr algn="l"/>
            <a:r>
              <a:rPr sz="1200" b="1">
                <a:solidFill>
                  <a:srgbClr val="0D9488"/>
                </a:solidFill>
                <a:latin typeface="Calibri"/>
              </a:rPr>
              <a:t>AI CHAT · #5</a:t>
            </a:r>
          </a:p>
        </p:txBody>
      </p:sp>
      <p:sp>
        <p:nvSpPr>
          <p:cNvPr id="4" name="TextBox 3"/>
          <p:cNvSpPr txBox="1"/>
          <p:nvPr/>
        </p:nvSpPr>
        <p:spPr>
          <a:xfrm>
            <a:off x="548640" y="594360"/>
            <a:ext cx="10972800" cy="640080"/>
          </a:xfrm>
          <a:prstGeom prst="rect">
            <a:avLst/>
          </a:prstGeom>
          <a:noFill/>
        </p:spPr>
        <p:txBody>
          <a:bodyPr wrap="square" lIns="45720" tIns="18288" rIns="45720" bIns="18288" anchor="t">
            <a:spAutoFit/>
          </a:bodyPr>
          <a:lstStyle/>
          <a:p>
            <a:pPr algn="l"/>
            <a:r>
              <a:rPr sz="3000" b="1">
                <a:solidFill>
                  <a:srgbClr val="111827"/>
                </a:solidFill>
                <a:latin typeface="Calibri"/>
              </a:rPr>
              <a:t>Entity resolution: 'USA' → 'United States of America'</a:t>
            </a:r>
          </a:p>
        </p:txBody>
      </p:sp>
      <p:pic>
        <p:nvPicPr>
          <p:cNvPr id="5" name="Picture 4" descr="USA seaweed production does it resolve to United States of America.png"/>
          <p:cNvPicPr>
            <a:picLocks noChangeAspect="1"/>
          </p:cNvPicPr>
          <p:nvPr/>
        </p:nvPicPr>
        <p:blipFill>
          <a:blip r:embed="rId3"/>
          <a:stretch>
            <a:fillRect/>
          </a:stretch>
        </p:blipFill>
        <p:spPr>
          <a:xfrm>
            <a:off x="548640" y="1726822"/>
            <a:ext cx="5029200" cy="4318755"/>
          </a:xfrm>
          <a:prstGeom prst="rect">
            <a:avLst/>
          </a:prstGeom>
        </p:spPr>
      </p:pic>
      <p:sp>
        <p:nvSpPr>
          <p:cNvPr id="6" name="TextBox 5"/>
          <p:cNvSpPr txBox="1"/>
          <p:nvPr/>
        </p:nvSpPr>
        <p:spPr>
          <a:xfrm>
            <a:off x="5943600" y="1508760"/>
            <a:ext cx="5760720" cy="548640"/>
          </a:xfrm>
          <a:prstGeom prst="rect">
            <a:avLst/>
          </a:prstGeom>
          <a:noFill/>
        </p:spPr>
        <p:txBody>
          <a:bodyPr wrap="square" lIns="45720" tIns="18288" rIns="45720" bIns="18288" anchor="t">
            <a:spAutoFit/>
          </a:bodyPr>
          <a:lstStyle/>
          <a:p>
            <a:pPr algn="l"/>
            <a:r>
              <a:rPr sz="1200" b="1">
                <a:solidFill>
                  <a:srgbClr val="0B6E66"/>
                </a:solidFill>
                <a:latin typeface="Calibri"/>
              </a:rPr>
              <a:t>WHAT THE CHAT DID</a:t>
            </a:r>
          </a:p>
        </p:txBody>
      </p:sp>
      <p:sp>
        <p:nvSpPr>
          <p:cNvPr id="7" name="TextBox 6"/>
          <p:cNvSpPr txBox="1"/>
          <p:nvPr/>
        </p:nvSpPr>
        <p:spPr>
          <a:xfrm>
            <a:off x="5943600" y="1920240"/>
            <a:ext cx="5760720" cy="2030236"/>
          </a:xfrm>
          <a:prstGeom prst="rect">
            <a:avLst/>
          </a:prstGeom>
          <a:noFill/>
        </p:spPr>
        <p:txBody>
          <a:bodyPr wrap="square" lIns="45720" rIns="45720">
            <a:spAutoFit/>
          </a:bodyPr>
          <a:lstStyle/>
          <a:p>
            <a:pPr algn="l">
              <a:lnSpc>
                <a:spcPct val="130000"/>
              </a:lnSpc>
            </a:pPr>
            <a:r>
              <a:rPr sz="1400" b="1" dirty="0">
                <a:solidFill>
                  <a:srgbClr val="0D9488"/>
                </a:solidFill>
                <a:latin typeface="Calibri"/>
              </a:rPr>
              <a:t>●  </a:t>
            </a:r>
            <a:r>
              <a:rPr sz="1400" dirty="0">
                <a:solidFill>
                  <a:srgbClr val="111827"/>
                </a:solidFill>
                <a:latin typeface="Calibri"/>
              </a:rPr>
              <a:t>We deliberately tested an informal name: 'USA'.</a:t>
            </a:r>
          </a:p>
          <a:p>
            <a:pPr algn="l">
              <a:lnSpc>
                <a:spcPct val="130000"/>
              </a:lnSpc>
            </a:pPr>
            <a:r>
              <a:rPr sz="1400" b="1" dirty="0">
                <a:solidFill>
                  <a:srgbClr val="0D9488"/>
                </a:solidFill>
                <a:latin typeface="Calibri"/>
              </a:rPr>
              <a:t>●  </a:t>
            </a:r>
            <a:r>
              <a:rPr sz="1400" dirty="0">
                <a:solidFill>
                  <a:srgbClr val="111827"/>
                </a:solidFill>
                <a:latin typeface="Calibri"/>
              </a:rPr>
              <a:t>The embeddings resolved it to the canonical FAO label 'United States of America'.</a:t>
            </a:r>
          </a:p>
          <a:p>
            <a:pPr algn="l">
              <a:lnSpc>
                <a:spcPct val="130000"/>
              </a:lnSpc>
            </a:pPr>
            <a:r>
              <a:rPr sz="1400" b="1" dirty="0">
                <a:solidFill>
                  <a:srgbClr val="0D9488"/>
                </a:solidFill>
                <a:latin typeface="Calibri"/>
              </a:rPr>
              <a:t>●  </a:t>
            </a:r>
            <a:r>
              <a:rPr sz="1400" dirty="0">
                <a:solidFill>
                  <a:srgbClr val="111827"/>
                </a:solidFill>
                <a:latin typeface="Calibri"/>
              </a:rPr>
              <a:t>Generated SQL filters </a:t>
            </a:r>
            <a:r>
              <a:rPr sz="1400" dirty="0" err="1">
                <a:solidFill>
                  <a:srgbClr val="111827"/>
                </a:solidFill>
                <a:latin typeface="Calibri"/>
              </a:rPr>
              <a:t>Country_Name</a:t>
            </a:r>
            <a:r>
              <a:rPr sz="1400" dirty="0">
                <a:solidFill>
                  <a:srgbClr val="111827"/>
                </a:solidFill>
                <a:latin typeface="Calibri"/>
              </a:rPr>
              <a:t> = 'United States of America' exact match.</a:t>
            </a:r>
          </a:p>
          <a:p>
            <a:pPr algn="l">
              <a:lnSpc>
                <a:spcPct val="130000"/>
              </a:lnSpc>
            </a:pPr>
            <a:r>
              <a:rPr sz="1400" b="1" dirty="0">
                <a:solidFill>
                  <a:srgbClr val="0D9488"/>
                </a:solidFill>
                <a:latin typeface="Calibri"/>
              </a:rPr>
              <a:t>●  </a:t>
            </a:r>
            <a:r>
              <a:rPr sz="1400" dirty="0">
                <a:solidFill>
                  <a:srgbClr val="111827"/>
                </a:solidFill>
                <a:latin typeface="Calibri"/>
              </a:rPr>
              <a:t>Returned the correct total (5,694,733), proving the resolution worked end-to-end.</a:t>
            </a:r>
          </a:p>
        </p:txBody>
      </p:sp>
      <p:sp>
        <p:nvSpPr>
          <p:cNvPr id="8" name="Rectangle 7"/>
          <p:cNvSpPr/>
          <p:nvPr/>
        </p:nvSpPr>
        <p:spPr>
          <a:xfrm>
            <a:off x="5943600" y="5212080"/>
            <a:ext cx="5760720" cy="100584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26480" y="5285232"/>
            <a:ext cx="5486400" cy="365760"/>
          </a:xfrm>
          <a:prstGeom prst="rect">
            <a:avLst/>
          </a:prstGeom>
          <a:noFill/>
        </p:spPr>
        <p:txBody>
          <a:bodyPr wrap="square" lIns="45720" tIns="18288" rIns="45720" bIns="18288" anchor="t">
            <a:spAutoFit/>
          </a:bodyPr>
          <a:lstStyle/>
          <a:p>
            <a:pPr algn="l"/>
            <a:r>
              <a:rPr sz="1100" b="1">
                <a:solidFill>
                  <a:srgbClr val="0B6E66"/>
                </a:solidFill>
                <a:latin typeface="Calibri"/>
              </a:rPr>
              <a:t>TAKEAWAY</a:t>
            </a:r>
          </a:p>
        </p:txBody>
      </p:sp>
      <p:sp>
        <p:nvSpPr>
          <p:cNvPr id="10" name="TextBox 9"/>
          <p:cNvSpPr txBox="1"/>
          <p:nvPr/>
        </p:nvSpPr>
        <p:spPr>
          <a:xfrm>
            <a:off x="6126480" y="5577840"/>
            <a:ext cx="5486400" cy="640080"/>
          </a:xfrm>
          <a:prstGeom prst="rect">
            <a:avLst/>
          </a:prstGeom>
          <a:noFill/>
        </p:spPr>
        <p:txBody>
          <a:bodyPr wrap="square" lIns="45720" tIns="18288" rIns="45720" bIns="18288" anchor="t">
            <a:spAutoFit/>
          </a:bodyPr>
          <a:lstStyle/>
          <a:p>
            <a:pPr algn="l"/>
            <a:r>
              <a:rPr sz="1300" b="1">
                <a:solidFill>
                  <a:srgbClr val="111827"/>
                </a:solidFill>
                <a:latin typeface="Calibri"/>
              </a:rPr>
              <a:t>Users can be sloppy with names; the system handles it.</a:t>
            </a:r>
          </a:p>
        </p:txBody>
      </p:sp>
      <p:sp>
        <p:nvSpPr>
          <p:cNvPr id="11" name="TextBox 10"/>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a:solidFill>
                  <a:srgbClr val="4B5563"/>
                </a:solidFill>
                <a:latin typeface="Calibri"/>
              </a:rPr>
              <a:t>Seaweed Industry  ·  Capstone Mid-Term</a:t>
            </a:r>
          </a:p>
        </p:txBody>
      </p:sp>
      <p:sp>
        <p:nvSpPr>
          <p:cNvPr id="12" name="TextBox 11"/>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24 / 28</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9144000" cy="320040"/>
          </a:xfrm>
          <a:prstGeom prst="rect">
            <a:avLst/>
          </a:prstGeom>
          <a:noFill/>
        </p:spPr>
        <p:txBody>
          <a:bodyPr wrap="square" lIns="45720" tIns="18288" rIns="45720" bIns="18288" anchor="t">
            <a:spAutoFit/>
          </a:bodyPr>
          <a:lstStyle/>
          <a:p>
            <a:pPr algn="l"/>
            <a:r>
              <a:rPr sz="1200" b="1">
                <a:solidFill>
                  <a:srgbClr val="0D9488"/>
                </a:solidFill>
                <a:latin typeface="Calibri"/>
              </a:rPr>
              <a:t>AI CHAT · #6</a:t>
            </a:r>
          </a:p>
        </p:txBody>
      </p:sp>
      <p:sp>
        <p:nvSpPr>
          <p:cNvPr id="4" name="TextBox 3"/>
          <p:cNvSpPr txBox="1"/>
          <p:nvPr/>
        </p:nvSpPr>
        <p:spPr>
          <a:xfrm>
            <a:off x="548640" y="594360"/>
            <a:ext cx="10972800" cy="640080"/>
          </a:xfrm>
          <a:prstGeom prst="rect">
            <a:avLst/>
          </a:prstGeom>
          <a:noFill/>
        </p:spPr>
        <p:txBody>
          <a:bodyPr wrap="square" lIns="45720" tIns="18288" rIns="45720" bIns="18288" anchor="t">
            <a:spAutoFit/>
          </a:bodyPr>
          <a:lstStyle/>
          <a:p>
            <a:pPr algn="l"/>
            <a:r>
              <a:rPr sz="3000" b="1">
                <a:solidFill>
                  <a:srgbClr val="111827"/>
                </a:solidFill>
                <a:latin typeface="Calibri"/>
              </a:rPr>
              <a:t>Graceful failure: 'How much seaweed did Mars produce in 2022?'</a:t>
            </a:r>
          </a:p>
        </p:txBody>
      </p:sp>
      <p:pic>
        <p:nvPicPr>
          <p:cNvPr id="5" name="Picture 4" descr="How much seaweed did Mars produce in 2022.png"/>
          <p:cNvPicPr>
            <a:picLocks noChangeAspect="1"/>
          </p:cNvPicPr>
          <p:nvPr/>
        </p:nvPicPr>
        <p:blipFill>
          <a:blip r:embed="rId3"/>
          <a:stretch>
            <a:fillRect/>
          </a:stretch>
        </p:blipFill>
        <p:spPr>
          <a:xfrm>
            <a:off x="548640" y="2732887"/>
            <a:ext cx="5029200" cy="2306625"/>
          </a:xfrm>
          <a:prstGeom prst="rect">
            <a:avLst/>
          </a:prstGeom>
        </p:spPr>
      </p:pic>
      <p:sp>
        <p:nvSpPr>
          <p:cNvPr id="6" name="TextBox 5"/>
          <p:cNvSpPr txBox="1"/>
          <p:nvPr/>
        </p:nvSpPr>
        <p:spPr>
          <a:xfrm>
            <a:off x="5943600" y="1508760"/>
            <a:ext cx="5760720" cy="548640"/>
          </a:xfrm>
          <a:prstGeom prst="rect">
            <a:avLst/>
          </a:prstGeom>
          <a:noFill/>
        </p:spPr>
        <p:txBody>
          <a:bodyPr wrap="square" lIns="45720" tIns="18288" rIns="45720" bIns="18288" anchor="t">
            <a:spAutoFit/>
          </a:bodyPr>
          <a:lstStyle/>
          <a:p>
            <a:pPr algn="l"/>
            <a:r>
              <a:rPr sz="1200" b="1">
                <a:solidFill>
                  <a:srgbClr val="0B6E66"/>
                </a:solidFill>
                <a:latin typeface="Calibri"/>
              </a:rPr>
              <a:t>WHAT THE CHAT DID</a:t>
            </a:r>
          </a:p>
        </p:txBody>
      </p:sp>
      <p:sp>
        <p:nvSpPr>
          <p:cNvPr id="7" name="TextBox 6"/>
          <p:cNvSpPr txBox="1"/>
          <p:nvPr/>
        </p:nvSpPr>
        <p:spPr>
          <a:xfrm>
            <a:off x="5943600" y="1920240"/>
            <a:ext cx="5760720" cy="1470082"/>
          </a:xfrm>
          <a:prstGeom prst="rect">
            <a:avLst/>
          </a:prstGeom>
          <a:noFill/>
        </p:spPr>
        <p:txBody>
          <a:bodyPr wrap="square" lIns="45720" rIns="45720">
            <a:spAutoFit/>
          </a:bodyPr>
          <a:lstStyle/>
          <a:p>
            <a:pPr algn="l">
              <a:lnSpc>
                <a:spcPct val="130000"/>
              </a:lnSpc>
            </a:pPr>
            <a:r>
              <a:rPr sz="1400" b="1" dirty="0">
                <a:solidFill>
                  <a:srgbClr val="0D9488"/>
                </a:solidFill>
                <a:latin typeface="Calibri"/>
              </a:rPr>
              <a:t>●  </a:t>
            </a:r>
            <a:r>
              <a:rPr sz="1400" dirty="0">
                <a:solidFill>
                  <a:srgbClr val="111827"/>
                </a:solidFill>
                <a:latin typeface="Calibri"/>
              </a:rPr>
              <a:t>We asked a deliberately silly question about Mars which obviously isn't in the FAO data.</a:t>
            </a:r>
          </a:p>
          <a:p>
            <a:pPr algn="l">
              <a:lnSpc>
                <a:spcPct val="130000"/>
              </a:lnSpc>
            </a:pPr>
            <a:r>
              <a:rPr sz="1400" b="1" dirty="0">
                <a:solidFill>
                  <a:srgbClr val="0D9488"/>
                </a:solidFill>
                <a:latin typeface="Calibri"/>
              </a:rPr>
              <a:t>●  </a:t>
            </a:r>
            <a:r>
              <a:rPr sz="1400" dirty="0">
                <a:solidFill>
                  <a:srgbClr val="111827"/>
                </a:solidFill>
                <a:latin typeface="Calibri"/>
              </a:rPr>
              <a:t>The chat ran a valid SQL query against the data — and found nothing.</a:t>
            </a:r>
          </a:p>
          <a:p>
            <a:pPr algn="l">
              <a:lnSpc>
                <a:spcPct val="130000"/>
              </a:lnSpc>
            </a:pPr>
            <a:r>
              <a:rPr sz="1400" b="1" dirty="0">
                <a:solidFill>
                  <a:srgbClr val="0D9488"/>
                </a:solidFill>
                <a:latin typeface="Calibri"/>
              </a:rPr>
              <a:t>●  </a:t>
            </a:r>
            <a:r>
              <a:rPr sz="1400" dirty="0">
                <a:solidFill>
                  <a:srgbClr val="111827"/>
                </a:solidFill>
                <a:latin typeface="Calibri"/>
              </a:rPr>
              <a:t>Returned an honest 'The result is None.' no hallucinated number.</a:t>
            </a:r>
          </a:p>
          <a:p>
            <a:pPr algn="l">
              <a:lnSpc>
                <a:spcPct val="130000"/>
              </a:lnSpc>
            </a:pPr>
            <a:r>
              <a:rPr sz="1400" b="1" dirty="0">
                <a:solidFill>
                  <a:srgbClr val="0D9488"/>
                </a:solidFill>
                <a:latin typeface="Calibri"/>
              </a:rPr>
              <a:t>●  </a:t>
            </a:r>
            <a:r>
              <a:rPr sz="1400" dirty="0">
                <a:solidFill>
                  <a:srgbClr val="111827"/>
                </a:solidFill>
                <a:latin typeface="Calibri"/>
              </a:rPr>
              <a:t>This is the LLM-safety property we care about most: don't make stuff up.</a:t>
            </a:r>
          </a:p>
        </p:txBody>
      </p:sp>
      <p:sp>
        <p:nvSpPr>
          <p:cNvPr id="8" name="Rectangle 7"/>
          <p:cNvSpPr/>
          <p:nvPr/>
        </p:nvSpPr>
        <p:spPr>
          <a:xfrm>
            <a:off x="5943600" y="5212080"/>
            <a:ext cx="5760720" cy="100584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26480" y="5285232"/>
            <a:ext cx="5486400" cy="365760"/>
          </a:xfrm>
          <a:prstGeom prst="rect">
            <a:avLst/>
          </a:prstGeom>
          <a:noFill/>
        </p:spPr>
        <p:txBody>
          <a:bodyPr wrap="square" lIns="45720" tIns="18288" rIns="45720" bIns="18288" anchor="t">
            <a:spAutoFit/>
          </a:bodyPr>
          <a:lstStyle/>
          <a:p>
            <a:pPr algn="l"/>
            <a:r>
              <a:rPr sz="1100" b="1">
                <a:solidFill>
                  <a:srgbClr val="0B6E66"/>
                </a:solidFill>
                <a:latin typeface="Calibri"/>
              </a:rPr>
              <a:t>TAKEAWAY</a:t>
            </a:r>
          </a:p>
        </p:txBody>
      </p:sp>
      <p:sp>
        <p:nvSpPr>
          <p:cNvPr id="10" name="TextBox 9"/>
          <p:cNvSpPr txBox="1"/>
          <p:nvPr/>
        </p:nvSpPr>
        <p:spPr>
          <a:xfrm>
            <a:off x="6126480" y="5577840"/>
            <a:ext cx="5486400" cy="640080"/>
          </a:xfrm>
          <a:prstGeom prst="rect">
            <a:avLst/>
          </a:prstGeom>
          <a:noFill/>
        </p:spPr>
        <p:txBody>
          <a:bodyPr wrap="square" lIns="45720" tIns="18288" rIns="45720" bIns="18288" anchor="t">
            <a:spAutoFit/>
          </a:bodyPr>
          <a:lstStyle/>
          <a:p>
            <a:pPr algn="l"/>
            <a:r>
              <a:rPr sz="1300" b="1">
                <a:solidFill>
                  <a:srgbClr val="111827"/>
                </a:solidFill>
                <a:latin typeface="Calibri"/>
              </a:rPr>
              <a:t>Honest 'I don't know' is the most important feature of a data assistant.</a:t>
            </a:r>
          </a:p>
        </p:txBody>
      </p:sp>
      <p:sp>
        <p:nvSpPr>
          <p:cNvPr id="11" name="TextBox 10"/>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a:solidFill>
                  <a:srgbClr val="4B5563"/>
                </a:solidFill>
                <a:latin typeface="Calibri"/>
              </a:rPr>
              <a:t>Seaweed Industry  ·  Capstone Mid-Term</a:t>
            </a:r>
          </a:p>
        </p:txBody>
      </p:sp>
      <p:sp>
        <p:nvSpPr>
          <p:cNvPr id="12" name="TextBox 11"/>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25 / 28</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9144000" cy="320040"/>
          </a:xfrm>
          <a:prstGeom prst="rect">
            <a:avLst/>
          </a:prstGeom>
          <a:noFill/>
        </p:spPr>
        <p:txBody>
          <a:bodyPr wrap="square" lIns="45720" tIns="18288" rIns="45720" bIns="18288" anchor="t">
            <a:spAutoFit/>
          </a:bodyPr>
          <a:lstStyle/>
          <a:p>
            <a:pPr algn="l"/>
            <a:r>
              <a:rPr sz="1200" b="1">
                <a:solidFill>
                  <a:srgbClr val="0D9488"/>
                </a:solidFill>
                <a:latin typeface="Calibri"/>
              </a:rPr>
              <a:t>THINGS TO DO LATER</a:t>
            </a:r>
          </a:p>
        </p:txBody>
      </p:sp>
      <p:sp>
        <p:nvSpPr>
          <p:cNvPr id="4" name="TextBox 3"/>
          <p:cNvSpPr txBox="1"/>
          <p:nvPr/>
        </p:nvSpPr>
        <p:spPr>
          <a:xfrm>
            <a:off x="548640" y="594360"/>
            <a:ext cx="10972800" cy="640080"/>
          </a:xfrm>
          <a:prstGeom prst="rect">
            <a:avLst/>
          </a:prstGeom>
          <a:noFill/>
        </p:spPr>
        <p:txBody>
          <a:bodyPr wrap="square" lIns="45720" tIns="18288" rIns="45720" bIns="18288" anchor="t">
            <a:spAutoFit/>
          </a:bodyPr>
          <a:lstStyle/>
          <a:p>
            <a:pPr algn="l"/>
            <a:r>
              <a:rPr sz="3000" b="1">
                <a:solidFill>
                  <a:srgbClr val="111827"/>
                </a:solidFill>
                <a:latin typeface="Calibri"/>
              </a:rPr>
              <a:t>What's next, and when</a:t>
            </a:r>
          </a:p>
        </p:txBody>
      </p:sp>
      <p:sp>
        <p:nvSpPr>
          <p:cNvPr id="5" name="Rectangle 4"/>
          <p:cNvSpPr/>
          <p:nvPr/>
        </p:nvSpPr>
        <p:spPr>
          <a:xfrm>
            <a:off x="548640" y="1554480"/>
            <a:ext cx="11155680" cy="960120"/>
          </a:xfrm>
          <a:prstGeom prst="rect">
            <a:avLst/>
          </a:prstGeom>
          <a:solidFill>
            <a:srgbClr val="FFFFFF"/>
          </a:solidFill>
          <a:ln>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554480"/>
            <a:ext cx="164592" cy="96012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45920"/>
            <a:ext cx="4114800" cy="457200"/>
          </a:xfrm>
          <a:prstGeom prst="rect">
            <a:avLst/>
          </a:prstGeom>
          <a:noFill/>
        </p:spPr>
        <p:txBody>
          <a:bodyPr wrap="square" lIns="45720" tIns="18288" rIns="45720" bIns="18288" anchor="t">
            <a:spAutoFit/>
          </a:bodyPr>
          <a:lstStyle/>
          <a:p>
            <a:pPr algn="l"/>
            <a:r>
              <a:rPr sz="1700" b="1">
                <a:solidFill>
                  <a:srgbClr val="111827"/>
                </a:solidFill>
                <a:latin typeface="Calibri"/>
              </a:rPr>
              <a:t>AI Chat v2</a:t>
            </a:r>
          </a:p>
        </p:txBody>
      </p:sp>
      <p:sp>
        <p:nvSpPr>
          <p:cNvPr id="8" name="TextBox 7"/>
          <p:cNvSpPr txBox="1"/>
          <p:nvPr/>
        </p:nvSpPr>
        <p:spPr>
          <a:xfrm>
            <a:off x="914400" y="2057400"/>
            <a:ext cx="4114800" cy="411480"/>
          </a:xfrm>
          <a:prstGeom prst="rect">
            <a:avLst/>
          </a:prstGeom>
          <a:noFill/>
        </p:spPr>
        <p:txBody>
          <a:bodyPr wrap="square" lIns="45720" tIns="18288" rIns="45720" bIns="18288" anchor="t">
            <a:spAutoFit/>
          </a:bodyPr>
          <a:lstStyle/>
          <a:p>
            <a:pPr algn="l"/>
            <a:r>
              <a:rPr sz="1200" b="1">
                <a:solidFill>
                  <a:srgbClr val="0B6E66"/>
                </a:solidFill>
                <a:latin typeface="Calibri"/>
              </a:rPr>
              <a:t>Now → 2 weeks before final</a:t>
            </a:r>
          </a:p>
        </p:txBody>
      </p:sp>
      <p:sp>
        <p:nvSpPr>
          <p:cNvPr id="9" name="TextBox 8"/>
          <p:cNvSpPr txBox="1"/>
          <p:nvPr/>
        </p:nvSpPr>
        <p:spPr>
          <a:xfrm>
            <a:off x="5120640" y="1783080"/>
            <a:ext cx="6400800" cy="640080"/>
          </a:xfrm>
          <a:prstGeom prst="rect">
            <a:avLst/>
          </a:prstGeom>
          <a:noFill/>
        </p:spPr>
        <p:txBody>
          <a:bodyPr wrap="square" lIns="45720" tIns="18288" rIns="45720" bIns="18288" anchor="t">
            <a:spAutoFit/>
          </a:bodyPr>
          <a:lstStyle/>
          <a:p>
            <a:pPr algn="l"/>
            <a:r>
              <a:rPr sz="1300" b="0">
                <a:solidFill>
                  <a:srgbClr val="4B5563"/>
                </a:solidFill>
                <a:latin typeface="Calibri"/>
              </a:rPr>
              <a:t>Multi-turn conversations, charts inside chat replies, more entity-resolution coverage, better edge-case handling.</a:t>
            </a:r>
          </a:p>
        </p:txBody>
      </p:sp>
      <p:sp>
        <p:nvSpPr>
          <p:cNvPr id="10" name="Rectangle 9"/>
          <p:cNvSpPr/>
          <p:nvPr/>
        </p:nvSpPr>
        <p:spPr>
          <a:xfrm>
            <a:off x="548640" y="2606040"/>
            <a:ext cx="11155680" cy="960120"/>
          </a:xfrm>
          <a:prstGeom prst="rect">
            <a:avLst/>
          </a:prstGeom>
          <a:solidFill>
            <a:srgbClr val="FFFFFF"/>
          </a:solidFill>
          <a:ln>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2606040"/>
            <a:ext cx="164592" cy="96012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2697480"/>
            <a:ext cx="4114800" cy="457200"/>
          </a:xfrm>
          <a:prstGeom prst="rect">
            <a:avLst/>
          </a:prstGeom>
          <a:noFill/>
        </p:spPr>
        <p:txBody>
          <a:bodyPr wrap="square" lIns="45720" tIns="18288" rIns="45720" bIns="18288" anchor="t">
            <a:spAutoFit/>
          </a:bodyPr>
          <a:lstStyle/>
          <a:p>
            <a:pPr algn="l"/>
            <a:r>
              <a:rPr sz="1700" b="1">
                <a:solidFill>
                  <a:srgbClr val="111827"/>
                </a:solidFill>
                <a:latin typeface="Calibri"/>
              </a:rPr>
              <a:t>More Data Sources</a:t>
            </a:r>
          </a:p>
        </p:txBody>
      </p:sp>
      <p:sp>
        <p:nvSpPr>
          <p:cNvPr id="13" name="TextBox 12"/>
          <p:cNvSpPr txBox="1"/>
          <p:nvPr/>
        </p:nvSpPr>
        <p:spPr>
          <a:xfrm>
            <a:off x="914400" y="3108960"/>
            <a:ext cx="4114800" cy="411480"/>
          </a:xfrm>
          <a:prstGeom prst="rect">
            <a:avLst/>
          </a:prstGeom>
          <a:noFill/>
        </p:spPr>
        <p:txBody>
          <a:bodyPr wrap="square" lIns="45720" tIns="18288" rIns="45720" bIns="18288" anchor="t">
            <a:spAutoFit/>
          </a:bodyPr>
          <a:lstStyle/>
          <a:p>
            <a:pPr algn="l"/>
            <a:r>
              <a:rPr sz="1200" b="1">
                <a:solidFill>
                  <a:srgbClr val="0B6E66"/>
                </a:solidFill>
                <a:latin typeface="Calibri"/>
              </a:rPr>
              <a:t>2–3 weeks before final</a:t>
            </a:r>
          </a:p>
        </p:txBody>
      </p:sp>
      <p:sp>
        <p:nvSpPr>
          <p:cNvPr id="14" name="TextBox 13"/>
          <p:cNvSpPr txBox="1"/>
          <p:nvPr/>
        </p:nvSpPr>
        <p:spPr>
          <a:xfrm>
            <a:off x="5120640" y="2834640"/>
            <a:ext cx="6400800" cy="437043"/>
          </a:xfrm>
          <a:prstGeom prst="rect">
            <a:avLst/>
          </a:prstGeom>
          <a:noFill/>
        </p:spPr>
        <p:txBody>
          <a:bodyPr wrap="square" lIns="45720" tIns="18288" rIns="45720" bIns="18288" anchor="t">
            <a:spAutoFit/>
          </a:bodyPr>
          <a:lstStyle/>
          <a:p>
            <a:pPr algn="l"/>
            <a:r>
              <a:rPr sz="1300" b="0" dirty="0">
                <a:solidFill>
                  <a:srgbClr val="4B5563"/>
                </a:solidFill>
                <a:latin typeface="Calibri"/>
              </a:rPr>
              <a:t>Pricing data beyond PSIA, trade-flow data (UN Comtrade), regulatory/permit data broaden the questions we can answer.</a:t>
            </a:r>
          </a:p>
        </p:txBody>
      </p:sp>
      <p:sp>
        <p:nvSpPr>
          <p:cNvPr id="15" name="Rectangle 14"/>
          <p:cNvSpPr/>
          <p:nvPr/>
        </p:nvSpPr>
        <p:spPr>
          <a:xfrm>
            <a:off x="548640" y="3657600"/>
            <a:ext cx="11155680" cy="960120"/>
          </a:xfrm>
          <a:prstGeom prst="rect">
            <a:avLst/>
          </a:prstGeom>
          <a:solidFill>
            <a:srgbClr val="FFFFFF"/>
          </a:solidFill>
          <a:ln>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48640" y="3657600"/>
            <a:ext cx="164592" cy="96012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3749040"/>
            <a:ext cx="4114800" cy="457200"/>
          </a:xfrm>
          <a:prstGeom prst="rect">
            <a:avLst/>
          </a:prstGeom>
          <a:noFill/>
        </p:spPr>
        <p:txBody>
          <a:bodyPr wrap="square" lIns="45720" tIns="18288" rIns="45720" bIns="18288" anchor="t">
            <a:spAutoFit/>
          </a:bodyPr>
          <a:lstStyle/>
          <a:p>
            <a:pPr algn="l"/>
            <a:r>
              <a:rPr sz="1700" b="1">
                <a:solidFill>
                  <a:srgbClr val="111827"/>
                </a:solidFill>
                <a:latin typeface="Calibri"/>
              </a:rPr>
              <a:t>Forecasting Model</a:t>
            </a:r>
          </a:p>
        </p:txBody>
      </p:sp>
      <p:sp>
        <p:nvSpPr>
          <p:cNvPr id="18" name="TextBox 17"/>
          <p:cNvSpPr txBox="1"/>
          <p:nvPr/>
        </p:nvSpPr>
        <p:spPr>
          <a:xfrm>
            <a:off x="914400" y="4160520"/>
            <a:ext cx="4114800" cy="411480"/>
          </a:xfrm>
          <a:prstGeom prst="rect">
            <a:avLst/>
          </a:prstGeom>
          <a:noFill/>
        </p:spPr>
        <p:txBody>
          <a:bodyPr wrap="square" lIns="45720" tIns="18288" rIns="45720" bIns="18288" anchor="t">
            <a:spAutoFit/>
          </a:bodyPr>
          <a:lstStyle/>
          <a:p>
            <a:pPr algn="l"/>
            <a:r>
              <a:rPr sz="1200" b="1">
                <a:solidFill>
                  <a:srgbClr val="0B6E66"/>
                </a:solidFill>
                <a:latin typeface="Calibri"/>
              </a:rPr>
              <a:t>Final 2 weeks</a:t>
            </a:r>
          </a:p>
        </p:txBody>
      </p:sp>
      <p:sp>
        <p:nvSpPr>
          <p:cNvPr id="19" name="TextBox 18"/>
          <p:cNvSpPr txBox="1"/>
          <p:nvPr/>
        </p:nvSpPr>
        <p:spPr>
          <a:xfrm>
            <a:off x="5120640" y="3886200"/>
            <a:ext cx="6400800" cy="437043"/>
          </a:xfrm>
          <a:prstGeom prst="rect">
            <a:avLst/>
          </a:prstGeom>
          <a:noFill/>
        </p:spPr>
        <p:txBody>
          <a:bodyPr wrap="square" lIns="45720" tIns="18288" rIns="45720" bIns="18288" anchor="t">
            <a:spAutoFit/>
          </a:bodyPr>
          <a:lstStyle/>
          <a:p>
            <a:pPr algn="l"/>
            <a:r>
              <a:rPr sz="1300" b="0" dirty="0">
                <a:solidFill>
                  <a:srgbClr val="4B5563"/>
                </a:solidFill>
                <a:latin typeface="Calibri"/>
              </a:rPr>
              <a:t>Add a production / demand forecast likely a simple time-series model (Prophet or ARIMA) per country &amp; species.</a:t>
            </a:r>
          </a:p>
        </p:txBody>
      </p:sp>
      <p:sp>
        <p:nvSpPr>
          <p:cNvPr id="20" name="Rectangle 19"/>
          <p:cNvSpPr/>
          <p:nvPr/>
        </p:nvSpPr>
        <p:spPr>
          <a:xfrm>
            <a:off x="548640" y="4709160"/>
            <a:ext cx="11155680" cy="960120"/>
          </a:xfrm>
          <a:prstGeom prst="rect">
            <a:avLst/>
          </a:prstGeom>
          <a:solidFill>
            <a:srgbClr val="FFFFFF"/>
          </a:solidFill>
          <a:ln>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48640" y="4709160"/>
            <a:ext cx="164592" cy="96012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4800600"/>
            <a:ext cx="4114800" cy="457200"/>
          </a:xfrm>
          <a:prstGeom prst="rect">
            <a:avLst/>
          </a:prstGeom>
          <a:noFill/>
        </p:spPr>
        <p:txBody>
          <a:bodyPr wrap="square" lIns="45720" tIns="18288" rIns="45720" bIns="18288" anchor="t">
            <a:spAutoFit/>
          </a:bodyPr>
          <a:lstStyle/>
          <a:p>
            <a:pPr algn="l"/>
            <a:r>
              <a:rPr sz="1700" b="1">
                <a:solidFill>
                  <a:srgbClr val="111827"/>
                </a:solidFill>
                <a:latin typeface="Calibri"/>
              </a:rPr>
              <a:t>Stretch: User testing</a:t>
            </a:r>
          </a:p>
        </p:txBody>
      </p:sp>
      <p:sp>
        <p:nvSpPr>
          <p:cNvPr id="23" name="TextBox 22"/>
          <p:cNvSpPr txBox="1"/>
          <p:nvPr/>
        </p:nvSpPr>
        <p:spPr>
          <a:xfrm>
            <a:off x="914400" y="5212080"/>
            <a:ext cx="4114800" cy="411480"/>
          </a:xfrm>
          <a:prstGeom prst="rect">
            <a:avLst/>
          </a:prstGeom>
          <a:noFill/>
        </p:spPr>
        <p:txBody>
          <a:bodyPr wrap="square" lIns="45720" tIns="18288" rIns="45720" bIns="18288" anchor="t">
            <a:spAutoFit/>
          </a:bodyPr>
          <a:lstStyle/>
          <a:p>
            <a:pPr algn="l"/>
            <a:r>
              <a:rPr sz="1200" b="1">
                <a:solidFill>
                  <a:srgbClr val="0B6E66"/>
                </a:solidFill>
                <a:latin typeface="Calibri"/>
              </a:rPr>
              <a:t>Final week</a:t>
            </a:r>
          </a:p>
        </p:txBody>
      </p:sp>
      <p:sp>
        <p:nvSpPr>
          <p:cNvPr id="24" name="TextBox 23"/>
          <p:cNvSpPr txBox="1"/>
          <p:nvPr/>
        </p:nvSpPr>
        <p:spPr>
          <a:xfrm>
            <a:off x="5120640" y="4937760"/>
            <a:ext cx="6400800" cy="640080"/>
          </a:xfrm>
          <a:prstGeom prst="rect">
            <a:avLst/>
          </a:prstGeom>
          <a:noFill/>
        </p:spPr>
        <p:txBody>
          <a:bodyPr wrap="square" lIns="45720" tIns="18288" rIns="45720" bIns="18288" anchor="t">
            <a:spAutoFit/>
          </a:bodyPr>
          <a:lstStyle/>
          <a:p>
            <a:pPr algn="l"/>
            <a:r>
              <a:rPr sz="1300" b="0">
                <a:solidFill>
                  <a:srgbClr val="4B5563"/>
                </a:solidFill>
                <a:latin typeface="Calibri"/>
              </a:rPr>
              <a:t>Sit a real analyst in front of the chat, watch them ask questions, log what breaks. Use it to tune few-shot examples.</a:t>
            </a:r>
          </a:p>
        </p:txBody>
      </p:sp>
      <p:sp>
        <p:nvSpPr>
          <p:cNvPr id="25" name="TextBox 24"/>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a:solidFill>
                  <a:srgbClr val="4B5563"/>
                </a:solidFill>
                <a:latin typeface="Calibri"/>
              </a:rPr>
              <a:t>Seaweed Industry  ·  Capstone Mid-Term</a:t>
            </a:r>
          </a:p>
        </p:txBody>
      </p:sp>
      <p:sp>
        <p:nvSpPr>
          <p:cNvPr id="26" name="TextBox 25"/>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26 / 28</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9144000" cy="320040"/>
          </a:xfrm>
          <a:prstGeom prst="rect">
            <a:avLst/>
          </a:prstGeom>
          <a:noFill/>
        </p:spPr>
        <p:txBody>
          <a:bodyPr wrap="square" lIns="45720" tIns="18288" rIns="45720" bIns="18288" anchor="t">
            <a:spAutoFit/>
          </a:bodyPr>
          <a:lstStyle/>
          <a:p>
            <a:pPr algn="l"/>
            <a:r>
              <a:rPr sz="1200" b="1">
                <a:solidFill>
                  <a:srgbClr val="0D9488"/>
                </a:solidFill>
                <a:latin typeface="Calibri"/>
              </a:rPr>
              <a:t>QUESTIONS &amp; CONCERNS</a:t>
            </a:r>
          </a:p>
        </p:txBody>
      </p:sp>
      <p:sp>
        <p:nvSpPr>
          <p:cNvPr id="4" name="TextBox 3"/>
          <p:cNvSpPr txBox="1"/>
          <p:nvPr/>
        </p:nvSpPr>
        <p:spPr>
          <a:xfrm>
            <a:off x="548640" y="594360"/>
            <a:ext cx="10972800" cy="640080"/>
          </a:xfrm>
          <a:prstGeom prst="rect">
            <a:avLst/>
          </a:prstGeom>
          <a:noFill/>
        </p:spPr>
        <p:txBody>
          <a:bodyPr wrap="square" lIns="45720" tIns="18288" rIns="45720" bIns="18288" anchor="t">
            <a:spAutoFit/>
          </a:bodyPr>
          <a:lstStyle/>
          <a:p>
            <a:pPr algn="l"/>
            <a:r>
              <a:rPr sz="3000" b="1">
                <a:solidFill>
                  <a:srgbClr val="111827"/>
                </a:solidFill>
                <a:latin typeface="Calibri"/>
              </a:rPr>
              <a:t>Where we'd love your feedback</a:t>
            </a:r>
          </a:p>
        </p:txBody>
      </p:sp>
      <p:sp>
        <p:nvSpPr>
          <p:cNvPr id="5" name="Rectangle 4"/>
          <p:cNvSpPr/>
          <p:nvPr/>
        </p:nvSpPr>
        <p:spPr>
          <a:xfrm>
            <a:off x="548640" y="1554480"/>
            <a:ext cx="457200"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554480"/>
            <a:ext cx="457200" cy="457200"/>
          </a:xfrm>
          <a:prstGeom prst="rect">
            <a:avLst/>
          </a:prstGeom>
          <a:noFill/>
        </p:spPr>
        <p:txBody>
          <a:bodyPr wrap="square" lIns="45720" tIns="18288" rIns="45720" bIns="18288" anchor="ctr">
            <a:spAutoFit/>
          </a:bodyPr>
          <a:lstStyle/>
          <a:p>
            <a:pPr algn="ctr"/>
            <a:r>
              <a:rPr sz="1200" b="1">
                <a:solidFill>
                  <a:srgbClr val="FFFFFF"/>
                </a:solidFill>
                <a:latin typeface="Calibri"/>
              </a:rPr>
              <a:t>Q1</a:t>
            </a:r>
          </a:p>
        </p:txBody>
      </p:sp>
      <p:sp>
        <p:nvSpPr>
          <p:cNvPr id="7" name="TextBox 6"/>
          <p:cNvSpPr txBox="1"/>
          <p:nvPr/>
        </p:nvSpPr>
        <p:spPr>
          <a:xfrm>
            <a:off x="1188720" y="1554480"/>
            <a:ext cx="10241280" cy="457200"/>
          </a:xfrm>
          <a:prstGeom prst="rect">
            <a:avLst/>
          </a:prstGeom>
          <a:noFill/>
        </p:spPr>
        <p:txBody>
          <a:bodyPr wrap="square" lIns="45720" tIns="18288" rIns="45720" bIns="18288" anchor="t">
            <a:spAutoFit/>
          </a:bodyPr>
          <a:lstStyle/>
          <a:p>
            <a:pPr algn="l"/>
            <a:r>
              <a:rPr sz="1500" b="1">
                <a:solidFill>
                  <a:srgbClr val="111827"/>
                </a:solidFill>
                <a:latin typeface="Calibri"/>
              </a:rPr>
              <a:t>Data coverage</a:t>
            </a:r>
          </a:p>
        </p:txBody>
      </p:sp>
      <p:sp>
        <p:nvSpPr>
          <p:cNvPr id="8" name="TextBox 7"/>
          <p:cNvSpPr txBox="1"/>
          <p:nvPr/>
        </p:nvSpPr>
        <p:spPr>
          <a:xfrm>
            <a:off x="1188720" y="1965960"/>
            <a:ext cx="10241280" cy="548640"/>
          </a:xfrm>
          <a:prstGeom prst="rect">
            <a:avLst/>
          </a:prstGeom>
          <a:noFill/>
        </p:spPr>
        <p:txBody>
          <a:bodyPr wrap="square" lIns="45720" tIns="18288" rIns="45720" bIns="18288" anchor="t">
            <a:spAutoFit/>
          </a:bodyPr>
          <a:lstStyle/>
          <a:p>
            <a:pPr algn="l"/>
            <a:r>
              <a:rPr sz="1200" b="0">
                <a:solidFill>
                  <a:srgbClr val="4B5563"/>
                </a:solidFill>
                <a:latin typeface="Calibri"/>
              </a:rPr>
              <a:t>FAO is comprehensive globally but light on US-specific detail. Should we bring in NOAA or state-level US data?</a:t>
            </a:r>
          </a:p>
        </p:txBody>
      </p:sp>
      <p:sp>
        <p:nvSpPr>
          <p:cNvPr id="9" name="Rectangle 8"/>
          <p:cNvSpPr/>
          <p:nvPr/>
        </p:nvSpPr>
        <p:spPr>
          <a:xfrm>
            <a:off x="548640" y="2423160"/>
            <a:ext cx="457200"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2423160"/>
            <a:ext cx="457200" cy="457200"/>
          </a:xfrm>
          <a:prstGeom prst="rect">
            <a:avLst/>
          </a:prstGeom>
          <a:noFill/>
        </p:spPr>
        <p:txBody>
          <a:bodyPr wrap="square" lIns="45720" tIns="18288" rIns="45720" bIns="18288" anchor="ctr">
            <a:spAutoFit/>
          </a:bodyPr>
          <a:lstStyle/>
          <a:p>
            <a:pPr algn="ctr"/>
            <a:r>
              <a:rPr sz="1200" b="1">
                <a:solidFill>
                  <a:srgbClr val="FFFFFF"/>
                </a:solidFill>
                <a:latin typeface="Calibri"/>
              </a:rPr>
              <a:t>Q2</a:t>
            </a:r>
          </a:p>
        </p:txBody>
      </p:sp>
      <p:sp>
        <p:nvSpPr>
          <p:cNvPr id="11" name="TextBox 10"/>
          <p:cNvSpPr txBox="1"/>
          <p:nvPr/>
        </p:nvSpPr>
        <p:spPr>
          <a:xfrm>
            <a:off x="1188720" y="2423160"/>
            <a:ext cx="10241280" cy="457200"/>
          </a:xfrm>
          <a:prstGeom prst="rect">
            <a:avLst/>
          </a:prstGeom>
          <a:noFill/>
        </p:spPr>
        <p:txBody>
          <a:bodyPr wrap="square" lIns="45720" tIns="18288" rIns="45720" bIns="18288" anchor="t">
            <a:spAutoFit/>
          </a:bodyPr>
          <a:lstStyle/>
          <a:p>
            <a:pPr algn="l"/>
            <a:r>
              <a:rPr sz="1500" b="1">
                <a:solidFill>
                  <a:srgbClr val="111827"/>
                </a:solidFill>
                <a:latin typeface="Calibri"/>
              </a:rPr>
              <a:t>Chart choice</a:t>
            </a:r>
          </a:p>
        </p:txBody>
      </p:sp>
      <p:sp>
        <p:nvSpPr>
          <p:cNvPr id="12" name="TextBox 11"/>
          <p:cNvSpPr txBox="1"/>
          <p:nvPr/>
        </p:nvSpPr>
        <p:spPr>
          <a:xfrm>
            <a:off x="1188720" y="2788920"/>
            <a:ext cx="10241280" cy="548640"/>
          </a:xfrm>
          <a:prstGeom prst="rect">
            <a:avLst/>
          </a:prstGeom>
          <a:noFill/>
        </p:spPr>
        <p:txBody>
          <a:bodyPr wrap="square" lIns="45720" tIns="18288" rIns="45720" bIns="18288" anchor="t">
            <a:spAutoFit/>
          </a:bodyPr>
          <a:lstStyle/>
          <a:p>
            <a:pPr algn="l"/>
            <a:r>
              <a:rPr sz="1200" b="0">
                <a:solidFill>
                  <a:srgbClr val="4B5563"/>
                </a:solidFill>
                <a:latin typeface="Calibri"/>
              </a:rPr>
              <a:t>We picked the charts we thought were most useful. Are there cuts you expected to see and didn't?</a:t>
            </a:r>
          </a:p>
        </p:txBody>
      </p:sp>
      <p:sp>
        <p:nvSpPr>
          <p:cNvPr id="13" name="Rectangle 12"/>
          <p:cNvSpPr/>
          <p:nvPr/>
        </p:nvSpPr>
        <p:spPr>
          <a:xfrm>
            <a:off x="548640" y="3291840"/>
            <a:ext cx="457200"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3291840"/>
            <a:ext cx="457200" cy="457200"/>
          </a:xfrm>
          <a:prstGeom prst="rect">
            <a:avLst/>
          </a:prstGeom>
          <a:noFill/>
        </p:spPr>
        <p:txBody>
          <a:bodyPr wrap="square" lIns="45720" tIns="18288" rIns="45720" bIns="18288" anchor="ctr">
            <a:spAutoFit/>
          </a:bodyPr>
          <a:lstStyle/>
          <a:p>
            <a:pPr algn="ctr"/>
            <a:r>
              <a:rPr sz="1200" b="1">
                <a:solidFill>
                  <a:srgbClr val="FFFFFF"/>
                </a:solidFill>
                <a:latin typeface="Calibri"/>
              </a:rPr>
              <a:t>Q3</a:t>
            </a:r>
          </a:p>
        </p:txBody>
      </p:sp>
      <p:sp>
        <p:nvSpPr>
          <p:cNvPr id="15" name="TextBox 14"/>
          <p:cNvSpPr txBox="1"/>
          <p:nvPr/>
        </p:nvSpPr>
        <p:spPr>
          <a:xfrm>
            <a:off x="1188720" y="3291840"/>
            <a:ext cx="10241280" cy="457200"/>
          </a:xfrm>
          <a:prstGeom prst="rect">
            <a:avLst/>
          </a:prstGeom>
          <a:noFill/>
        </p:spPr>
        <p:txBody>
          <a:bodyPr wrap="square" lIns="45720" tIns="18288" rIns="45720" bIns="18288" anchor="t">
            <a:spAutoFit/>
          </a:bodyPr>
          <a:lstStyle/>
          <a:p>
            <a:pPr algn="l"/>
            <a:r>
              <a:rPr sz="1500" b="1">
                <a:solidFill>
                  <a:srgbClr val="111827"/>
                </a:solidFill>
                <a:latin typeface="Calibri"/>
              </a:rPr>
              <a:t>AI chat UX</a:t>
            </a:r>
          </a:p>
        </p:txBody>
      </p:sp>
      <p:sp>
        <p:nvSpPr>
          <p:cNvPr id="16" name="TextBox 15"/>
          <p:cNvSpPr txBox="1"/>
          <p:nvPr/>
        </p:nvSpPr>
        <p:spPr>
          <a:xfrm>
            <a:off x="1188720" y="3703320"/>
            <a:ext cx="10241280" cy="221599"/>
          </a:xfrm>
          <a:prstGeom prst="rect">
            <a:avLst/>
          </a:prstGeom>
          <a:noFill/>
        </p:spPr>
        <p:txBody>
          <a:bodyPr wrap="square" lIns="45720" tIns="18288" rIns="45720" bIns="18288" anchor="t">
            <a:spAutoFit/>
          </a:bodyPr>
          <a:lstStyle/>
          <a:p>
            <a:pPr algn="l"/>
            <a:r>
              <a:rPr sz="1200" b="0" dirty="0">
                <a:solidFill>
                  <a:srgbClr val="4B5563"/>
                </a:solidFill>
                <a:latin typeface="Calibri"/>
              </a:rPr>
              <a:t>Right </a:t>
            </a:r>
            <a:r>
              <a:rPr lang="en-CA" sz="1200" b="0" dirty="0">
                <a:solidFill>
                  <a:srgbClr val="4B5563"/>
                </a:solidFill>
                <a:latin typeface="Calibri"/>
              </a:rPr>
              <a:t>now,</a:t>
            </a:r>
            <a:r>
              <a:rPr sz="1200" b="0" dirty="0">
                <a:solidFill>
                  <a:srgbClr val="4B5563"/>
                </a:solidFill>
                <a:latin typeface="Calibri"/>
              </a:rPr>
              <a:t> the chat shows the SQL by default. Is that useful for sponsors, or noise? Should it be collapsed?</a:t>
            </a:r>
          </a:p>
        </p:txBody>
      </p:sp>
      <p:sp>
        <p:nvSpPr>
          <p:cNvPr id="17" name="Rectangle 16"/>
          <p:cNvSpPr/>
          <p:nvPr/>
        </p:nvSpPr>
        <p:spPr>
          <a:xfrm>
            <a:off x="548640" y="4160520"/>
            <a:ext cx="457200"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4160520"/>
            <a:ext cx="457200" cy="457200"/>
          </a:xfrm>
          <a:prstGeom prst="rect">
            <a:avLst/>
          </a:prstGeom>
          <a:noFill/>
        </p:spPr>
        <p:txBody>
          <a:bodyPr wrap="square" lIns="45720" tIns="18288" rIns="45720" bIns="18288" anchor="ctr">
            <a:spAutoFit/>
          </a:bodyPr>
          <a:lstStyle/>
          <a:p>
            <a:pPr algn="ctr"/>
            <a:r>
              <a:rPr sz="1200" b="1">
                <a:solidFill>
                  <a:srgbClr val="FFFFFF"/>
                </a:solidFill>
                <a:latin typeface="Calibri"/>
              </a:rPr>
              <a:t>Q4</a:t>
            </a:r>
          </a:p>
        </p:txBody>
      </p:sp>
      <p:sp>
        <p:nvSpPr>
          <p:cNvPr id="19" name="TextBox 18"/>
          <p:cNvSpPr txBox="1"/>
          <p:nvPr/>
        </p:nvSpPr>
        <p:spPr>
          <a:xfrm>
            <a:off x="1188720" y="4160520"/>
            <a:ext cx="10241280" cy="457200"/>
          </a:xfrm>
          <a:prstGeom prst="rect">
            <a:avLst/>
          </a:prstGeom>
          <a:noFill/>
        </p:spPr>
        <p:txBody>
          <a:bodyPr wrap="square" lIns="45720" tIns="18288" rIns="45720" bIns="18288" anchor="t">
            <a:spAutoFit/>
          </a:bodyPr>
          <a:lstStyle/>
          <a:p>
            <a:pPr algn="l"/>
            <a:r>
              <a:rPr sz="1500" b="1" dirty="0">
                <a:solidFill>
                  <a:srgbClr val="111827"/>
                </a:solidFill>
                <a:latin typeface="Calibri"/>
              </a:rPr>
              <a:t>Forecasting scope</a:t>
            </a:r>
          </a:p>
        </p:txBody>
      </p:sp>
      <p:sp>
        <p:nvSpPr>
          <p:cNvPr id="20" name="TextBox 19"/>
          <p:cNvSpPr txBox="1"/>
          <p:nvPr/>
        </p:nvSpPr>
        <p:spPr>
          <a:xfrm>
            <a:off x="1188720" y="4572000"/>
            <a:ext cx="10241280" cy="548640"/>
          </a:xfrm>
          <a:prstGeom prst="rect">
            <a:avLst/>
          </a:prstGeom>
          <a:noFill/>
        </p:spPr>
        <p:txBody>
          <a:bodyPr wrap="square" lIns="45720" tIns="18288" rIns="45720" bIns="18288" anchor="t">
            <a:spAutoFit/>
          </a:bodyPr>
          <a:lstStyle/>
          <a:p>
            <a:pPr algn="l"/>
            <a:r>
              <a:rPr sz="1200" b="0" dirty="0">
                <a:solidFill>
                  <a:srgbClr val="4B5563"/>
                </a:solidFill>
                <a:latin typeface="Calibri"/>
              </a:rPr>
              <a:t>For the final, should we forecast at the country level, species level, or KPI level? Where's the most value?</a:t>
            </a:r>
          </a:p>
        </p:txBody>
      </p:sp>
      <p:sp>
        <p:nvSpPr>
          <p:cNvPr id="21" name="Rectangle 20"/>
          <p:cNvSpPr/>
          <p:nvPr/>
        </p:nvSpPr>
        <p:spPr>
          <a:xfrm>
            <a:off x="548640" y="5029200"/>
            <a:ext cx="457200"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5029200"/>
            <a:ext cx="457200" cy="457200"/>
          </a:xfrm>
          <a:prstGeom prst="rect">
            <a:avLst/>
          </a:prstGeom>
          <a:noFill/>
        </p:spPr>
        <p:txBody>
          <a:bodyPr wrap="square" lIns="45720" tIns="18288" rIns="45720" bIns="18288" anchor="ctr">
            <a:spAutoFit/>
          </a:bodyPr>
          <a:lstStyle/>
          <a:p>
            <a:pPr algn="ctr"/>
            <a:r>
              <a:rPr sz="1200" b="1">
                <a:solidFill>
                  <a:srgbClr val="FFFFFF"/>
                </a:solidFill>
                <a:latin typeface="Calibri"/>
              </a:rPr>
              <a:t>Q5</a:t>
            </a:r>
          </a:p>
        </p:txBody>
      </p:sp>
      <p:sp>
        <p:nvSpPr>
          <p:cNvPr id="23" name="TextBox 22"/>
          <p:cNvSpPr txBox="1"/>
          <p:nvPr/>
        </p:nvSpPr>
        <p:spPr>
          <a:xfrm>
            <a:off x="1188720" y="5082540"/>
            <a:ext cx="10241280" cy="267766"/>
          </a:xfrm>
          <a:prstGeom prst="rect">
            <a:avLst/>
          </a:prstGeom>
          <a:noFill/>
        </p:spPr>
        <p:txBody>
          <a:bodyPr wrap="square" lIns="45720" tIns="18288" rIns="45720" bIns="18288" anchor="t">
            <a:spAutoFit/>
          </a:bodyPr>
          <a:lstStyle/>
          <a:p>
            <a:pPr algn="l"/>
            <a:r>
              <a:rPr lang="en-US" sz="1500" b="1" dirty="0">
                <a:solidFill>
                  <a:srgbClr val="111827"/>
                </a:solidFill>
                <a:latin typeface="Calibri"/>
              </a:rPr>
              <a:t>H</a:t>
            </a:r>
            <a:r>
              <a:rPr lang="en-CA" sz="1500" b="1" dirty="0">
                <a:solidFill>
                  <a:srgbClr val="111827"/>
                </a:solidFill>
                <a:latin typeface="Calibri"/>
              </a:rPr>
              <a:t>ow was the presentation and the dashboard</a:t>
            </a:r>
          </a:p>
        </p:txBody>
      </p:sp>
      <p:sp>
        <p:nvSpPr>
          <p:cNvPr id="25" name="TextBox 24"/>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dirty="0">
                <a:solidFill>
                  <a:srgbClr val="4B5563"/>
                </a:solidFill>
                <a:latin typeface="Calibri"/>
              </a:rPr>
              <a:t>Seaweed Industry  ·  Capstone Mid-Term</a:t>
            </a:r>
          </a:p>
        </p:txBody>
      </p:sp>
      <p:sp>
        <p:nvSpPr>
          <p:cNvPr id="26" name="TextBox 25"/>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27 / 28</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377440"/>
            <a:ext cx="10972800" cy="1097280"/>
          </a:xfrm>
          <a:prstGeom prst="rect">
            <a:avLst/>
          </a:prstGeom>
          <a:noFill/>
        </p:spPr>
        <p:txBody>
          <a:bodyPr wrap="square" lIns="45720" tIns="18288" rIns="45720" bIns="18288" anchor="t">
            <a:spAutoFit/>
          </a:bodyPr>
          <a:lstStyle/>
          <a:p>
            <a:pPr algn="l"/>
            <a:r>
              <a:rPr sz="7200" b="1">
                <a:solidFill>
                  <a:srgbClr val="FFFFFF"/>
                </a:solidFill>
                <a:latin typeface="Calibri"/>
              </a:rPr>
              <a:t>Thank you.</a:t>
            </a:r>
          </a:p>
        </p:txBody>
      </p:sp>
      <p:sp>
        <p:nvSpPr>
          <p:cNvPr id="4" name="TextBox 3"/>
          <p:cNvSpPr txBox="1"/>
          <p:nvPr/>
        </p:nvSpPr>
        <p:spPr>
          <a:xfrm>
            <a:off x="548640" y="3657600"/>
            <a:ext cx="10972800" cy="640080"/>
          </a:xfrm>
          <a:prstGeom prst="rect">
            <a:avLst/>
          </a:prstGeom>
          <a:noFill/>
        </p:spPr>
        <p:txBody>
          <a:bodyPr wrap="square" lIns="45720" tIns="18288" rIns="45720" bIns="18288" anchor="t">
            <a:spAutoFit/>
          </a:bodyPr>
          <a:lstStyle/>
          <a:p>
            <a:pPr algn="l"/>
            <a:r>
              <a:rPr sz="3600" b="0">
                <a:solidFill>
                  <a:srgbClr val="CCFBF1"/>
                </a:solidFill>
                <a:latin typeface="Calibri"/>
              </a:rPr>
              <a:t>Questions?</a:t>
            </a:r>
          </a:p>
        </p:txBody>
      </p:sp>
      <p:sp>
        <p:nvSpPr>
          <p:cNvPr id="5" name="TextBox 4"/>
          <p:cNvSpPr txBox="1"/>
          <p:nvPr/>
        </p:nvSpPr>
        <p:spPr>
          <a:xfrm>
            <a:off x="548640" y="4937760"/>
            <a:ext cx="10972800" cy="457200"/>
          </a:xfrm>
          <a:prstGeom prst="rect">
            <a:avLst/>
          </a:prstGeom>
          <a:noFill/>
        </p:spPr>
        <p:txBody>
          <a:bodyPr wrap="square" lIns="45720" tIns="18288" rIns="45720" bIns="18288" anchor="t">
            <a:spAutoFit/>
          </a:bodyPr>
          <a:lstStyle/>
          <a:p>
            <a:pPr algn="l"/>
            <a:r>
              <a:rPr sz="1800" b="0" dirty="0">
                <a:solidFill>
                  <a:srgbClr val="FFFFFF"/>
                </a:solidFill>
                <a:latin typeface="Calibri"/>
              </a:rPr>
              <a:t>Live demo: seaweed-</a:t>
            </a:r>
            <a:r>
              <a:rPr sz="1800" b="0" dirty="0" err="1">
                <a:solidFill>
                  <a:srgbClr val="FFFFFF"/>
                </a:solidFill>
                <a:latin typeface="Calibri"/>
              </a:rPr>
              <a:t>industry.vercel.app</a:t>
            </a:r>
            <a:endParaRPr sz="1800" b="0" dirty="0">
              <a:solidFill>
                <a:srgbClr val="FFFFFF"/>
              </a:solidFill>
              <a:latin typeface="Calibri"/>
            </a:endParaRPr>
          </a:p>
        </p:txBody>
      </p:sp>
      <p:sp>
        <p:nvSpPr>
          <p:cNvPr id="6" name="TextBox 5"/>
          <p:cNvSpPr txBox="1"/>
          <p:nvPr/>
        </p:nvSpPr>
        <p:spPr>
          <a:xfrm>
            <a:off x="548640" y="5440680"/>
            <a:ext cx="10972800" cy="457200"/>
          </a:xfrm>
          <a:prstGeom prst="rect">
            <a:avLst/>
          </a:prstGeom>
          <a:noFill/>
        </p:spPr>
        <p:txBody>
          <a:bodyPr wrap="square" lIns="45720" tIns="18288" rIns="45720" bIns="18288" anchor="t">
            <a:spAutoFit/>
          </a:bodyPr>
          <a:lstStyle/>
          <a:p>
            <a:pPr algn="l"/>
            <a:r>
              <a:rPr sz="1400" b="0">
                <a:solidFill>
                  <a:srgbClr val="CCFBF1"/>
                </a:solidFill>
                <a:latin typeface="Calibri"/>
              </a:rPr>
              <a:t>Team: Dhruvkumar · Devarsh · Deepkumar · Darshil · Poe</a:t>
            </a:r>
          </a:p>
        </p:txBody>
      </p:sp>
      <p:sp>
        <p:nvSpPr>
          <p:cNvPr id="7" name="TextBox 6"/>
          <p:cNvSpPr txBox="1"/>
          <p:nvPr/>
        </p:nvSpPr>
        <p:spPr>
          <a:xfrm>
            <a:off x="548640" y="6446520"/>
            <a:ext cx="7315200" cy="320040"/>
          </a:xfrm>
          <a:prstGeom prst="rect">
            <a:avLst/>
          </a:prstGeom>
          <a:noFill/>
        </p:spPr>
        <p:txBody>
          <a:bodyPr wrap="square" lIns="45720" tIns="18288" rIns="45720" bIns="18288" anchor="t">
            <a:spAutoFit/>
          </a:bodyPr>
          <a:lstStyle/>
          <a:p>
            <a:pPr algn="l"/>
            <a:r>
              <a:rPr sz="1000" b="0">
                <a:solidFill>
                  <a:srgbClr val="4B5563"/>
                </a:solidFill>
                <a:latin typeface="Calibri"/>
              </a:rPr>
              <a:t>Seaweed Industry  ·  Capstone Mid-Term</a:t>
            </a:r>
          </a:p>
        </p:txBody>
      </p:sp>
      <p:sp>
        <p:nvSpPr>
          <p:cNvPr id="8" name="TextBox 7"/>
          <p:cNvSpPr txBox="1"/>
          <p:nvPr/>
        </p:nvSpPr>
        <p:spPr>
          <a:xfrm>
            <a:off x="10972800" y="6446520"/>
            <a:ext cx="1097280" cy="320040"/>
          </a:xfrm>
          <a:prstGeom prst="rect">
            <a:avLst/>
          </a:prstGeom>
          <a:noFill/>
        </p:spPr>
        <p:txBody>
          <a:bodyPr wrap="square" lIns="45720" tIns="18288" rIns="45720" bIns="18288" anchor="t">
            <a:spAutoFit/>
          </a:bodyPr>
          <a:lstStyle/>
          <a:p>
            <a:pPr algn="r"/>
            <a:r>
              <a:rPr sz="1000" b="0">
                <a:solidFill>
                  <a:srgbClr val="4B5563"/>
                </a:solidFill>
                <a:latin typeface="Calibri"/>
              </a:rPr>
              <a:t>28 / 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259</TotalTime>
  <Words>6336</Words>
  <Application>Microsoft Office PowerPoint</Application>
  <PresentationFormat>Widescreen</PresentationFormat>
  <Paragraphs>444</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Dhruv Patel</cp:lastModifiedBy>
  <cp:revision>10</cp:revision>
  <dcterms:created xsi:type="dcterms:W3CDTF">2013-01-27T09:14:16Z</dcterms:created>
  <dcterms:modified xsi:type="dcterms:W3CDTF">2026-05-21T19:15:06Z</dcterms:modified>
  <cp:category/>
</cp:coreProperties>
</file>